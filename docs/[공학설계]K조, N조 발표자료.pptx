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78" r:id="rId3"/>
    <p:sldId id="291" r:id="rId4"/>
    <p:sldId id="285" r:id="rId5"/>
    <p:sldId id="310" r:id="rId6"/>
    <p:sldId id="300" r:id="rId7"/>
    <p:sldId id="306" r:id="rId8"/>
    <p:sldId id="284" r:id="rId9"/>
    <p:sldId id="301" r:id="rId10"/>
    <p:sldId id="302" r:id="rId11"/>
    <p:sldId id="303" r:id="rId12"/>
    <p:sldId id="296" r:id="rId13"/>
    <p:sldId id="304" r:id="rId14"/>
    <p:sldId id="312" r:id="rId15"/>
    <p:sldId id="305" r:id="rId16"/>
    <p:sldId id="315" r:id="rId17"/>
    <p:sldId id="316" r:id="rId18"/>
    <p:sldId id="317" r:id="rId19"/>
    <p:sldId id="308" r:id="rId20"/>
    <p:sldId id="313" r:id="rId21"/>
    <p:sldId id="314" r:id="rId22"/>
    <p:sldId id="309" r:id="rId23"/>
    <p:sldId id="287" r:id="rId24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A5A"/>
    <a:srgbClr val="B9B9B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>
      <p:cViewPr varScale="1">
        <p:scale>
          <a:sx n="78" d="100"/>
          <a:sy n="78" d="100"/>
        </p:scale>
        <p:origin x="160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750" y="1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24031A76-1BBF-4605-BB6D-A445A58D4F4B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94" tIns="44097" rIns="88194" bIns="4409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27" y="4777782"/>
            <a:ext cx="5438140" cy="3907834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9305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750" y="9429305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2FDBF496-01BE-4F90-A570-185E837BE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959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6F6AEE-D0EC-4EC4-8AB3-42D82D43892D}" type="slidenum">
              <a:rPr lang="ko-KR" altLang="en-US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1566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5417-5046-8958-740D-C013321A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E3F80B-3ADD-55E4-CEA9-52DD232D5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0E7153-D68F-A678-E143-4A44CC19E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9C46B1-48E0-6793-A400-897DE2736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895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A0DB-BF0D-468A-35B2-577ED37C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BA414B-AAE3-17BB-8F9F-609D50FA5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AC9AE-5821-F3FF-97C6-28E99E7C2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6CDA35-3C64-3A3C-1A7E-2EB06399ED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164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35CAA-7969-96BA-A278-F48B6FA7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348973-14D9-44ED-952A-69A2988E5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B1DF71-8A0F-BC4E-4779-70882F4F1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5C1BEE-E0D8-E2ED-FF9A-E7E927DA0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753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504C-2C01-E8F3-A738-D8D03447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8DA252-DF4F-24FA-2989-7203D5570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EECC3E-EBA7-6899-FB29-41A7268A6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F320F-48A7-1B4B-3422-516AC89EE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86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4CB35-BDE1-EAFC-DA95-9824F3F9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5B30A9-5259-23E7-ABF8-C1E3A5CBB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1B8398-A71F-D21E-D7BF-A4A3FC1E1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BC158A-BF5B-AFA3-676F-C4FA83C9D6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292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CD46-ECED-A76E-93D2-D62886B2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5196C9-38DF-E153-5ADB-75920791A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7FD9A7-6962-1D93-6761-140DEB45C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5388AD-1458-8B9E-1C5D-7D47052436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744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CECA9-5B3E-141B-6648-6A56AB4A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378553-251D-8A7B-E51A-6ABF6C684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88E92C-9EE5-9809-684E-F810B0FC1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50F9CC-6DA1-9556-E293-7EB740FC3F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062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3F1A5-E626-656F-A7EB-2FF91C672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3E3012-E4BE-3245-1910-325838DA6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4FC975-552F-270A-FE13-35FF678AC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84ECF6-3442-E19A-2F6B-796F85A78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360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AB287-5659-9F03-6ACE-542D38C5C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095122-7905-E1AB-E403-C43ED76B9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AE1387-257C-6838-DFD4-0317F1880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FBA88E-90D6-2BEF-D49B-01FF3B38D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667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AA8B7-3D2C-D197-C3E2-7E1D1F3C0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5F378E-0971-70E2-CD88-05D05D18D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958B67-44B8-83E8-BB78-BE4442B52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A8307-85DF-C1E9-319C-80200D840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558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11B4-71C5-E253-6F06-8AFD5AB9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9D1F8F-31A9-2E17-BB6B-1E34EA80F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EC5CB1-9A6A-2FC5-BD5A-5CC1D863E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176878-CEEB-924D-C920-51079B0F1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100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81AE4-2048-5114-C6FC-A456DBC5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DC8FC8-52E3-7706-FEB9-E2FB7F5ED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B9D240-E548-64B4-D738-30E7CF8C6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1914F-C11E-1C71-E335-9062DD058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545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6E69A-7CBC-DFEF-4AEE-509946BC0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23F15E-E6B3-1A87-CEEA-BC736D118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6B0D62-1956-8262-60CD-41A0F5771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1D172D-AB7D-DC41-430A-2F96DB255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871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937CB-AEE9-6D81-24DA-3152FC9EF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EAF3CF-2A49-910B-BCA2-9F63D82D2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E82295-63CC-E458-6D67-118DB20DB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35E8B-F999-2F5E-2303-2BEB1392B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825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BD70-2C5B-06E4-B9C2-07C19AAE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E93534-5DCF-9785-B564-D2CF94BC1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5FE901-897A-75F6-58D9-5470FFC14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AB7F19-1CCE-E309-40C6-D094C1967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155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52CD-A25E-9ECA-A1CA-EB413C2A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8DAB3F-F39C-A66B-3627-764C53A0E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808805-6360-84A5-6988-6330D919B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F078AD-E034-85A7-FF59-64EAB7C68B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924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6CF1-40B3-6160-D18B-7B26EC0B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332BA6-5E2E-8994-8B0C-52AA60523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309679-781E-99EE-BFDA-68B64076E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896AB-7E2D-FD1A-E665-E7E8CE44B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823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87941-4FF4-74E5-3E93-3820ED67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3AAC55-9396-C7B7-013E-3564EE61B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95095D-DA67-A8BF-F208-73E82512A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BA36EF-9ED7-9DB1-1706-5B0C21C5F5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0744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A5E2-94B5-CC9E-CC1E-2EB2C2E1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ED0392-7254-1E62-00EC-29AD81C92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FB4F1A-D763-C4A2-761C-15BD7F10C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E2B268-C0D5-82DA-B6F6-C4A84FA94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744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70519-809F-1EBE-362E-3EECA7B5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5B0C1F-53F1-DAB5-97FB-81BF82D92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459647-475E-E992-1B10-DDEECBCFE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BF6E66-7D47-3DE7-E9BD-E8F27F41B3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5546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DA143-FCB1-8FE6-36EA-F5FEE0E3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FE0C78-BBBE-D401-30DE-D9D61D85A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2F5E82-BD28-EA7A-0EE5-C592F4E6F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EBA15-011C-1F6F-C631-AA6370663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6F6AEE-D0EC-4EC4-8AB3-42D82D43892D}" type="slidenum">
              <a:rPr kumimoji="0" lang="ko-KR" alt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굴림" charset="-127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3974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76545" y="728700"/>
            <a:ext cx="8210254" cy="5625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defRPr sz="1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spcBef>
                <a:spcPts val="600"/>
              </a:spcBef>
              <a:defRPr sz="1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spcBef>
                <a:spcPts val="600"/>
              </a:spcBef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400" b="0"/>
            </a:lvl4pPr>
            <a:lvl5pPr>
              <a:defRPr sz="1200" b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189765" y="6507342"/>
            <a:ext cx="739425" cy="234026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AB4CE1F4-CA7D-4ABB-99EB-8276A721FCCE}" type="slidenum">
              <a:rPr lang="ko-KR" altLang="en-US" smtClean="0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BA9018-B27F-4B93-8056-BFE68AABBFD8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B05B206-20A7-41EE-9B34-7E65F71EC56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2A51E-7F93-4C4B-AD2A-54B2DC7A27F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357754" y="4869160"/>
            <a:ext cx="4464496" cy="124854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86351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545" y="728700"/>
            <a:ext cx="8210254" cy="5625625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spcBef>
                <a:spcPts val="600"/>
              </a:spcBef>
              <a:defRPr sz="1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spcBef>
                <a:spcPts val="600"/>
              </a:spcBef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400" b="0"/>
            </a:lvl4pPr>
            <a:lvl5pPr>
              <a:defRPr sz="1200" b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189765" y="6507342"/>
            <a:ext cx="739425" cy="234026"/>
          </a:xfrm>
        </p:spPr>
        <p:txBody>
          <a:bodyPr/>
          <a:lstStyle>
            <a:lvl1pPr algn="ctr">
              <a:defRPr/>
            </a:lvl1pPr>
          </a:lstStyle>
          <a:p>
            <a:fld id="{AB4CE1F4-CA7D-4ABB-99EB-8276A721FCCE}" type="slidenum">
              <a:rPr lang="ko-KR" altLang="en-US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26705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9"/>
          <p:cNvSpPr/>
          <p:nvPr userDrawn="1"/>
        </p:nvSpPr>
        <p:spPr>
          <a:xfrm>
            <a:off x="331996" y="620690"/>
            <a:ext cx="8488476" cy="5760640"/>
          </a:xfrm>
          <a:prstGeom prst="roundRect">
            <a:avLst>
              <a:gd name="adj" fmla="val 2196"/>
            </a:avLst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텍스트 개체 틀 2"/>
          <p:cNvSpPr>
            <a:spLocks noGrp="1"/>
          </p:cNvSpPr>
          <p:nvPr>
            <p:ph type="body" idx="1"/>
          </p:nvPr>
        </p:nvSpPr>
        <p:spPr>
          <a:xfrm>
            <a:off x="476545" y="728700"/>
            <a:ext cx="8210254" cy="5625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120607" y="6435334"/>
            <a:ext cx="739425" cy="234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CE1F4-CA7D-4ABB-99EB-8276A721FCCE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820472" y="620688"/>
            <a:ext cx="0" cy="0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 도형 14"/>
          <p:cNvSpPr/>
          <p:nvPr userDrawn="1"/>
        </p:nvSpPr>
        <p:spPr>
          <a:xfrm rot="10800000" flipH="1">
            <a:off x="280607" y="585612"/>
            <a:ext cx="375957" cy="1448233"/>
          </a:xfrm>
          <a:prstGeom prst="corner">
            <a:avLst>
              <a:gd name="adj1" fmla="val 24884"/>
              <a:gd name="adj2" fmla="val 2357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L 도형 15"/>
          <p:cNvSpPr/>
          <p:nvPr userDrawn="1"/>
        </p:nvSpPr>
        <p:spPr>
          <a:xfrm rot="10800000" flipV="1">
            <a:off x="8487434" y="5589240"/>
            <a:ext cx="375957" cy="818163"/>
          </a:xfrm>
          <a:prstGeom prst="corner">
            <a:avLst>
              <a:gd name="adj1" fmla="val 24884"/>
              <a:gd name="adj2" fmla="val 2357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L 도형 16"/>
          <p:cNvSpPr/>
          <p:nvPr userDrawn="1"/>
        </p:nvSpPr>
        <p:spPr>
          <a:xfrm rot="10800000">
            <a:off x="8487435" y="585612"/>
            <a:ext cx="375957" cy="1448233"/>
          </a:xfrm>
          <a:prstGeom prst="corner">
            <a:avLst>
              <a:gd name="adj1" fmla="val 24884"/>
              <a:gd name="adj2" fmla="val 2357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 userDrawn="1"/>
        </p:nvCxnSpPr>
        <p:spPr>
          <a:xfrm flipH="1" flipV="1">
            <a:off x="3852900" y="620687"/>
            <a:ext cx="1439180" cy="1"/>
          </a:xfrm>
          <a:prstGeom prst="line">
            <a:avLst/>
          </a:prstGeom>
          <a:ln w="889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L 도형 18"/>
          <p:cNvSpPr/>
          <p:nvPr userDrawn="1"/>
        </p:nvSpPr>
        <p:spPr>
          <a:xfrm rot="10800000" flipH="1" flipV="1">
            <a:off x="280607" y="5635173"/>
            <a:ext cx="375958" cy="818163"/>
          </a:xfrm>
          <a:prstGeom prst="corner">
            <a:avLst>
              <a:gd name="adj1" fmla="val 24884"/>
              <a:gd name="adj2" fmla="val 2357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모서리가 둥근 직사각형 15"/>
          <p:cNvSpPr/>
          <p:nvPr userDrawn="1"/>
        </p:nvSpPr>
        <p:spPr>
          <a:xfrm>
            <a:off x="331996" y="620690"/>
            <a:ext cx="8488476" cy="5760640"/>
          </a:xfrm>
          <a:prstGeom prst="roundRect">
            <a:avLst>
              <a:gd name="adj" fmla="val 2196"/>
            </a:avLst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6545" y="728700"/>
            <a:ext cx="8210254" cy="5625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120607" y="6435334"/>
            <a:ext cx="739425" cy="234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CE1F4-CA7D-4ABB-99EB-8276A721FCCE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8820472" y="620688"/>
            <a:ext cx="0" cy="0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L 도형 35"/>
          <p:cNvSpPr/>
          <p:nvPr/>
        </p:nvSpPr>
        <p:spPr>
          <a:xfrm rot="10800000" flipH="1">
            <a:off x="280607" y="585612"/>
            <a:ext cx="375957" cy="1448233"/>
          </a:xfrm>
          <a:prstGeom prst="corner">
            <a:avLst>
              <a:gd name="adj1" fmla="val 24884"/>
              <a:gd name="adj2" fmla="val 2357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L 도형 38"/>
          <p:cNvSpPr/>
          <p:nvPr/>
        </p:nvSpPr>
        <p:spPr>
          <a:xfrm rot="10800000" flipV="1">
            <a:off x="8487434" y="5589240"/>
            <a:ext cx="375957" cy="818163"/>
          </a:xfrm>
          <a:prstGeom prst="corner">
            <a:avLst>
              <a:gd name="adj1" fmla="val 24884"/>
              <a:gd name="adj2" fmla="val 2357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L 도형 36"/>
          <p:cNvSpPr/>
          <p:nvPr/>
        </p:nvSpPr>
        <p:spPr>
          <a:xfrm rot="10800000">
            <a:off x="8487435" y="585612"/>
            <a:ext cx="375957" cy="1448233"/>
          </a:xfrm>
          <a:prstGeom prst="corner">
            <a:avLst>
              <a:gd name="adj1" fmla="val 24884"/>
              <a:gd name="adj2" fmla="val 2357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 flipH="1" flipV="1">
            <a:off x="3852900" y="620687"/>
            <a:ext cx="1439180" cy="1"/>
          </a:xfrm>
          <a:prstGeom prst="line">
            <a:avLst/>
          </a:prstGeom>
          <a:ln w="889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L 도형 37"/>
          <p:cNvSpPr/>
          <p:nvPr/>
        </p:nvSpPr>
        <p:spPr>
          <a:xfrm rot="10800000" flipH="1" flipV="1">
            <a:off x="280607" y="5635173"/>
            <a:ext cx="375958" cy="818163"/>
          </a:xfrm>
          <a:prstGeom prst="corner">
            <a:avLst>
              <a:gd name="adj1" fmla="val 24884"/>
              <a:gd name="adj2" fmla="val 2357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48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b="0" kern="1200">
          <a:solidFill>
            <a:schemeClr val="tx2">
              <a:lumMod val="7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HY헤드라인M" pitchFamily="18" charset="-127"/>
          <a:ea typeface="HY헤드라인M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v"/>
        <a:defRPr sz="1600" b="0" kern="1200">
          <a:solidFill>
            <a:schemeClr val="tx1">
              <a:lumMod val="75000"/>
              <a:lumOff val="25000"/>
            </a:schemeClr>
          </a:solidFill>
          <a:latin typeface="HY헤드라인M" pitchFamily="18" charset="-127"/>
          <a:ea typeface="HY헤드라인M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HY헤드라인M" pitchFamily="18" charset="-127"/>
        <a:buChar char="▶"/>
        <a:defRPr sz="1400" b="0" kern="1200">
          <a:solidFill>
            <a:schemeClr val="tx1">
              <a:lumMod val="75000"/>
              <a:lumOff val="25000"/>
            </a:schemeClr>
          </a:solidFill>
          <a:latin typeface="HY헤드라인M" pitchFamily="18" charset="-127"/>
          <a:ea typeface="HY헤드라인M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Arial" pitchFamily="34" charset="0"/>
        <a:buChar char="▪"/>
        <a:defRPr sz="1200" b="0" kern="1200">
          <a:solidFill>
            <a:schemeClr val="tx1">
              <a:lumMod val="75000"/>
              <a:lumOff val="25000"/>
            </a:schemeClr>
          </a:solidFill>
          <a:latin typeface="HY헤드라인M" pitchFamily="18" charset="-127"/>
          <a:ea typeface="HY헤드라인M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Wingdings" pitchFamily="2" charset="2"/>
        <a:buChar char="u"/>
        <a:defRPr sz="1200" b="0" kern="1200">
          <a:solidFill>
            <a:schemeClr val="tx1">
              <a:lumMod val="65000"/>
              <a:lumOff val="35000"/>
            </a:schemeClr>
          </a:solidFill>
          <a:latin typeface="HY헤드라인M" pitchFamily="18" charset="-127"/>
          <a:ea typeface="HY헤드라인M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■"/>
        <a:defRPr sz="1100" b="0" kern="1200">
          <a:solidFill>
            <a:schemeClr val="tx1">
              <a:lumMod val="65000"/>
              <a:lumOff val="35000"/>
            </a:schemeClr>
          </a:solidFill>
          <a:latin typeface="HY헤드라인M" pitchFamily="18" charset="-127"/>
          <a:ea typeface="HY헤드라인M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ctrTitle"/>
          </p:nvPr>
        </p:nvSpPr>
        <p:spPr>
          <a:xfrm>
            <a:off x="395536" y="766836"/>
            <a:ext cx="4176464" cy="389155"/>
          </a:xfrm>
        </p:spPr>
        <p:txBody>
          <a:bodyPr/>
          <a:lstStyle/>
          <a:p>
            <a:pPr algn="l"/>
            <a:r>
              <a:rPr lang="ko-KR" altLang="en-US" sz="2000" spc="-15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공학설계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1B4B8C1D-8DD6-028B-6D75-2E22371B1ABD}"/>
              </a:ext>
            </a:extLst>
          </p:cNvPr>
          <p:cNvSpPr txBox="1">
            <a:spLocks/>
          </p:cNvSpPr>
          <p:nvPr/>
        </p:nvSpPr>
        <p:spPr>
          <a:xfrm>
            <a:off x="5057800" y="4941168"/>
            <a:ext cx="3960440" cy="1366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ts val="600"/>
              </a:spcBef>
              <a:buFont typeface="Arial" pitchFamily="34" charset="0"/>
              <a:buChar char="•"/>
              <a:defRPr sz="16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ts val="600"/>
              </a:spcBef>
              <a:buFont typeface="Arial" pitchFamily="34" charset="0"/>
              <a:buChar char="–"/>
              <a:defRPr sz="1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ts val="600"/>
              </a:spcBef>
              <a:buFont typeface="Arial" pitchFamily="34" charset="0"/>
              <a:buChar char="•"/>
              <a:defRPr sz="12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███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(████████,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지능전자공학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0" indent="0">
              <a:buNone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███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(████████,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지능전자공학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0" indent="0">
              <a:buNone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오승현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(████████,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지능형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ICT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융합공학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███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(████████,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지능형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ICT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융합공학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48F37-8DFE-122D-1A1F-AA08586299CF}"/>
              </a:ext>
            </a:extLst>
          </p:cNvPr>
          <p:cNvSpPr txBox="1"/>
          <p:nvPr/>
        </p:nvSpPr>
        <p:spPr>
          <a:xfrm>
            <a:off x="2105980" y="3212976"/>
            <a:ext cx="4932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UWB </a:t>
            </a:r>
            <a:r>
              <a: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통신 차량을 이용한 자동 배송 시스템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47CF8-8DD3-9FD9-96CC-108C5A815174}"/>
              </a:ext>
            </a:extLst>
          </p:cNvPr>
          <p:cNvSpPr txBox="1"/>
          <p:nvPr/>
        </p:nvSpPr>
        <p:spPr>
          <a:xfrm>
            <a:off x="0" y="2350621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의약품 배송 시스템</a:t>
            </a:r>
          </a:p>
        </p:txBody>
      </p:sp>
    </p:spTree>
    <p:extLst>
      <p:ext uri="{BB962C8B-B14F-4D97-AF65-F5344CB8AC3E}">
        <p14:creationId xmlns:p14="http://schemas.microsoft.com/office/powerpoint/2010/main" val="423099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609F-4CF2-9852-AFC8-6B45605B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834BD-A949-7D86-182F-403D0CB06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EAFE05BD-4E4D-2041-2BCC-DBDD595DD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DE124CB7-5E9B-E6F4-6461-A35EC336B6B7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목차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2" name="내용 개체 틀 31">
            <a:extLst>
              <a:ext uri="{FF2B5EF4-FFF2-40B4-BE49-F238E27FC236}">
                <a16:creationId xmlns:a16="http://schemas.microsoft.com/office/drawing/2014/main" id="{6E701602-F115-C4A1-BCFF-97AC06395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873" y="1203829"/>
            <a:ext cx="8210254" cy="5033483"/>
          </a:xfrm>
        </p:spPr>
        <p:txBody>
          <a:bodyPr>
            <a:noAutofit/>
          </a:bodyPr>
          <a:lstStyle/>
          <a:p>
            <a:pPr marL="914400" lvl="1" indent="-457200">
              <a:lnSpc>
                <a:spcPct val="130000"/>
              </a:lnSpc>
              <a:buAutoNum type="arabicPeriod"/>
            </a:pPr>
            <a:r>
              <a:rPr lang="ko-KR" altLang="en-US" sz="2000" dirty="0">
                <a:solidFill>
                  <a:schemeClr val="tx1"/>
                </a:solidFill>
              </a:rPr>
              <a:t>배경</a:t>
            </a:r>
            <a:br>
              <a:rPr lang="en-US" altLang="ko-KR" sz="2000" dirty="0">
                <a:solidFill>
                  <a:srgbClr val="131A5A"/>
                </a:solidFill>
              </a:rPr>
            </a:br>
            <a:r>
              <a:rPr lang="ko-KR" altLang="en-US" sz="1200" dirty="0">
                <a:solidFill>
                  <a:srgbClr val="131A5A"/>
                </a:solidFill>
              </a:rPr>
              <a:t>의료인 부족 문제</a:t>
            </a:r>
            <a:endParaRPr lang="en-US" altLang="ko-KR" sz="1200" dirty="0">
              <a:solidFill>
                <a:srgbClr val="131A5A"/>
              </a:solidFill>
            </a:endParaRPr>
          </a:p>
          <a:p>
            <a:pPr marL="914400" lvl="1" indent="-457200">
              <a:lnSpc>
                <a:spcPct val="130000"/>
              </a:lnSpc>
              <a:buAutoNum type="arabicPeriod"/>
            </a:pPr>
            <a:r>
              <a:rPr lang="ko-KR" altLang="en-US" sz="2000" dirty="0">
                <a:solidFill>
                  <a:schemeClr val="tx1"/>
                </a:solidFill>
              </a:rPr>
              <a:t>주제 소개</a:t>
            </a:r>
            <a:br>
              <a:rPr lang="en-US" altLang="ko-KR" sz="2000" dirty="0">
                <a:solidFill>
                  <a:srgbClr val="131A5A"/>
                </a:solidFill>
              </a:rPr>
            </a:br>
            <a:r>
              <a:rPr lang="ko-KR" altLang="en-US" sz="1200" dirty="0">
                <a:solidFill>
                  <a:srgbClr val="131A5A"/>
                </a:solidFill>
              </a:rPr>
              <a:t>의약품 배송 시스템</a:t>
            </a:r>
            <a:endParaRPr lang="en-US" altLang="ko-KR" sz="1200" dirty="0">
              <a:solidFill>
                <a:srgbClr val="131A5A"/>
              </a:solidFill>
            </a:endParaRPr>
          </a:p>
          <a:p>
            <a:pPr marL="914400" lvl="1" indent="-457200">
              <a:lnSpc>
                <a:spcPct val="130000"/>
              </a:lnSpc>
              <a:buAutoNum type="arabicPeriod"/>
            </a:pPr>
            <a:r>
              <a:rPr lang="ko-KR" altLang="en-US" sz="2000" dirty="0">
                <a:solidFill>
                  <a:schemeClr val="tx1"/>
                </a:solidFill>
              </a:rPr>
              <a:t>응용 이론 및 기술</a:t>
            </a:r>
            <a:br>
              <a:rPr lang="en-US" altLang="ko-KR" sz="2000" dirty="0">
                <a:solidFill>
                  <a:srgbClr val="131A5A"/>
                </a:solidFill>
              </a:rPr>
            </a:br>
            <a:r>
              <a:rPr lang="en-US" altLang="ko-KR" sz="1200" dirty="0">
                <a:solidFill>
                  <a:srgbClr val="131A5A"/>
                </a:solidFill>
              </a:rPr>
              <a:t>The g-h filter, Trilateration, DS-TWR</a:t>
            </a:r>
          </a:p>
          <a:p>
            <a:pPr marL="914400" lvl="1" indent="-457200">
              <a:lnSpc>
                <a:spcPct val="130000"/>
              </a:lnSpc>
              <a:buAutoNum type="arabicPeriod"/>
            </a:pPr>
            <a:r>
              <a:rPr lang="ko-KR" altLang="en-US" sz="2000" dirty="0">
                <a:solidFill>
                  <a:schemeClr val="tx1"/>
                </a:solidFill>
              </a:rPr>
              <a:t>방법 및 동작 원리</a:t>
            </a:r>
            <a:br>
              <a:rPr lang="en-US" altLang="ko-KR" sz="2000" dirty="0">
                <a:solidFill>
                  <a:srgbClr val="131A5A"/>
                </a:solidFill>
              </a:rPr>
            </a:br>
            <a:r>
              <a:rPr lang="ko-KR" altLang="en-US" sz="1200" dirty="0">
                <a:solidFill>
                  <a:srgbClr val="131A5A"/>
                </a:solidFill>
              </a:rPr>
              <a:t>차량의 위치 </a:t>
            </a:r>
            <a:r>
              <a:rPr lang="ko-KR" altLang="en-US" sz="1200" dirty="0" err="1">
                <a:solidFill>
                  <a:srgbClr val="131A5A"/>
                </a:solidFill>
              </a:rPr>
              <a:t>측위</a:t>
            </a:r>
            <a:r>
              <a:rPr lang="en-US" altLang="ko-KR" sz="1200" dirty="0">
                <a:solidFill>
                  <a:srgbClr val="131A5A"/>
                </a:solidFill>
              </a:rPr>
              <a:t>, Dispenser, Anchor</a:t>
            </a:r>
          </a:p>
          <a:p>
            <a:pPr marL="914400" lvl="1" indent="-457200">
              <a:lnSpc>
                <a:spcPct val="130000"/>
              </a:lnSpc>
              <a:buAutoNum type="arabicPeriod"/>
            </a:pPr>
            <a:r>
              <a:rPr lang="ko-KR" altLang="en-US" sz="2000" dirty="0">
                <a:solidFill>
                  <a:schemeClr val="tx1"/>
                </a:solidFill>
              </a:rPr>
              <a:t>시현</a:t>
            </a:r>
            <a:br>
              <a:rPr lang="en-US" altLang="ko-KR" dirty="0">
                <a:solidFill>
                  <a:srgbClr val="131A5A"/>
                </a:solidFill>
              </a:rPr>
            </a:br>
            <a:r>
              <a:rPr lang="ko-KR" altLang="en-US" sz="1200" dirty="0">
                <a:solidFill>
                  <a:srgbClr val="131A5A"/>
                </a:solidFill>
              </a:rPr>
              <a:t>차량 접근 시 의약품 출납 과정 </a:t>
            </a:r>
            <a:r>
              <a:rPr lang="en-US" altLang="ko-KR" sz="1200" dirty="0">
                <a:solidFill>
                  <a:srgbClr val="131A5A"/>
                </a:solidFill>
              </a:rPr>
              <a:t>&amp; </a:t>
            </a:r>
            <a:r>
              <a:rPr lang="ko-KR" altLang="en-US" sz="1200" dirty="0">
                <a:solidFill>
                  <a:srgbClr val="131A5A"/>
                </a:solidFill>
              </a:rPr>
              <a:t>전체 과정 시현</a:t>
            </a:r>
          </a:p>
          <a:p>
            <a:pPr marL="914400" lvl="1" indent="-457200">
              <a:lnSpc>
                <a:spcPct val="130000"/>
              </a:lnSpc>
              <a:buAutoNum type="arabicPeriod"/>
            </a:pPr>
            <a:r>
              <a:rPr lang="ko-KR" altLang="en-US" sz="2000" dirty="0">
                <a:solidFill>
                  <a:schemeClr val="tx1"/>
                </a:solidFill>
              </a:rPr>
              <a:t>성능 평가</a:t>
            </a:r>
            <a:br>
              <a:rPr lang="en-US" altLang="ko-KR" sz="2000" dirty="0">
                <a:solidFill>
                  <a:srgbClr val="131A5A"/>
                </a:solidFill>
              </a:rPr>
            </a:br>
            <a:r>
              <a:rPr lang="en-US" altLang="ko-KR" sz="1200" dirty="0">
                <a:solidFill>
                  <a:srgbClr val="131A5A"/>
                </a:solidFill>
              </a:rPr>
              <a:t>Calibration &amp; Tracking tag movement</a:t>
            </a:r>
          </a:p>
          <a:p>
            <a:pPr marL="914400" lvl="1" indent="-457200">
              <a:lnSpc>
                <a:spcPct val="130000"/>
              </a:lnSpc>
              <a:buAutoNum type="arabicPeriod"/>
            </a:pPr>
            <a:r>
              <a:rPr lang="ko-KR" altLang="en-US" sz="2000" dirty="0">
                <a:solidFill>
                  <a:schemeClr val="tx1"/>
                </a:solidFill>
              </a:rPr>
              <a:t>결론 및 제언</a:t>
            </a:r>
            <a:br>
              <a:rPr lang="en-US" altLang="ko-KR" sz="2000" dirty="0">
                <a:solidFill>
                  <a:srgbClr val="131A5A"/>
                </a:solidFill>
              </a:rPr>
            </a:br>
            <a:r>
              <a:rPr lang="ko-KR" altLang="en-US" sz="1200" dirty="0">
                <a:solidFill>
                  <a:srgbClr val="131A5A"/>
                </a:solidFill>
              </a:rPr>
              <a:t>기대 효과</a:t>
            </a:r>
            <a:r>
              <a:rPr lang="en-US" altLang="ko-KR" sz="1200" dirty="0">
                <a:solidFill>
                  <a:srgbClr val="131A5A"/>
                </a:solidFill>
              </a:rPr>
              <a:t>, </a:t>
            </a:r>
            <a:r>
              <a:rPr lang="ko-KR" altLang="en-US" sz="1200" dirty="0">
                <a:solidFill>
                  <a:srgbClr val="131A5A"/>
                </a:solidFill>
              </a:rPr>
              <a:t>발전 가능성</a:t>
            </a:r>
            <a:r>
              <a:rPr lang="en-US" altLang="ko-KR" sz="1200" dirty="0">
                <a:solidFill>
                  <a:srgbClr val="131A5A"/>
                </a:solidFill>
              </a:rPr>
              <a:t>, </a:t>
            </a:r>
            <a:r>
              <a:rPr lang="ko-KR" altLang="en-US" sz="1200" dirty="0">
                <a:solidFill>
                  <a:srgbClr val="131A5A"/>
                </a:solidFill>
              </a:rPr>
              <a:t>한계</a:t>
            </a:r>
            <a:endParaRPr lang="en-US" altLang="ko-KR" sz="1200" dirty="0">
              <a:solidFill>
                <a:srgbClr val="131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513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8D814-B7F9-864A-B745-CAC61E2B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ADF2CF-EE91-F749-A3FC-A2DA5BB0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2F2F9A94-649E-CD7C-CD8E-48A4F3FC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73BC12AF-911A-9BBF-6679-BA6E9F0B0F24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배경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F9CAB-14DC-86A4-0C17-E37ADA95F284}"/>
              </a:ext>
            </a:extLst>
          </p:cNvPr>
          <p:cNvSpPr txBox="1"/>
          <p:nvPr/>
        </p:nvSpPr>
        <p:spPr>
          <a:xfrm>
            <a:off x="1109622" y="1229766"/>
            <a:ext cx="6944100" cy="1694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의료계 및 간호사 인력 부족 현상</a:t>
            </a:r>
            <a:br>
              <a:rPr lang="en-US" altLang="ko-KR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간호사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1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명 당 환자를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12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명까지 관리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업무 중 사고 및 재해 경험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(4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명 中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명 꼴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)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현직 曰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과중한 업무로 인한 집중력 저하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-&gt;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사고 초래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20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간호사의 업무 분담 필요 </a:t>
            </a:r>
            <a:r>
              <a:rPr lang="en-US" altLang="ko-KR" sz="20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-&gt; </a:t>
            </a:r>
            <a:r>
              <a:rPr lang="ko-KR" altLang="en-US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자동 배송 시스템</a:t>
            </a:r>
            <a:endParaRPr lang="en-US" altLang="ko-KR" sz="20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E6016C2-5439-E32F-24DB-7B0A88CCF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805" y="3395180"/>
            <a:ext cx="3872698" cy="75530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DA7DED9-17A3-C01D-D593-958E86951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00" y="3359362"/>
            <a:ext cx="3730833" cy="252653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02089EF-59FD-452F-BA43-44874B363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651" y="4568161"/>
            <a:ext cx="3654531" cy="37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9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AF8A1-EB10-C946-AC44-E45F7194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72CDDF-E907-622F-CB6F-EA1A4369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47350BAB-0ECB-E24F-E7A2-9DC29BED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0AD389B1-A4A4-5CD9-05CF-F928A14A7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ko-KR" altLang="en-US" sz="2000" dirty="0">
                <a:solidFill>
                  <a:srgbClr val="131A5A"/>
                </a:solidFill>
              </a:rPr>
              <a:t>의약품 배송 시스템</a:t>
            </a:r>
            <a:endParaRPr lang="en-US" altLang="ko-KR" sz="20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D657FE96-F382-8ED7-8D2D-4975C7E28F44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주제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52C4D-043F-685F-8114-D517E80AF1C5}"/>
              </a:ext>
            </a:extLst>
          </p:cNvPr>
          <p:cNvSpPr txBox="1"/>
          <p:nvPr/>
        </p:nvSpPr>
        <p:spPr>
          <a:xfrm>
            <a:off x="1109622" y="1869122"/>
            <a:ext cx="6944100" cy="176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의료인이 의약품</a:t>
            </a:r>
            <a:r>
              <a:rPr lang="en-US" altLang="ko-KR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환자 정보 입력</a:t>
            </a:r>
            <a:br>
              <a:rPr lang="en-US" altLang="ko-KR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20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차량이 정보를 수신하면 창고에서 의약품 수령</a:t>
            </a:r>
            <a:br>
              <a:rPr lang="en-US" altLang="ko-KR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20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20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의약품을 환자에게 배송</a:t>
            </a:r>
            <a:endParaRPr lang="en-US" altLang="ko-KR" sz="20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B32AA2-C5A9-BDC1-9B31-295BFF0C1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50" t="1701" b="3800"/>
          <a:stretch>
            <a:fillRect/>
          </a:stretch>
        </p:blipFill>
        <p:spPr>
          <a:xfrm>
            <a:off x="4838106" y="3356992"/>
            <a:ext cx="3196272" cy="267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732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B81F1-E3A6-44DD-16BB-D0D4A86B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47">
            <a:extLst>
              <a:ext uri="{FF2B5EF4-FFF2-40B4-BE49-F238E27FC236}">
                <a16:creationId xmlns:a16="http://schemas.microsoft.com/office/drawing/2014/main" id="{334CA1C5-50EF-D07A-A6FA-4AA05E49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A9DB8D81-F36E-3526-9FAD-EF3E8A328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ko-KR" altLang="en-US" sz="2000" dirty="0">
                <a:solidFill>
                  <a:srgbClr val="131A5A"/>
                </a:solidFill>
              </a:rPr>
              <a:t>의약품 배송 시스템</a:t>
            </a:r>
            <a:endParaRPr lang="en-US" altLang="ko-KR" sz="20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68E5A3A7-AB71-371A-13E4-7293EA84BE21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주제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D396C4FB-55DD-23EA-2226-EA3A06538A6E}"/>
              </a:ext>
            </a:extLst>
          </p:cNvPr>
          <p:cNvGrpSpPr/>
          <p:nvPr/>
        </p:nvGrpSpPr>
        <p:grpSpPr>
          <a:xfrm>
            <a:off x="555399" y="1762822"/>
            <a:ext cx="8375856" cy="4474490"/>
            <a:chOff x="555399" y="1762822"/>
            <a:chExt cx="8375856" cy="4474490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179CEC9-C5C7-0E7E-2CFC-619306918477}"/>
                </a:ext>
              </a:extLst>
            </p:cNvPr>
            <p:cNvSpPr/>
            <p:nvPr/>
          </p:nvSpPr>
          <p:spPr>
            <a:xfrm>
              <a:off x="1007816" y="5805264"/>
              <a:ext cx="350368" cy="334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67A228F-18F3-985B-254A-41103283142B}"/>
                </a:ext>
              </a:extLst>
            </p:cNvPr>
            <p:cNvSpPr/>
            <p:nvPr/>
          </p:nvSpPr>
          <p:spPr>
            <a:xfrm>
              <a:off x="635467" y="1860998"/>
              <a:ext cx="8031987" cy="437631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부제목 13">
              <a:extLst>
                <a:ext uri="{FF2B5EF4-FFF2-40B4-BE49-F238E27FC236}">
                  <a16:creationId xmlns:a16="http://schemas.microsoft.com/office/drawing/2014/main" id="{9827ED4E-662A-5DC0-6840-DEAFAAEF251B}"/>
                </a:ext>
              </a:extLst>
            </p:cNvPr>
            <p:cNvSpPr txBox="1">
              <a:spLocks/>
            </p:cNvSpPr>
            <p:nvPr/>
          </p:nvSpPr>
          <p:spPr>
            <a:xfrm>
              <a:off x="555399" y="5496287"/>
              <a:ext cx="1368152" cy="44934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6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–"/>
                <a:defRPr sz="14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2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itchFamily="34" charset="0"/>
                <a:buNone/>
              </a:pPr>
              <a:r>
                <a:rPr lang="en-US" altLang="ko-KR" sz="1400" b="1" dirty="0"/>
                <a:t>Anchor 1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64AD071-14E8-2641-8ED4-8ECF11C722FF}"/>
                </a:ext>
              </a:extLst>
            </p:cNvPr>
            <p:cNvSpPr/>
            <p:nvPr/>
          </p:nvSpPr>
          <p:spPr>
            <a:xfrm>
              <a:off x="2169193" y="5021352"/>
              <a:ext cx="341865" cy="3286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부제목 13">
              <a:extLst>
                <a:ext uri="{FF2B5EF4-FFF2-40B4-BE49-F238E27FC236}">
                  <a16:creationId xmlns:a16="http://schemas.microsoft.com/office/drawing/2014/main" id="{C09B1CCD-AA79-9FAB-2820-3D6B54559DB2}"/>
                </a:ext>
              </a:extLst>
            </p:cNvPr>
            <p:cNvSpPr txBox="1">
              <a:spLocks/>
            </p:cNvSpPr>
            <p:nvPr/>
          </p:nvSpPr>
          <p:spPr>
            <a:xfrm>
              <a:off x="1403648" y="4749381"/>
              <a:ext cx="1845664" cy="32548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6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–"/>
                <a:defRPr sz="14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2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200" b="1" dirty="0"/>
                <a:t>Dispenser</a:t>
              </a: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4A3F8E3-7876-CB18-84D4-B88B75DDBCF0}"/>
                </a:ext>
              </a:extLst>
            </p:cNvPr>
            <p:cNvSpPr/>
            <p:nvPr/>
          </p:nvSpPr>
          <p:spPr>
            <a:xfrm>
              <a:off x="8067371" y="5795513"/>
              <a:ext cx="350368" cy="334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부제목 13">
              <a:extLst>
                <a:ext uri="{FF2B5EF4-FFF2-40B4-BE49-F238E27FC236}">
                  <a16:creationId xmlns:a16="http://schemas.microsoft.com/office/drawing/2014/main" id="{01DC1FBE-2EF4-85CF-8E8C-6AD30E6E9E3F}"/>
                </a:ext>
              </a:extLst>
            </p:cNvPr>
            <p:cNvSpPr txBox="1">
              <a:spLocks/>
            </p:cNvSpPr>
            <p:nvPr/>
          </p:nvSpPr>
          <p:spPr>
            <a:xfrm>
              <a:off x="7563103" y="5448635"/>
              <a:ext cx="1368152" cy="44934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6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–"/>
                <a:defRPr sz="14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2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itchFamily="34" charset="0"/>
                <a:buNone/>
              </a:pPr>
              <a:r>
                <a:rPr lang="en-US" altLang="ko-KR" sz="1400" b="1" dirty="0"/>
                <a:t>Anchor 2</a:t>
              </a: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CE68A693-CD71-F14D-6DF7-838E8123DEF2}"/>
                </a:ext>
              </a:extLst>
            </p:cNvPr>
            <p:cNvSpPr/>
            <p:nvPr/>
          </p:nvSpPr>
          <p:spPr>
            <a:xfrm>
              <a:off x="8028596" y="2248491"/>
              <a:ext cx="350368" cy="334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4" name="부제목 13">
              <a:extLst>
                <a:ext uri="{FF2B5EF4-FFF2-40B4-BE49-F238E27FC236}">
                  <a16:creationId xmlns:a16="http://schemas.microsoft.com/office/drawing/2014/main" id="{B713585A-5DB6-FC5B-411F-535AEE62A80E}"/>
                </a:ext>
              </a:extLst>
            </p:cNvPr>
            <p:cNvSpPr txBox="1">
              <a:spLocks/>
            </p:cNvSpPr>
            <p:nvPr/>
          </p:nvSpPr>
          <p:spPr>
            <a:xfrm>
              <a:off x="7524328" y="1901613"/>
              <a:ext cx="1368152" cy="44934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6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–"/>
                <a:defRPr sz="14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2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itchFamily="34" charset="0"/>
                <a:buNone/>
              </a:pPr>
              <a:r>
                <a:rPr lang="en-US" altLang="ko-KR" sz="1400" b="1" dirty="0"/>
                <a:t>Anchor 3</a:t>
              </a:r>
            </a:p>
          </p:txBody>
        </p:sp>
        <p:sp>
          <p:nvSpPr>
            <p:cNvPr id="37" name="화살표: 오른쪽 36">
              <a:extLst>
                <a:ext uri="{FF2B5EF4-FFF2-40B4-BE49-F238E27FC236}">
                  <a16:creationId xmlns:a16="http://schemas.microsoft.com/office/drawing/2014/main" id="{F5B888A8-79F6-B1BB-854A-2305B14234B5}"/>
                </a:ext>
              </a:extLst>
            </p:cNvPr>
            <p:cNvSpPr/>
            <p:nvPr/>
          </p:nvSpPr>
          <p:spPr>
            <a:xfrm rot="5400000" flipV="1">
              <a:off x="1968833" y="4167058"/>
              <a:ext cx="805601" cy="45719"/>
            </a:xfrm>
            <a:prstGeom prst="rightArrow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5DDAA17D-7A7A-2D38-C5AB-6DAC677316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3648" y="2652775"/>
              <a:ext cx="1" cy="28625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915D34CE-BE02-DE32-1016-ACDD2DBAFC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3649" y="2651087"/>
              <a:ext cx="1845664" cy="16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1C934DDA-C48D-6580-CEC3-6A93B3B9EB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3649" y="5515308"/>
              <a:ext cx="1845664" cy="16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5E161D2D-3E57-B0C6-93E0-DCBA3F1C56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9312" y="4350088"/>
              <a:ext cx="1" cy="11652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D850A62D-555D-B6E3-00E3-BEC9A26B8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9313" y="2651087"/>
              <a:ext cx="0" cy="11405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A90DB87F-13AE-5C12-F334-C5C456F125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4567" y="4350088"/>
              <a:ext cx="1948961" cy="99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FA6B4167-B889-B8AD-0E12-556A130858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4567" y="3791662"/>
              <a:ext cx="1948962" cy="99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75E0169B-018C-0362-D797-CA8F351878C9}"/>
                </a:ext>
              </a:extLst>
            </p:cNvPr>
            <p:cNvCxnSpPr>
              <a:cxnSpLocks/>
            </p:cNvCxnSpPr>
            <p:nvPr/>
          </p:nvCxnSpPr>
          <p:spPr>
            <a:xfrm>
              <a:off x="7692774" y="2634988"/>
              <a:ext cx="0" cy="29346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1778AAEC-B0A8-BE8F-F57E-BCC827E946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3528" y="2634988"/>
              <a:ext cx="24992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C4E22615-5714-3507-3382-8206FCA459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3528" y="5571277"/>
              <a:ext cx="2499245" cy="179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31427A6D-D639-AB5C-E166-F839E85F7B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5168" y="4348400"/>
              <a:ext cx="8359" cy="12408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C2E6EC94-CDB5-AAE6-3277-1A228F2E86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3529" y="2634988"/>
              <a:ext cx="0" cy="116666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화살표: 오른쪽 77">
              <a:extLst>
                <a:ext uri="{FF2B5EF4-FFF2-40B4-BE49-F238E27FC236}">
                  <a16:creationId xmlns:a16="http://schemas.microsoft.com/office/drawing/2014/main" id="{12344395-778D-57D5-C08D-6169E75D6A3E}"/>
                </a:ext>
              </a:extLst>
            </p:cNvPr>
            <p:cNvSpPr/>
            <p:nvPr/>
          </p:nvSpPr>
          <p:spPr>
            <a:xfrm rot="19906453">
              <a:off x="2527073" y="4286871"/>
              <a:ext cx="767689" cy="45719"/>
            </a:xfrm>
            <a:prstGeom prst="rightArrow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CCC1BCAD-F39B-D2C7-79FA-41CED6754ED2}"/>
                </a:ext>
              </a:extLst>
            </p:cNvPr>
            <p:cNvSpPr/>
            <p:nvPr/>
          </p:nvSpPr>
          <p:spPr>
            <a:xfrm>
              <a:off x="5723071" y="2597992"/>
              <a:ext cx="1440160" cy="25006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/>
                <a:t>Patient room</a:t>
              </a:r>
              <a:endParaRPr lang="ko-KR" altLang="en-US" sz="1050" b="1" dirty="0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0CFA9D8-AC00-7649-4396-715AE92DA619}"/>
                </a:ext>
              </a:extLst>
            </p:cNvPr>
            <p:cNvSpPr/>
            <p:nvPr/>
          </p:nvSpPr>
          <p:spPr>
            <a:xfrm>
              <a:off x="6936158" y="5003422"/>
              <a:ext cx="341865" cy="3286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부제목 13">
              <a:extLst>
                <a:ext uri="{FF2B5EF4-FFF2-40B4-BE49-F238E27FC236}">
                  <a16:creationId xmlns:a16="http://schemas.microsoft.com/office/drawing/2014/main" id="{F16E9BF6-D139-609E-32D6-F7AE7E75A8DA}"/>
                </a:ext>
              </a:extLst>
            </p:cNvPr>
            <p:cNvSpPr txBox="1">
              <a:spLocks/>
            </p:cNvSpPr>
            <p:nvPr/>
          </p:nvSpPr>
          <p:spPr>
            <a:xfrm>
              <a:off x="6184258" y="4711006"/>
              <a:ext cx="1845664" cy="32548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6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–"/>
                <a:defRPr sz="14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2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200" b="1" dirty="0"/>
                <a:t>Patient 2</a:t>
              </a:r>
            </a:p>
          </p:txBody>
        </p:sp>
        <p:sp>
          <p:nvSpPr>
            <p:cNvPr id="90" name="화살표: 오른쪽 89">
              <a:extLst>
                <a:ext uri="{FF2B5EF4-FFF2-40B4-BE49-F238E27FC236}">
                  <a16:creationId xmlns:a16="http://schemas.microsoft.com/office/drawing/2014/main" id="{BC03910C-3D71-DAC0-3A19-E7592F442C2A}"/>
                </a:ext>
              </a:extLst>
            </p:cNvPr>
            <p:cNvSpPr/>
            <p:nvPr/>
          </p:nvSpPr>
          <p:spPr>
            <a:xfrm rot="1812144">
              <a:off x="5271992" y="4314966"/>
              <a:ext cx="533935" cy="64212"/>
            </a:xfrm>
            <a:prstGeom prst="rightArrow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89E61891-ED8E-6AE9-A3AF-AE0CAD5AE76E}"/>
                </a:ext>
              </a:extLst>
            </p:cNvPr>
            <p:cNvSpPr/>
            <p:nvPr/>
          </p:nvSpPr>
          <p:spPr>
            <a:xfrm>
              <a:off x="6936158" y="3392744"/>
              <a:ext cx="341865" cy="3286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부제목 13">
              <a:extLst>
                <a:ext uri="{FF2B5EF4-FFF2-40B4-BE49-F238E27FC236}">
                  <a16:creationId xmlns:a16="http://schemas.microsoft.com/office/drawing/2014/main" id="{1DC34233-E405-60E3-BABF-9625EEF83AAA}"/>
                </a:ext>
              </a:extLst>
            </p:cNvPr>
            <p:cNvSpPr txBox="1">
              <a:spLocks/>
            </p:cNvSpPr>
            <p:nvPr/>
          </p:nvSpPr>
          <p:spPr>
            <a:xfrm>
              <a:off x="6184258" y="3100328"/>
              <a:ext cx="1845664" cy="32548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6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–"/>
                <a:defRPr sz="14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2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200" b="1" dirty="0"/>
                <a:t>Patient 1</a:t>
              </a:r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F321BC91-CE7E-943D-80E5-27063BF1402D}"/>
                </a:ext>
              </a:extLst>
            </p:cNvPr>
            <p:cNvSpPr/>
            <p:nvPr/>
          </p:nvSpPr>
          <p:spPr>
            <a:xfrm>
              <a:off x="1879422" y="3777776"/>
              <a:ext cx="340368" cy="340368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31A5A"/>
                  </a:solidFill>
                </a:rPr>
                <a:t>2</a:t>
              </a:r>
              <a:endParaRPr lang="ko-KR" altLang="en-US" dirty="0">
                <a:solidFill>
                  <a:srgbClr val="131A5A"/>
                </a:solidFill>
              </a:endParaRPr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3C63986F-FB0A-3751-89E0-EFDA45B4BFFA}"/>
                </a:ext>
              </a:extLst>
            </p:cNvPr>
            <p:cNvSpPr/>
            <p:nvPr/>
          </p:nvSpPr>
          <p:spPr>
            <a:xfrm>
              <a:off x="6423846" y="1762822"/>
              <a:ext cx="340368" cy="340368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31A5A"/>
                  </a:solidFill>
                </a:rPr>
                <a:t>1</a:t>
              </a:r>
              <a:endParaRPr lang="ko-KR" altLang="en-US" dirty="0">
                <a:solidFill>
                  <a:srgbClr val="131A5A"/>
                </a:solidFill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DBFE6C3A-106C-52C4-AA14-4F38883A585C}"/>
                </a:ext>
              </a:extLst>
            </p:cNvPr>
            <p:cNvSpPr/>
            <p:nvPr/>
          </p:nvSpPr>
          <p:spPr>
            <a:xfrm>
              <a:off x="1712499" y="5036490"/>
              <a:ext cx="340368" cy="340368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31A5A"/>
                  </a:solidFill>
                </a:rPr>
                <a:t>3</a:t>
              </a:r>
              <a:endParaRPr lang="ko-KR" altLang="en-US" dirty="0">
                <a:solidFill>
                  <a:srgbClr val="131A5A"/>
                </a:solidFill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413B99FF-B8D5-DF45-E4CD-14DD60D9E59B}"/>
                </a:ext>
              </a:extLst>
            </p:cNvPr>
            <p:cNvSpPr/>
            <p:nvPr/>
          </p:nvSpPr>
          <p:spPr>
            <a:xfrm>
              <a:off x="4047814" y="3413254"/>
              <a:ext cx="340368" cy="340368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31A5A"/>
                  </a:solidFill>
                </a:rPr>
                <a:t>4</a:t>
              </a:r>
              <a:endParaRPr lang="ko-KR" altLang="en-US" dirty="0">
                <a:solidFill>
                  <a:srgbClr val="131A5A"/>
                </a:solidFill>
              </a:endParaRPr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48D83B15-2A88-9307-5ED7-DF93624BB4FB}"/>
                </a:ext>
              </a:extLst>
            </p:cNvPr>
            <p:cNvSpPr/>
            <p:nvPr/>
          </p:nvSpPr>
          <p:spPr>
            <a:xfrm>
              <a:off x="5887816" y="3995597"/>
              <a:ext cx="340368" cy="340368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31A5A"/>
                  </a:solidFill>
                </a:rPr>
                <a:t>5</a:t>
              </a:r>
              <a:endParaRPr lang="ko-KR" altLang="en-US" dirty="0">
                <a:solidFill>
                  <a:srgbClr val="131A5A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7F219B93-27CF-74E2-1CB2-5135A1BCE46B}"/>
                </a:ext>
              </a:extLst>
            </p:cNvPr>
            <p:cNvSpPr/>
            <p:nvPr/>
          </p:nvSpPr>
          <p:spPr>
            <a:xfrm>
              <a:off x="6804248" y="1921661"/>
              <a:ext cx="933898" cy="324854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Server</a:t>
              </a:r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0D9AFE3-3886-C55D-46EC-A5584DD913FE}"/>
                </a:ext>
              </a:extLst>
            </p:cNvPr>
            <p:cNvSpPr/>
            <p:nvPr/>
          </p:nvSpPr>
          <p:spPr>
            <a:xfrm>
              <a:off x="2127839" y="3354263"/>
              <a:ext cx="374335" cy="35987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18" name="부제목 13">
              <a:extLst>
                <a:ext uri="{FF2B5EF4-FFF2-40B4-BE49-F238E27FC236}">
                  <a16:creationId xmlns:a16="http://schemas.microsoft.com/office/drawing/2014/main" id="{1BC5640D-3FF6-CF50-7E50-0CC92E036985}"/>
                </a:ext>
              </a:extLst>
            </p:cNvPr>
            <p:cNvSpPr txBox="1">
              <a:spLocks/>
            </p:cNvSpPr>
            <p:nvPr/>
          </p:nvSpPr>
          <p:spPr>
            <a:xfrm>
              <a:off x="1657097" y="3013728"/>
              <a:ext cx="1368152" cy="34036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6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–"/>
                <a:defRPr sz="14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ts val="600"/>
                </a:spcBef>
                <a:buFont typeface="Arial" pitchFamily="34" charset="0"/>
                <a:buChar char="•"/>
                <a:defRPr sz="1200" b="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4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itchFamily="34" charset="0"/>
                <a:buNone/>
              </a:pPr>
              <a:r>
                <a:rPr lang="ko-KR" altLang="en-US" sz="1200" b="1" dirty="0"/>
                <a:t>차량</a:t>
              </a:r>
              <a:r>
                <a:rPr lang="en-US" altLang="ko-KR" sz="1200" b="1" dirty="0"/>
                <a:t>(Tag)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810AC36-2E6E-562C-1CA5-434F3AD1FCA9}"/>
                </a:ext>
              </a:extLst>
            </p:cNvPr>
            <p:cNvSpPr/>
            <p:nvPr/>
          </p:nvSpPr>
          <p:spPr>
            <a:xfrm>
              <a:off x="1602114" y="2604072"/>
              <a:ext cx="1440160" cy="25006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/>
                <a:t>Storage</a:t>
              </a:r>
              <a:endParaRPr lang="ko-KR" altLang="en-US" sz="1200" b="1" dirty="0"/>
            </a:p>
          </p:txBody>
        </p:sp>
        <p:sp>
          <p:nvSpPr>
            <p:cNvPr id="120" name="화살표: 오른쪽 119">
              <a:extLst>
                <a:ext uri="{FF2B5EF4-FFF2-40B4-BE49-F238E27FC236}">
                  <a16:creationId xmlns:a16="http://schemas.microsoft.com/office/drawing/2014/main" id="{54618298-85F5-CFBD-2592-CC2CDB029564}"/>
                </a:ext>
              </a:extLst>
            </p:cNvPr>
            <p:cNvSpPr/>
            <p:nvPr/>
          </p:nvSpPr>
          <p:spPr>
            <a:xfrm>
              <a:off x="3899881" y="4067163"/>
              <a:ext cx="767689" cy="45719"/>
            </a:xfrm>
            <a:prstGeom prst="rightArrow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1" name="화살표: 오른쪽 120">
              <a:extLst>
                <a:ext uri="{FF2B5EF4-FFF2-40B4-BE49-F238E27FC236}">
                  <a16:creationId xmlns:a16="http://schemas.microsoft.com/office/drawing/2014/main" id="{25C2C4CB-197B-7A32-21C2-D6F126E29310}"/>
                </a:ext>
              </a:extLst>
            </p:cNvPr>
            <p:cNvSpPr/>
            <p:nvPr/>
          </p:nvSpPr>
          <p:spPr>
            <a:xfrm rot="20268724">
              <a:off x="5269845" y="3887482"/>
              <a:ext cx="533935" cy="64212"/>
            </a:xfrm>
            <a:prstGeom prst="rightArrow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BB7499BA-CEA8-FF46-440F-AC484A7B0AE4}"/>
              </a:ext>
            </a:extLst>
          </p:cNvPr>
          <p:cNvSpPr txBox="1"/>
          <p:nvPr/>
        </p:nvSpPr>
        <p:spPr>
          <a:xfrm>
            <a:off x="4127429" y="5777387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2.8m</a:t>
            </a:r>
            <a:endParaRPr lang="ko-KR" altLang="en-US" dirty="0"/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906146E9-0F77-9C6A-1732-8BDDD6CECBE7}"/>
              </a:ext>
            </a:extLst>
          </p:cNvPr>
          <p:cNvCxnSpPr>
            <a:cxnSpLocks/>
          </p:cNvCxnSpPr>
          <p:nvPr/>
        </p:nvCxnSpPr>
        <p:spPr>
          <a:xfrm>
            <a:off x="755576" y="6163725"/>
            <a:ext cx="7752957" cy="0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F8B80FC3-DB7B-4D7A-1C8C-EFA1FE56AECD}"/>
              </a:ext>
            </a:extLst>
          </p:cNvPr>
          <p:cNvSpPr txBox="1"/>
          <p:nvPr/>
        </p:nvSpPr>
        <p:spPr>
          <a:xfrm>
            <a:off x="8028384" y="390089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2m</a:t>
            </a:r>
            <a:endParaRPr lang="ko-KR" altLang="en-US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C3CD0869-69C4-A93A-02D9-AC0BADD93BC2}"/>
              </a:ext>
            </a:extLst>
          </p:cNvPr>
          <p:cNvCxnSpPr>
            <a:cxnSpLocks/>
          </p:cNvCxnSpPr>
          <p:nvPr/>
        </p:nvCxnSpPr>
        <p:spPr>
          <a:xfrm>
            <a:off x="8508533" y="2350956"/>
            <a:ext cx="0" cy="3145331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2742E05-C062-8FC6-BD40-C3476F2B1F51}"/>
              </a:ext>
            </a:extLst>
          </p:cNvPr>
          <p:cNvSpPr txBox="1"/>
          <p:nvPr/>
        </p:nvSpPr>
        <p:spPr>
          <a:xfrm>
            <a:off x="1863919" y="2215897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0.8m</a:t>
            </a:r>
            <a:endParaRPr lang="ko-KR" altLang="en-US" sz="1200" dirty="0"/>
          </a:p>
        </p:txBody>
      </p: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841026ED-DAD2-3ECD-4748-74AC1CF12536}"/>
              </a:ext>
            </a:extLst>
          </p:cNvPr>
          <p:cNvCxnSpPr>
            <a:cxnSpLocks/>
          </p:cNvCxnSpPr>
          <p:nvPr/>
        </p:nvCxnSpPr>
        <p:spPr>
          <a:xfrm>
            <a:off x="1347368" y="2485712"/>
            <a:ext cx="1897199" cy="7184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AD5369AC-4EA6-AB8E-3FAC-993FD1812CDC}"/>
              </a:ext>
            </a:extLst>
          </p:cNvPr>
          <p:cNvSpPr txBox="1"/>
          <p:nvPr/>
        </p:nvSpPr>
        <p:spPr>
          <a:xfrm>
            <a:off x="6016470" y="2215897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0.8m</a:t>
            </a:r>
            <a:endParaRPr lang="ko-KR" altLang="en-US" sz="1200" dirty="0"/>
          </a:p>
        </p:txBody>
      </p: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031D8D84-1B04-DE26-A817-59CAC5BCE003}"/>
              </a:ext>
            </a:extLst>
          </p:cNvPr>
          <p:cNvCxnSpPr>
            <a:cxnSpLocks/>
          </p:cNvCxnSpPr>
          <p:nvPr/>
        </p:nvCxnSpPr>
        <p:spPr>
          <a:xfrm>
            <a:off x="5499919" y="2485712"/>
            <a:ext cx="1897199" cy="7184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435A79B6-F997-996A-9CB1-0D8190D7D2F4}"/>
              </a:ext>
            </a:extLst>
          </p:cNvPr>
          <p:cNvSpPr txBox="1"/>
          <p:nvPr/>
        </p:nvSpPr>
        <p:spPr>
          <a:xfrm>
            <a:off x="611560" y="3900892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1.6m</a:t>
            </a:r>
            <a:endParaRPr lang="ko-KR" altLang="en-US" sz="1200" dirty="0"/>
          </a:p>
        </p:txBody>
      </p: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0014E11C-BFEE-AFE6-DBE1-0A8B989C9FDB}"/>
              </a:ext>
            </a:extLst>
          </p:cNvPr>
          <p:cNvCxnSpPr>
            <a:cxnSpLocks/>
          </p:cNvCxnSpPr>
          <p:nvPr/>
        </p:nvCxnSpPr>
        <p:spPr>
          <a:xfrm>
            <a:off x="1259632" y="2651087"/>
            <a:ext cx="0" cy="2797548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65C42D92-FCDE-0284-D118-FA27C8BB39E6}"/>
              </a:ext>
            </a:extLst>
          </p:cNvPr>
          <p:cNvSpPr txBox="1"/>
          <p:nvPr/>
        </p:nvSpPr>
        <p:spPr>
          <a:xfrm>
            <a:off x="7652193" y="3534937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1.6m</a:t>
            </a:r>
            <a:endParaRPr lang="ko-KR" altLang="en-US" sz="1200" dirty="0"/>
          </a:p>
        </p:txBody>
      </p: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861A0890-42D9-4C75-0462-E49C4528D826}"/>
              </a:ext>
            </a:extLst>
          </p:cNvPr>
          <p:cNvCxnSpPr>
            <a:cxnSpLocks/>
          </p:cNvCxnSpPr>
          <p:nvPr/>
        </p:nvCxnSpPr>
        <p:spPr>
          <a:xfrm>
            <a:off x="7848508" y="2651087"/>
            <a:ext cx="0" cy="2797548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32488014-CCB6-78D6-36AC-F16A841ED23C}"/>
              </a:ext>
            </a:extLst>
          </p:cNvPr>
          <p:cNvSpPr txBox="1"/>
          <p:nvPr/>
        </p:nvSpPr>
        <p:spPr>
          <a:xfrm>
            <a:off x="251519" y="6453336"/>
            <a:ext cx="867973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의료기관의 시설 규격 제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</a:t>
            </a:r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“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 이상을 수용하는 곳인 경우에는 환자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명에 대하여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6.3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제곱 미터 이상으로 하여야 한다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</a:p>
          <a:p>
            <a:r>
              <a:rPr lang="ko-KR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제7조 (의약품 소분업소의 시설기준) </a:t>
            </a:r>
            <a:r>
              <a:rPr lang="ko-KR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</a:t>
            </a:r>
            <a:r>
              <a:rPr lang="ko-KR" altLang="ko-KR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의약품소분업소에</a:t>
            </a:r>
            <a:r>
              <a:rPr lang="ko-KR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작업소를 두되, 그 면적은 66제곱미터 이상이어야 한다</a:t>
            </a:r>
            <a:b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438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97DD-F7FB-A1B1-6BBE-AE310299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45EB6B-62ED-63CF-2E9C-DF980495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F7B32F45-127B-D27E-4A16-5611D3E4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A01C24C0-6FB5-F46D-7940-A7659C34F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ko-KR" altLang="en-US" sz="2000" dirty="0">
                <a:solidFill>
                  <a:srgbClr val="131A5A"/>
                </a:solidFill>
              </a:rPr>
              <a:t>의약품 배송 시스템</a:t>
            </a:r>
            <a:endParaRPr lang="en-US" altLang="ko-KR" sz="20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889DB219-31DF-3FC5-3DDD-A4EDDB5154F7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주제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D1A1B5-2D94-B8A0-64C2-ADFF82FFF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860997"/>
            <a:ext cx="6480720" cy="416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43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FABF-CBE5-1B6E-0C4D-098A6AD3A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EF7068-CC3C-9825-D361-EECDD04C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C6FAB943-30EF-5A06-A00B-AB2824B7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E7AA3258-F338-D8B5-AF98-77B547FA497B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응용 이론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2" name="내용 개체 틀 31">
            <a:extLst>
              <a:ext uri="{FF2B5EF4-FFF2-40B4-BE49-F238E27FC236}">
                <a16:creationId xmlns:a16="http://schemas.microsoft.com/office/drawing/2014/main" id="{4C6D9F34-6217-55C1-BD31-62B7D832063C}"/>
              </a:ext>
            </a:extLst>
          </p:cNvPr>
          <p:cNvSpPr txBox="1">
            <a:spLocks/>
          </p:cNvSpPr>
          <p:nvPr/>
        </p:nvSpPr>
        <p:spPr>
          <a:xfrm>
            <a:off x="476545" y="1860998"/>
            <a:ext cx="7839871" cy="4376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ts val="6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v"/>
              <a:defRPr sz="16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ts val="600"/>
              </a:spcBef>
              <a:buClr>
                <a:schemeClr val="accent6">
                  <a:lumMod val="75000"/>
                </a:schemeClr>
              </a:buClr>
              <a:buFont typeface="HY헤드라인M" pitchFamily="18" charset="-127"/>
              <a:buChar char="▶"/>
              <a:defRPr sz="1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ts val="600"/>
              </a:spcBef>
              <a:buClr>
                <a:schemeClr val="accent6">
                  <a:lumMod val="75000"/>
                </a:schemeClr>
              </a:buClr>
              <a:buFont typeface="Arial" pitchFamily="34" charset="0"/>
              <a:buChar char="▪"/>
              <a:defRPr sz="12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Wingdings" pitchFamily="2" charset="2"/>
              <a:buChar char="u"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■"/>
              <a:defRPr sz="1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0000"/>
              </a:lnSpc>
              <a:buNone/>
            </a:pPr>
            <a:endParaRPr lang="en-US" altLang="ko-K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43B02-D6BD-490E-C50F-2373533DB6B0}"/>
                  </a:ext>
                </a:extLst>
              </p:cNvPr>
              <p:cNvSpPr txBox="1"/>
              <p:nvPr/>
            </p:nvSpPr>
            <p:spPr>
              <a:xfrm>
                <a:off x="1115116" y="1772816"/>
                <a:ext cx="7345316" cy="3898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1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400" b="1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현재 상태에서 미래 상태를 예측하고 오차를 계산하여 </a:t>
                </a:r>
                <a:r>
                  <a:rPr lang="en-US" altLang="ko-KR" sz="1400" b="1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g, h Update</a:t>
                </a:r>
                <a:br>
                  <a:rPr lang="en-US" altLang="ko-KR" sz="1400" b="1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</a:br>
                <a:r>
                  <a:rPr lang="ko-KR" altLang="en-US" sz="1400" b="1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이러한 과정을 반복하여 편차를 줄이는 </a:t>
                </a:r>
                <a:r>
                  <a:rPr lang="en-US" altLang="ko-KR" sz="1400" b="1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Filter</a:t>
                </a:r>
                <a:br>
                  <a:rPr lang="en-US" altLang="ko-KR" sz="1400" b="1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</a:br>
                <a:endParaRPr lang="en-US" altLang="ko-KR" sz="1400" b="1" spc="-1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endParaRPr>
              </a:p>
              <a:p>
                <a:pPr marL="342900" lvl="1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1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초기 상태</a:t>
                </a:r>
                <a:br>
                  <a:rPr lang="en-US" altLang="ko-KR" sz="1600" b="1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</a:b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초기 상태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와 초기 속도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ko-KR" altLang="en-US" sz="1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를 선택</a:t>
                </a:r>
                <a:br>
                  <a:rPr lang="en-US" altLang="ko-KR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</a:b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시간간격 </a:t>
                </a: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ko-KR" sz="16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t </a:t>
                </a: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를 선택하고 가중치 </a:t>
                </a:r>
                <a:r>
                  <a:rPr lang="en-US" altLang="ko-KR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g, h </a:t>
                </a: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선택</a:t>
                </a:r>
                <a:br>
                  <a:rPr lang="en-US" altLang="ko-KR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</a:br>
                <a:endParaRPr lang="en-US" altLang="ko-KR" sz="1600" spc="-1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endParaRPr>
              </a:p>
              <a:p>
                <a:pPr marL="342900" lvl="1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1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업데이트</a:t>
                </a:r>
                <a:endParaRPr lang="en-US" altLang="ko-KR" sz="1600" b="1" spc="-1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endParaRPr>
              </a:p>
              <a:p>
                <a:pPr marL="800100" lvl="2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다음 위치 예측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6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ko-KR" sz="1600" spc="-1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endParaRPr>
              </a:p>
              <a:p>
                <a:pPr marL="800100" lvl="2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새로운 측정값 </a:t>
                </a:r>
                <a:r>
                  <a:rPr lang="en-US" altLang="ko-KR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Z </a:t>
                </a: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받음</a:t>
                </a:r>
                <a:endParaRPr lang="en-US" altLang="ko-KR" sz="1600" spc="-1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endParaRPr>
              </a:p>
              <a:p>
                <a:pPr marL="800100" lvl="2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오차 계산 </a:t>
                </a:r>
                <a14:m>
                  <m:oMath xmlns:m="http://schemas.openxmlformats.org/officeDocument/2006/math"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ko-KR" sz="1600" spc="-1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endParaRPr>
              </a:p>
              <a:p>
                <a:pPr marL="800100" lvl="2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상태에 오차를 반영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𝑔𝑦</m:t>
                    </m:r>
                  </m:oMath>
                </a14:m>
                <a:r>
                  <a:rPr lang="en-US" altLang="ko-KR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    g(0~1): </a:t>
                </a: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측정값의 신뢰도</a:t>
                </a:r>
                <a:endParaRPr lang="en-US" altLang="ko-KR" sz="1600" spc="-1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endParaRPr>
              </a:p>
              <a:p>
                <a:pPr marL="800100" lvl="2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속도에 오차를 반영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altLang="ko-KR" sz="1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  h(0~2 or 0~1): </a:t>
                </a: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변화율의 신뢰도</a:t>
                </a:r>
                <a:endParaRPr lang="en-US" altLang="ko-KR" sz="1600" spc="-1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endParaRPr>
              </a:p>
              <a:p>
                <a:pPr marL="800100" lvl="2" indent="-342900">
                  <a:lnSpc>
                    <a:spcPct val="110000"/>
                  </a:lnSpc>
                  <a:buFont typeface="+mj-lt"/>
                  <a:buAutoNum type="arabicPeriod"/>
                </a:pPr>
                <a:r>
                  <a:rPr lang="ko-KR" altLang="en-US" sz="1600" spc="-14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ysClr val="windowText" lastClr="000000"/>
                    </a:solidFill>
                    <a:latin typeface="나눔고딕" pitchFamily="50" charset="-127"/>
                    <a:ea typeface="나눔고딕" pitchFamily="50" charset="-127"/>
                    <a:cs typeface="Arial" panose="020B0604020202020204" pitchFamily="34" charset="0"/>
                  </a:rPr>
                  <a:t>위 과정 반복</a:t>
                </a:r>
                <a:endParaRPr lang="en-US" altLang="ko-KR" sz="1600" spc="-14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ysClr val="windowText" lastClr="000000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943B02-D6BD-490E-C50F-2373533DB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116" y="1772816"/>
                <a:ext cx="7345316" cy="3898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내용 개체 틀 31">
            <a:extLst>
              <a:ext uri="{FF2B5EF4-FFF2-40B4-BE49-F238E27FC236}">
                <a16:creationId xmlns:a16="http://schemas.microsoft.com/office/drawing/2014/main" id="{954B97B4-583E-3ED6-B0C4-C1F4A345C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628598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2000" dirty="0">
                <a:solidFill>
                  <a:srgbClr val="131A5A"/>
                </a:solidFill>
              </a:rPr>
              <a:t>The g-h filter</a:t>
            </a:r>
          </a:p>
        </p:txBody>
      </p:sp>
    </p:spTree>
    <p:extLst>
      <p:ext uri="{BB962C8B-B14F-4D97-AF65-F5344CB8AC3E}">
        <p14:creationId xmlns:p14="http://schemas.microsoft.com/office/powerpoint/2010/main" val="4216057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823E-EBB4-4619-29FB-74A488A4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34ECC1-36EB-1F6F-DE6D-1D990687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37D9F669-EC5B-EA78-B91C-264B00F9E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566C1774-9F6B-83D5-5A27-ECE7BF46E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2000" dirty="0">
                <a:solidFill>
                  <a:srgbClr val="131A5A"/>
                </a:solidFill>
              </a:rPr>
              <a:t>Trilateration (</a:t>
            </a:r>
            <a:r>
              <a:rPr lang="ko-KR" altLang="en-US" sz="2000" dirty="0" err="1">
                <a:solidFill>
                  <a:srgbClr val="131A5A"/>
                </a:solidFill>
              </a:rPr>
              <a:t>삼변측량법</a:t>
            </a:r>
            <a:r>
              <a:rPr lang="en-US" altLang="ko-KR" sz="2000" dirty="0">
                <a:solidFill>
                  <a:srgbClr val="131A5A"/>
                </a:solidFill>
              </a:rPr>
              <a:t>)</a:t>
            </a:r>
            <a:endParaRPr lang="en-US" altLang="ko-KR" sz="16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A8ED1B34-95CA-D8B6-46E5-701E7E74338C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응용 이론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000281-CBFF-EB0E-6065-EEB0B7FD4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1" y="750520"/>
            <a:ext cx="2449255" cy="16328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29DD13-B6B2-0113-0209-AF8D72596619}"/>
              </a:ext>
            </a:extLst>
          </p:cNvPr>
          <p:cNvSpPr txBox="1"/>
          <p:nvPr/>
        </p:nvSpPr>
        <p:spPr>
          <a:xfrm>
            <a:off x="908401" y="1772816"/>
            <a:ext cx="6543919" cy="359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송신기의 위치를 측정하는 방법</a:t>
            </a:r>
            <a:b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16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수신기에서 송신기와 떨어진 거리가 반지름</a:t>
            </a:r>
            <a:b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중심은 수신기인 원 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개를 그릴 때 만나는 지점이 송신기의 위치</a:t>
            </a:r>
            <a:b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16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Tag</a:t>
            </a:r>
            <a:r>
              <a:rPr lang="ko-KR" altLang="en-US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 </a:t>
            </a:r>
            <a:r>
              <a:rPr lang="ko-KR" altLang="en-US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간 거리</a:t>
            </a:r>
            <a:b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DS-TWR 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방식을 통해 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R1, R2, R3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계산</a:t>
            </a:r>
            <a:endParaRPr lang="en-US" altLang="ko-KR" sz="16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16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2857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Tag</a:t>
            </a:r>
            <a:r>
              <a:rPr lang="ko-KR" altLang="en-US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좌표 계산</a:t>
            </a:r>
            <a:b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ko-KR" altLang="en-US" sz="1600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삼변측량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(Trilateration) 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기법을 이용하여 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Tag 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좌표 계산 </a:t>
            </a:r>
            <a:b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16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2857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</a:t>
            </a:r>
            <a:r>
              <a:rPr lang="ko-KR" altLang="en-US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차원 좌표 할당</a:t>
            </a:r>
            <a:b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좌표와 거리 정보를 기반으로 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x, y 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좌표 추정</a:t>
            </a:r>
            <a:endParaRPr lang="en-US" altLang="ko-KR" sz="16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4BC061-7E1D-415B-B5F6-611CD10ECDDD}"/>
              </a:ext>
            </a:extLst>
          </p:cNvPr>
          <p:cNvSpPr txBox="1"/>
          <p:nvPr/>
        </p:nvSpPr>
        <p:spPr>
          <a:xfrm>
            <a:off x="506127" y="5898467"/>
            <a:ext cx="8210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박은성</a:t>
            </a:r>
            <a:r>
              <a:rPr lang="en-US" altLang="ko-KR" sz="900" dirty="0"/>
              <a:t>,</a:t>
            </a:r>
            <a:r>
              <a:rPr lang="ko-KR" altLang="en-US" sz="900" dirty="0"/>
              <a:t>이길수</a:t>
            </a:r>
            <a:r>
              <a:rPr lang="en-US" altLang="ko-KR" sz="900" dirty="0"/>
              <a:t>. </a:t>
            </a:r>
            <a:r>
              <a:rPr lang="ko-KR" altLang="en-US" sz="900" dirty="0"/>
              <a:t>칼만 필터를 이용한 </a:t>
            </a:r>
            <a:r>
              <a:rPr lang="en-US" altLang="ko-KR" sz="900" dirty="0"/>
              <a:t>UWB </a:t>
            </a:r>
            <a:r>
              <a:rPr lang="ko-KR" altLang="en-US" sz="900" dirty="0"/>
              <a:t>센서 기반 </a:t>
            </a:r>
            <a:r>
              <a:rPr lang="ko-KR" altLang="en-US" sz="900" dirty="0" err="1"/>
              <a:t>다변측량법</a:t>
            </a:r>
            <a:r>
              <a:rPr lang="ko-KR" altLang="en-US" sz="900" dirty="0"/>
              <a:t> 개선 및 </a:t>
            </a:r>
            <a:r>
              <a:rPr lang="en-US" altLang="ko-KR" sz="900" dirty="0"/>
              <a:t>4WD SSMR</a:t>
            </a:r>
            <a:r>
              <a:rPr lang="ko-KR" altLang="en-US" sz="900" dirty="0"/>
              <a:t>의 목표 지점 추종제어에 관한 연구</a:t>
            </a:r>
            <a:r>
              <a:rPr lang="en-US" altLang="ko-KR" sz="900" dirty="0"/>
              <a:t>. A Study on the Improvement of UWB Sensor-based </a:t>
            </a:r>
            <a:r>
              <a:rPr lang="en-US" altLang="ko-KR" sz="900" dirty="0" err="1"/>
              <a:t>Multilateration</a:t>
            </a:r>
            <a:r>
              <a:rPr lang="en-US" altLang="ko-KR" sz="900" dirty="0"/>
              <a:t> using a Kalman Filter and Target Tracking Control for 4WD SSMR.</a:t>
            </a:r>
            <a:r>
              <a:rPr lang="ko-KR" altLang="en-US" sz="900" dirty="0"/>
              <a:t> </a:t>
            </a:r>
            <a:r>
              <a:rPr lang="en-US" altLang="ko-KR" sz="900" dirty="0"/>
              <a:t>pg11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06883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20C76-BE5F-3C69-E39C-95C57BA1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EE0AFD-1D79-26DB-F4A5-323B375E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466F491F-6AE8-B355-333F-193624260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47AB6D96-F5B6-2867-CB9D-5CECB6DFE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2000" dirty="0">
                <a:solidFill>
                  <a:srgbClr val="131A5A"/>
                </a:solidFill>
              </a:rPr>
              <a:t>DS-TWR (Double Side - Two Way Ranging)</a:t>
            </a:r>
            <a:endParaRPr lang="en-US" altLang="ko-KR" sz="16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7713A410-F40C-8D6A-A4A7-2E10DCF0A130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응용 이론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EC26F-D895-DD35-D863-E126786EF39C}"/>
              </a:ext>
            </a:extLst>
          </p:cNvPr>
          <p:cNvSpPr txBox="1"/>
          <p:nvPr/>
        </p:nvSpPr>
        <p:spPr>
          <a:xfrm>
            <a:off x="908401" y="1772816"/>
            <a:ext cx="6562727" cy="3394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Tag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 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간의 정보 교환 과정</a:t>
            </a:r>
            <a:b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b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b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b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b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b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14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Tag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400" b="1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Poll_msg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송신 中</a:t>
            </a:r>
            <a:b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msg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내부에 특정 정보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모터 관련 동작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)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같이 담아서 전송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. 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Tag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가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“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모터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On“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명령 정보를 담아 전송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거리 정보를 기반으로 판단하여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모터를 동작할지 말지 결정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pic>
        <p:nvPicPr>
          <p:cNvPr id="2" name="그림 1" descr="텍스트, 도표, 라인, 평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653A1B-179B-10C5-17B6-461B0A7D4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31"/>
          <a:stretch/>
        </p:blipFill>
        <p:spPr>
          <a:xfrm>
            <a:off x="5724128" y="1860998"/>
            <a:ext cx="2808312" cy="33206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3441E2-F0B6-C4D6-27CB-34218DC7AE66}"/>
                  </a:ext>
                </a:extLst>
              </p:cNvPr>
              <p:cNvSpPr txBox="1"/>
              <p:nvPr/>
            </p:nvSpPr>
            <p:spPr>
              <a:xfrm>
                <a:off x="1361243" y="2785909"/>
                <a:ext cx="14041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𝑇𝑜𝐹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3441E2-F0B6-C4D6-27CB-34218DC7A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243" y="2785909"/>
                <a:ext cx="1404167" cy="276999"/>
              </a:xfrm>
              <a:prstGeom prst="rect">
                <a:avLst/>
              </a:prstGeom>
              <a:blipFill>
                <a:blip r:embed="rId4"/>
                <a:stretch>
                  <a:fillRect l="-2165" r="-2165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0D5ED7-ACAA-BC57-F2F9-2299FF08FF89}"/>
                  </a:ext>
                </a:extLst>
              </p:cNvPr>
              <p:cNvSpPr txBox="1"/>
              <p:nvPr/>
            </p:nvSpPr>
            <p:spPr>
              <a:xfrm>
                <a:off x="1361243" y="2177862"/>
                <a:ext cx="3478187" cy="3868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ox>
                        <m:box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𝑟𝑜𝑢𝑛𝑑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𝑟𝑜𝑢𝑛𝑑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𝑟𝑜𝑢𝑛𝑑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𝑟𝑜𝑢𝑛𝑑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𝑟𝑜𝑢𝑛𝑑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𝑟𝑜𝑢𝑛𝑑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𝑟𝑒𝑝𝑙𝑦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𝑟𝑒𝑝𝑙𝑦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90D5ED7-ACAA-BC57-F2F9-2299FF08F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243" y="2177862"/>
                <a:ext cx="3478187" cy="386837"/>
              </a:xfrm>
              <a:prstGeom prst="rect">
                <a:avLst/>
              </a:prstGeom>
              <a:blipFill>
                <a:blip r:embed="rId5"/>
                <a:stretch>
                  <a:fillRect l="-1926" r="-1401" b="-17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9C263B0-778B-41FF-A542-9C5BB39708D8}"/>
              </a:ext>
            </a:extLst>
          </p:cNvPr>
          <p:cNvSpPr txBox="1"/>
          <p:nvPr/>
        </p:nvSpPr>
        <p:spPr>
          <a:xfrm>
            <a:off x="506127" y="5898467"/>
            <a:ext cx="8210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박은성</a:t>
            </a:r>
            <a:r>
              <a:rPr lang="en-US" altLang="ko-KR" sz="900" dirty="0"/>
              <a:t>,</a:t>
            </a:r>
            <a:r>
              <a:rPr lang="ko-KR" altLang="en-US" sz="900" dirty="0"/>
              <a:t>이길수</a:t>
            </a:r>
            <a:r>
              <a:rPr lang="en-US" altLang="ko-KR" sz="900" dirty="0"/>
              <a:t>. </a:t>
            </a:r>
            <a:r>
              <a:rPr lang="ko-KR" altLang="en-US" sz="900" dirty="0"/>
              <a:t>칼만 필터를 이용한 </a:t>
            </a:r>
            <a:r>
              <a:rPr lang="en-US" altLang="ko-KR" sz="900" dirty="0"/>
              <a:t>UWB </a:t>
            </a:r>
            <a:r>
              <a:rPr lang="ko-KR" altLang="en-US" sz="900" dirty="0"/>
              <a:t>센서 기반 </a:t>
            </a:r>
            <a:r>
              <a:rPr lang="ko-KR" altLang="en-US" sz="900" dirty="0" err="1"/>
              <a:t>다변측량법</a:t>
            </a:r>
            <a:r>
              <a:rPr lang="ko-KR" altLang="en-US" sz="900" dirty="0"/>
              <a:t> 개선 및 </a:t>
            </a:r>
            <a:r>
              <a:rPr lang="en-US" altLang="ko-KR" sz="900" dirty="0"/>
              <a:t>4WD SSMR</a:t>
            </a:r>
            <a:r>
              <a:rPr lang="ko-KR" altLang="en-US" sz="900" dirty="0"/>
              <a:t>의 목표 지점 추종제어에 관한 연구</a:t>
            </a:r>
            <a:r>
              <a:rPr lang="en-US" altLang="ko-KR" sz="900" dirty="0"/>
              <a:t>. A Study on the Improvement of UWB Sensor-based </a:t>
            </a:r>
            <a:r>
              <a:rPr lang="en-US" altLang="ko-KR" sz="900" dirty="0" err="1"/>
              <a:t>Multilateration</a:t>
            </a:r>
            <a:r>
              <a:rPr lang="en-US" altLang="ko-KR" sz="900" dirty="0"/>
              <a:t> using a Kalman Filter and Target Tracking Control for 4WD SSMR.</a:t>
            </a:r>
            <a:r>
              <a:rPr lang="ko-KR" altLang="en-US" sz="900" dirty="0"/>
              <a:t> </a:t>
            </a:r>
            <a:r>
              <a:rPr lang="en-US" altLang="ko-KR" sz="900" dirty="0"/>
              <a:t>pg11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66540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EC0B-4A96-86D2-5300-DD670306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7E7B3C-89BF-D219-548C-A7C69D10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80E28E5C-E113-0220-966B-99A791C29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B6D8A896-058D-8F3F-E67B-AB149CE25DD0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응용 이론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329B5-AE4B-1547-8CFF-6894C650B9A2}"/>
              </a:ext>
            </a:extLst>
          </p:cNvPr>
          <p:cNvSpPr txBox="1"/>
          <p:nvPr/>
        </p:nvSpPr>
        <p:spPr>
          <a:xfrm>
            <a:off x="908401" y="1772816"/>
            <a:ext cx="6562727" cy="169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DS-TWR</a:t>
            </a:r>
            <a:br>
              <a:rPr lang="en-US" altLang="ko-KR" sz="16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msg 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내부에 특정 정보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모터 관련 동작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)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같이 담아서 전송</a:t>
            </a:r>
            <a:b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b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Tag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가 좌표에 따른 각기 다른 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“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명령 정보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”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</a:t>
            </a:r>
            <a:r>
              <a:rPr lang="en-US" altLang="ko-KR" sz="1600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Poll_msg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담아 전송</a:t>
            </a:r>
            <a:b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수신하여 동작 수행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후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en-US" altLang="ko-KR" sz="1600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Reponse_msg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전송</a:t>
            </a:r>
            <a: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b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16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FCD9A15-A79A-E242-C4F7-9BAFCDEB2356}"/>
              </a:ext>
            </a:extLst>
          </p:cNvPr>
          <p:cNvGrpSpPr/>
          <p:nvPr/>
        </p:nvGrpSpPr>
        <p:grpSpPr>
          <a:xfrm>
            <a:off x="1547664" y="4077072"/>
            <a:ext cx="2088232" cy="1220800"/>
            <a:chOff x="1547664" y="4008400"/>
            <a:chExt cx="2088232" cy="12208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5A4AA18-76C9-A432-4D65-A92F78224607}"/>
                </a:ext>
              </a:extLst>
            </p:cNvPr>
            <p:cNvSpPr/>
            <p:nvPr/>
          </p:nvSpPr>
          <p:spPr>
            <a:xfrm>
              <a:off x="1732088" y="4456585"/>
              <a:ext cx="1719384" cy="6285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Tag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A74B44E-520F-D282-7110-DFBFCE0466CF}"/>
                </a:ext>
              </a:extLst>
            </p:cNvPr>
            <p:cNvSpPr/>
            <p:nvPr/>
          </p:nvSpPr>
          <p:spPr>
            <a:xfrm>
              <a:off x="1547664" y="4008400"/>
              <a:ext cx="2088232" cy="1220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Master</a:t>
              </a: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B4F77D7-543A-50D4-EEDB-1D658B3EC020}"/>
              </a:ext>
            </a:extLst>
          </p:cNvPr>
          <p:cNvGrpSpPr/>
          <p:nvPr/>
        </p:nvGrpSpPr>
        <p:grpSpPr>
          <a:xfrm>
            <a:off x="6218794" y="2911563"/>
            <a:ext cx="2088232" cy="3293934"/>
            <a:chOff x="6331790" y="2852936"/>
            <a:chExt cx="2088232" cy="329393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42D6E6B-3432-207D-C0E3-276BD042A451}"/>
                </a:ext>
              </a:extLst>
            </p:cNvPr>
            <p:cNvSpPr/>
            <p:nvPr/>
          </p:nvSpPr>
          <p:spPr>
            <a:xfrm>
              <a:off x="6331790" y="2852936"/>
              <a:ext cx="2088232" cy="32939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Slave</a:t>
              </a: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A3C77D9-2F7E-EF6A-571C-0834C2CE40E5}"/>
                </a:ext>
              </a:extLst>
            </p:cNvPr>
            <p:cNvSpPr/>
            <p:nvPr/>
          </p:nvSpPr>
          <p:spPr>
            <a:xfrm>
              <a:off x="6516215" y="3379803"/>
              <a:ext cx="1719383" cy="62859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Server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6657F20-874B-DE9B-012C-D91CCEEE0DEA}"/>
                </a:ext>
              </a:extLst>
            </p:cNvPr>
            <p:cNvSpPr/>
            <p:nvPr/>
          </p:nvSpPr>
          <p:spPr>
            <a:xfrm>
              <a:off x="6516215" y="4371998"/>
              <a:ext cx="1719383" cy="62859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Dispenser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81E844-F234-256E-F9B2-3F2ED3EEC4A9}"/>
                </a:ext>
              </a:extLst>
            </p:cNvPr>
            <p:cNvSpPr/>
            <p:nvPr/>
          </p:nvSpPr>
          <p:spPr>
            <a:xfrm>
              <a:off x="6516215" y="5392690"/>
              <a:ext cx="1719383" cy="62859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Patient</a:t>
              </a:r>
            </a:p>
          </p:txBody>
        </p: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DC2039C-9EC3-2794-FC53-7AAB0F72C819}"/>
              </a:ext>
            </a:extLst>
          </p:cNvPr>
          <p:cNvCxnSpPr>
            <a:cxnSpLocks/>
          </p:cNvCxnSpPr>
          <p:nvPr/>
        </p:nvCxnSpPr>
        <p:spPr>
          <a:xfrm flipV="1">
            <a:off x="3912856" y="3717032"/>
            <a:ext cx="2013342" cy="678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939A1E2-12E0-154E-DF24-DD6594C1050C}"/>
              </a:ext>
            </a:extLst>
          </p:cNvPr>
          <p:cNvCxnSpPr>
            <a:cxnSpLocks/>
          </p:cNvCxnSpPr>
          <p:nvPr/>
        </p:nvCxnSpPr>
        <p:spPr>
          <a:xfrm flipH="1">
            <a:off x="3928492" y="3805712"/>
            <a:ext cx="1997706" cy="677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A816C6A-E51B-6E4B-A0F4-DEB86AE404BA}"/>
              </a:ext>
            </a:extLst>
          </p:cNvPr>
          <p:cNvCxnSpPr>
            <a:cxnSpLocks/>
          </p:cNvCxnSpPr>
          <p:nvPr/>
        </p:nvCxnSpPr>
        <p:spPr>
          <a:xfrm>
            <a:off x="3928492" y="4796795"/>
            <a:ext cx="19977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597E4BC-C9DB-ED44-D4EC-E31C976AE798}"/>
              </a:ext>
            </a:extLst>
          </p:cNvPr>
          <p:cNvCxnSpPr>
            <a:cxnSpLocks/>
          </p:cNvCxnSpPr>
          <p:nvPr/>
        </p:nvCxnSpPr>
        <p:spPr>
          <a:xfrm flipH="1">
            <a:off x="3912856" y="4873622"/>
            <a:ext cx="2027296" cy="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613447E-02C9-C828-E950-C1337BBB92DA}"/>
              </a:ext>
            </a:extLst>
          </p:cNvPr>
          <p:cNvCxnSpPr>
            <a:cxnSpLocks/>
          </p:cNvCxnSpPr>
          <p:nvPr/>
        </p:nvCxnSpPr>
        <p:spPr>
          <a:xfrm>
            <a:off x="3851920" y="5373216"/>
            <a:ext cx="2088232" cy="39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1FA575C-1EB4-2E6E-3ABC-E022518DEAF8}"/>
              </a:ext>
            </a:extLst>
          </p:cNvPr>
          <p:cNvCxnSpPr>
            <a:cxnSpLocks/>
          </p:cNvCxnSpPr>
          <p:nvPr/>
        </p:nvCxnSpPr>
        <p:spPr>
          <a:xfrm flipH="1" flipV="1">
            <a:off x="3851919" y="5463487"/>
            <a:ext cx="2074279" cy="413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FBAE9CB-7AEE-64F3-3998-33D14FF7D18E}"/>
              </a:ext>
            </a:extLst>
          </p:cNvPr>
          <p:cNvSpPr txBox="1"/>
          <p:nvPr/>
        </p:nvSpPr>
        <p:spPr>
          <a:xfrm>
            <a:off x="3920107" y="3688200"/>
            <a:ext cx="1768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의약품</a:t>
            </a:r>
            <a:r>
              <a:rPr lang="en-US" altLang="ko-KR" sz="1100" dirty="0"/>
              <a:t> </a:t>
            </a:r>
            <a:r>
              <a:rPr lang="ko-KR" altLang="en-US" sz="1100" dirty="0"/>
              <a:t>및</a:t>
            </a:r>
            <a:r>
              <a:rPr lang="en-US" altLang="ko-KR" sz="1100" dirty="0"/>
              <a:t> </a:t>
            </a:r>
            <a:r>
              <a:rPr lang="ko-KR" altLang="en-US" sz="1100" dirty="0"/>
              <a:t>환자 정보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8A7384-2B88-429F-2255-D22573184928}"/>
              </a:ext>
            </a:extLst>
          </p:cNvPr>
          <p:cNvSpPr txBox="1"/>
          <p:nvPr/>
        </p:nvSpPr>
        <p:spPr>
          <a:xfrm>
            <a:off x="4004758" y="4518094"/>
            <a:ext cx="19214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의약품 출납</a:t>
            </a:r>
            <a:r>
              <a:rPr lang="en-US" altLang="ko-KR" sz="1100" dirty="0"/>
              <a:t>”, “</a:t>
            </a:r>
            <a:r>
              <a:rPr lang="ko-KR" altLang="en-US" sz="1100" dirty="0"/>
              <a:t>출발 신호</a:t>
            </a:r>
            <a:r>
              <a:rPr lang="en-US" altLang="ko-KR" sz="1100" dirty="0"/>
              <a:t>"</a:t>
            </a:r>
            <a:endParaRPr lang="ko-KR" altLang="en-US" sz="1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678CFB-7AE3-937D-B5CE-AD1CD345D70E}"/>
              </a:ext>
            </a:extLst>
          </p:cNvPr>
          <p:cNvSpPr txBox="1"/>
          <p:nvPr/>
        </p:nvSpPr>
        <p:spPr>
          <a:xfrm>
            <a:off x="4335481" y="5208979"/>
            <a:ext cx="19214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의약품 도착</a:t>
            </a:r>
            <a:r>
              <a:rPr lang="en-US" altLang="ko-KR" sz="1100" dirty="0"/>
              <a:t>“, “</a:t>
            </a:r>
            <a:r>
              <a:rPr lang="ko-KR" altLang="en-US" sz="1100" dirty="0"/>
              <a:t>제자리로</a:t>
            </a:r>
            <a:r>
              <a:rPr lang="en-US" altLang="ko-KR" sz="1100" dirty="0"/>
              <a:t>＂</a:t>
            </a:r>
            <a:endParaRPr lang="ko-KR" altLang="en-US" sz="1100" dirty="0"/>
          </a:p>
        </p:txBody>
      </p:sp>
      <p:sp>
        <p:nvSpPr>
          <p:cNvPr id="52" name="내용 개체 틀 31">
            <a:extLst>
              <a:ext uri="{FF2B5EF4-FFF2-40B4-BE49-F238E27FC236}">
                <a16:creationId xmlns:a16="http://schemas.microsoft.com/office/drawing/2014/main" id="{0281CBB0-144E-DF0E-E8CB-697083B7E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2000" dirty="0">
                <a:solidFill>
                  <a:srgbClr val="131A5A"/>
                </a:solidFill>
              </a:rPr>
              <a:t>DS-TWR (Double Side - Two Way Ranging)</a:t>
            </a:r>
            <a:endParaRPr lang="en-US" altLang="ko-KR" sz="1600" dirty="0">
              <a:solidFill>
                <a:srgbClr val="131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093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9A18-1C20-8954-DFD1-4FBF00D0E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317211-B46A-33FA-3A77-32180FCC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82EEE340-8EB2-1046-3CB4-718E67AB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8C2287CE-95EF-D743-05D0-A8E4D1C17AE5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방법 및 동작 원리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AD1D341-8446-F8C1-9F3D-5B2F99DBA2E4}"/>
              </a:ext>
            </a:extLst>
          </p:cNvPr>
          <p:cNvGrpSpPr/>
          <p:nvPr/>
        </p:nvGrpSpPr>
        <p:grpSpPr>
          <a:xfrm>
            <a:off x="796973" y="1357299"/>
            <a:ext cx="2708034" cy="3080759"/>
            <a:chOff x="783846" y="3244990"/>
            <a:chExt cx="2273940" cy="2586918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4FC8FC0-1E44-1CBC-D7D0-4DAEB41C2BA2}"/>
                </a:ext>
              </a:extLst>
            </p:cNvPr>
            <p:cNvGrpSpPr/>
            <p:nvPr/>
          </p:nvGrpSpPr>
          <p:grpSpPr>
            <a:xfrm>
              <a:off x="783846" y="3244990"/>
              <a:ext cx="2273940" cy="2586918"/>
              <a:chOff x="569868" y="1115413"/>
              <a:chExt cx="2273940" cy="2586918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945EF44-7FCC-2D9A-B7EA-46659D333C73}"/>
                  </a:ext>
                </a:extLst>
              </p:cNvPr>
              <p:cNvSpPr/>
              <p:nvPr/>
            </p:nvSpPr>
            <p:spPr>
              <a:xfrm>
                <a:off x="569868" y="1451869"/>
                <a:ext cx="2273940" cy="22504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5C08EC3-7DA3-F1FD-0530-B681ADF2D24D}"/>
                  </a:ext>
                </a:extLst>
              </p:cNvPr>
              <p:cNvSpPr/>
              <p:nvPr/>
            </p:nvSpPr>
            <p:spPr>
              <a:xfrm>
                <a:off x="722841" y="1115413"/>
                <a:ext cx="1967995" cy="436877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dirty="0"/>
                  <a:t>차량 </a:t>
                </a:r>
                <a:r>
                  <a:rPr lang="en-US" altLang="ko-KR" b="1" dirty="0"/>
                  <a:t>(Tag)</a:t>
                </a:r>
                <a:endParaRPr lang="ko-KR" altLang="en-US" b="1" dirty="0"/>
              </a:p>
            </p:txBody>
          </p:sp>
        </p:grp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992CCBB8-2DA4-6384-2D18-F4D5E7ACB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138" y="3890866"/>
              <a:ext cx="661282" cy="852632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52EA99F4-D7A3-E6BA-FEE3-495AC3BF2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0155" y="4799696"/>
              <a:ext cx="661282" cy="85263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ADC6A41-943B-F349-3525-AA35455AA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2991" y="4817700"/>
              <a:ext cx="841576" cy="852632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DE822D84-E5CB-7983-D191-7D29B6F08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33897" y="3861448"/>
              <a:ext cx="661282" cy="827877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D568FFF-81C5-23D1-3166-C5E40F37DF79}"/>
              </a:ext>
            </a:extLst>
          </p:cNvPr>
          <p:cNvGrpSpPr/>
          <p:nvPr/>
        </p:nvGrpSpPr>
        <p:grpSpPr>
          <a:xfrm>
            <a:off x="4311501" y="3929979"/>
            <a:ext cx="3528393" cy="1998939"/>
            <a:chOff x="4283967" y="3806325"/>
            <a:chExt cx="3528393" cy="199893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105EA3A-BB84-32B1-46B3-63E492613B4D}"/>
                </a:ext>
              </a:extLst>
            </p:cNvPr>
            <p:cNvSpPr/>
            <p:nvPr/>
          </p:nvSpPr>
          <p:spPr>
            <a:xfrm>
              <a:off x="4283967" y="4141872"/>
              <a:ext cx="3528393" cy="16633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769AC0F-B26F-4B9B-8AA4-FBE9C2EF32FA}"/>
                </a:ext>
              </a:extLst>
            </p:cNvPr>
            <p:cNvSpPr/>
            <p:nvPr/>
          </p:nvSpPr>
          <p:spPr>
            <a:xfrm>
              <a:off x="5258286" y="3806325"/>
              <a:ext cx="1634825" cy="5049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Anchor</a:t>
              </a:r>
              <a:endParaRPr lang="ko-KR" altLang="en-US" b="1" dirty="0"/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74B2BBB7-FB33-055F-F855-4800AE17C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00367" y="4429428"/>
              <a:ext cx="921484" cy="1218627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49C0DF3C-4BB0-7FEB-6C5D-71E509984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400000">
              <a:off x="4683034" y="4600885"/>
              <a:ext cx="1252866" cy="909953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E556E20-C55A-60CE-E2E9-26279098E8AC}"/>
              </a:ext>
            </a:extLst>
          </p:cNvPr>
          <p:cNvGrpSpPr/>
          <p:nvPr/>
        </p:nvGrpSpPr>
        <p:grpSpPr>
          <a:xfrm>
            <a:off x="3896038" y="1395638"/>
            <a:ext cx="4359322" cy="1998939"/>
            <a:chOff x="3896038" y="1395638"/>
            <a:chExt cx="4359322" cy="1998939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3656A4FF-416D-34B8-5DD3-F8197E447AB8}"/>
                </a:ext>
              </a:extLst>
            </p:cNvPr>
            <p:cNvGrpSpPr/>
            <p:nvPr/>
          </p:nvGrpSpPr>
          <p:grpSpPr>
            <a:xfrm>
              <a:off x="3896038" y="1395638"/>
              <a:ext cx="4359322" cy="1998939"/>
              <a:chOff x="3896038" y="1395638"/>
              <a:chExt cx="4359322" cy="1998939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E75643FD-4840-81C4-D13C-C73742F885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17248" y="1961935"/>
                <a:ext cx="1443861" cy="1309027"/>
              </a:xfrm>
              <a:prstGeom prst="rect">
                <a:avLst/>
              </a:prstGeom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3824D4EF-0A2E-D8A3-7844-8B8DB78A9DAE}"/>
                  </a:ext>
                </a:extLst>
              </p:cNvPr>
              <p:cNvSpPr/>
              <p:nvPr/>
            </p:nvSpPr>
            <p:spPr>
              <a:xfrm>
                <a:off x="3896038" y="1731185"/>
                <a:ext cx="4359322" cy="16633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35F6D566-F6E4-90E1-A245-BDDED42E9AA9}"/>
                  </a:ext>
                </a:extLst>
              </p:cNvPr>
              <p:cNvSpPr/>
              <p:nvPr/>
            </p:nvSpPr>
            <p:spPr>
              <a:xfrm>
                <a:off x="5258286" y="1395638"/>
                <a:ext cx="1634825" cy="504907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/>
                  <a:t>Dispenser</a:t>
                </a:r>
                <a:endParaRPr lang="ko-KR" altLang="en-US" b="1" dirty="0"/>
              </a:p>
            </p:txBody>
          </p:sp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396DE126-22D2-7AE8-E012-3905D29A36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2889" y="2039633"/>
                <a:ext cx="921484" cy="1153631"/>
              </a:xfrm>
              <a:prstGeom prst="rect">
                <a:avLst/>
              </a:prstGeom>
            </p:spPr>
          </p:pic>
        </p:grp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755135DC-224D-110C-B93F-BE8A5B0E3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400000">
              <a:off x="3955238" y="2189553"/>
              <a:ext cx="1252866" cy="909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4189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14A01-E65D-2A1A-E949-895E41DE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7B235E4-E960-FD4A-4AA0-46427EB0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5CA6C3EB-5C93-B377-9517-CCF73FCA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9F1EA21E-DDA6-DBD7-A512-EF9647304671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방법 및 동작 원리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5672CDE-A682-230B-EEAA-1AB2DA17741F}"/>
              </a:ext>
            </a:extLst>
          </p:cNvPr>
          <p:cNvGrpSpPr/>
          <p:nvPr/>
        </p:nvGrpSpPr>
        <p:grpSpPr>
          <a:xfrm>
            <a:off x="1284461" y="4005064"/>
            <a:ext cx="1847379" cy="1800198"/>
            <a:chOff x="783846" y="3244990"/>
            <a:chExt cx="2273940" cy="2586918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620DE0C-03F8-8134-D1E1-3EDDCDDEF5C4}"/>
                </a:ext>
              </a:extLst>
            </p:cNvPr>
            <p:cNvGrpSpPr/>
            <p:nvPr/>
          </p:nvGrpSpPr>
          <p:grpSpPr>
            <a:xfrm>
              <a:off x="783846" y="3244990"/>
              <a:ext cx="2273940" cy="2586918"/>
              <a:chOff x="569868" y="1115413"/>
              <a:chExt cx="2273940" cy="2586918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0CD570F-AA5F-09A0-BABD-2601B11BFDD8}"/>
                  </a:ext>
                </a:extLst>
              </p:cNvPr>
              <p:cNvSpPr/>
              <p:nvPr/>
            </p:nvSpPr>
            <p:spPr>
              <a:xfrm>
                <a:off x="569868" y="1451869"/>
                <a:ext cx="2273940" cy="22504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9759C362-0622-705C-9CAB-C4982CB3E3D3}"/>
                  </a:ext>
                </a:extLst>
              </p:cNvPr>
              <p:cNvSpPr/>
              <p:nvPr/>
            </p:nvSpPr>
            <p:spPr>
              <a:xfrm>
                <a:off x="722841" y="1115413"/>
                <a:ext cx="1967995" cy="436877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/>
                  <a:t>차량 </a:t>
                </a:r>
                <a:r>
                  <a:rPr lang="en-US" altLang="ko-KR" sz="1200" dirty="0"/>
                  <a:t>(Tag)</a:t>
                </a:r>
                <a:endParaRPr lang="ko-KR" altLang="en-US" sz="1200" dirty="0"/>
              </a:p>
            </p:txBody>
          </p:sp>
        </p:grp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9A2BA96-FC83-5172-31C6-D76D1D53C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138" y="3890866"/>
              <a:ext cx="661282" cy="85263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BDA0418-8669-4904-D083-34F8F0AE6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0155" y="4799696"/>
              <a:ext cx="661282" cy="85263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4C94B2D-EA13-D7EA-B92D-3520ED7F4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2991" y="4817700"/>
              <a:ext cx="841576" cy="852632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B458BEA-30B2-34B7-5FA7-CE28F9726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33897" y="3861448"/>
              <a:ext cx="661282" cy="827877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ED29535-B350-765F-403C-FD154F0F3432}"/>
              </a:ext>
            </a:extLst>
          </p:cNvPr>
          <p:cNvSpPr txBox="1"/>
          <p:nvPr/>
        </p:nvSpPr>
        <p:spPr>
          <a:xfrm>
            <a:off x="514688" y="5916882"/>
            <a:ext cx="82102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1) </a:t>
            </a:r>
            <a:r>
              <a:rPr lang="ko-KR" altLang="en-US" sz="900" dirty="0" err="1"/>
              <a:t>장병준</a:t>
            </a:r>
            <a:r>
              <a:rPr lang="en-US" altLang="ko-KR" sz="900" dirty="0"/>
              <a:t>. </a:t>
            </a:r>
            <a:r>
              <a:rPr lang="ko-KR" altLang="en-US" sz="900" dirty="0"/>
              <a:t>UWB </a:t>
            </a:r>
            <a:r>
              <a:rPr lang="ko-KR" altLang="en-US" sz="900" dirty="0" err="1"/>
              <a:t>측위기술의</a:t>
            </a:r>
            <a:r>
              <a:rPr lang="ko-KR" altLang="en-US" sz="900" dirty="0"/>
              <a:t> 원리 및 동향</a:t>
            </a:r>
            <a:r>
              <a:rPr lang="en-US" altLang="ko-KR" sz="900" dirty="0"/>
              <a:t>. THE JOURNAL OF KOREAN INSTITUTE OF ELECTROMAGNETIC ENGINEERING AND SCIENCE. 2022 January. 8pg.</a:t>
            </a:r>
            <a:endParaRPr lang="ko-KR" altLang="en-US" sz="900" dirty="0"/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70510FE1-7A43-21D4-D396-8125D9C1F7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1880" y="4081883"/>
            <a:ext cx="2297838" cy="1723379"/>
          </a:xfrm>
          <a:prstGeom prst="rect">
            <a:avLst/>
          </a:pr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1420E519-0F52-A52C-26B7-574CEFC1A7E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350" t="1701" b="3800"/>
          <a:stretch>
            <a:fillRect/>
          </a:stretch>
        </p:blipFill>
        <p:spPr>
          <a:xfrm>
            <a:off x="6079058" y="4081884"/>
            <a:ext cx="2058287" cy="1723380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D42024F1-E37D-9DB5-2536-687122B27A8C}"/>
              </a:ext>
            </a:extLst>
          </p:cNvPr>
          <p:cNvSpPr txBox="1"/>
          <p:nvPr/>
        </p:nvSpPr>
        <p:spPr>
          <a:xfrm>
            <a:off x="908401" y="1617985"/>
            <a:ext cx="7336007" cy="2316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Tag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로서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직접적인 동작 수행 담당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움직이면서 </a:t>
            </a:r>
            <a:r>
              <a:rPr lang="en-US" altLang="ko-KR" sz="1400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Poll_msg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전달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DWS1000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UWB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모듈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송수신 기능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낮은 펄스 전력에 의해 통신반경은 작지만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수십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cm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이하의 정밀한 거리 측정 가능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Gyro-Sensor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차량의 뒤틀림 보완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Mecanum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Wheel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복잡한 병원에서 최소한의 움직임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4CH Motor Driver(tb6612)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4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DC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모터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~13.5V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제어 가능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121" name="내용 개체 틀 31">
            <a:extLst>
              <a:ext uri="{FF2B5EF4-FFF2-40B4-BE49-F238E27FC236}">
                <a16:creationId xmlns:a16="http://schemas.microsoft.com/office/drawing/2014/main" id="{F1430A9A-5C3A-3185-0CFE-086584EDE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4" y="1232400"/>
            <a:ext cx="8666379" cy="4671251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ko-KR" altLang="en-US" sz="2000" dirty="0">
                <a:solidFill>
                  <a:srgbClr val="131A5A"/>
                </a:solidFill>
              </a:rPr>
              <a:t>차량 </a:t>
            </a:r>
            <a:r>
              <a:rPr lang="en-US" altLang="ko-KR" sz="2000" dirty="0">
                <a:solidFill>
                  <a:srgbClr val="131A5A"/>
                </a:solidFill>
              </a:rPr>
              <a:t>(Tag)</a:t>
            </a:r>
            <a:endParaRPr lang="en-US" altLang="ko-KR" sz="1600" dirty="0">
              <a:solidFill>
                <a:srgbClr val="131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909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4A140-A7BA-EB4D-0A17-71C677A7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EF2F40-C859-6544-68A8-9BEC1F8E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595D1D01-644B-1DA4-76A7-8E5A787D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88B3469A-359D-D689-2863-C1CB07D3C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ko-KR" altLang="en-US" sz="2000" dirty="0">
                <a:solidFill>
                  <a:srgbClr val="131A5A"/>
                </a:solidFill>
              </a:rPr>
              <a:t>차량</a:t>
            </a:r>
            <a:endParaRPr lang="en-US" altLang="ko-KR" sz="2000" dirty="0">
              <a:solidFill>
                <a:srgbClr val="131A5A"/>
              </a:solidFill>
            </a:endParaRPr>
          </a:p>
          <a:p>
            <a:pPr lvl="2">
              <a:lnSpc>
                <a:spcPct val="120000"/>
              </a:lnSpc>
            </a:pPr>
            <a:r>
              <a:rPr lang="ko-KR" altLang="en-US" sz="1600" dirty="0">
                <a:solidFill>
                  <a:srgbClr val="131A5A"/>
                </a:solidFill>
              </a:rPr>
              <a:t>위치 </a:t>
            </a:r>
            <a:r>
              <a:rPr lang="ko-KR" altLang="en-US" sz="1600" dirty="0" err="1">
                <a:solidFill>
                  <a:srgbClr val="131A5A"/>
                </a:solidFill>
              </a:rPr>
              <a:t>측위</a:t>
            </a:r>
            <a:r>
              <a:rPr lang="ko-KR" altLang="en-US" sz="1600" dirty="0">
                <a:solidFill>
                  <a:srgbClr val="131A5A"/>
                </a:solidFill>
              </a:rPr>
              <a:t> </a:t>
            </a:r>
            <a:r>
              <a:rPr lang="en-US" altLang="ko-KR" sz="1600" dirty="0">
                <a:solidFill>
                  <a:srgbClr val="131A5A"/>
                </a:solidFill>
              </a:rPr>
              <a:t>Logic</a:t>
            </a:r>
            <a:br>
              <a:rPr lang="en-US" altLang="ko-KR" sz="1600" dirty="0">
                <a:solidFill>
                  <a:srgbClr val="131A5A"/>
                </a:solidFill>
              </a:rPr>
            </a:br>
            <a:endParaRPr lang="en-US" altLang="ko-KR" sz="16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5C9C7FE4-DE3F-5FC6-F9FA-1D020DCF85D3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방법 및 동작 원리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56B77A9-5180-75CD-1A04-87305147F59A}"/>
              </a:ext>
            </a:extLst>
          </p:cNvPr>
          <p:cNvGrpSpPr/>
          <p:nvPr/>
        </p:nvGrpSpPr>
        <p:grpSpPr>
          <a:xfrm>
            <a:off x="779099" y="2420888"/>
            <a:ext cx="7465309" cy="2965004"/>
            <a:chOff x="898347" y="24098514"/>
            <a:chExt cx="5544993" cy="264267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EEC29C1-FC0A-32BF-9B8A-13DD4966B51D}"/>
                </a:ext>
              </a:extLst>
            </p:cNvPr>
            <p:cNvSpPr/>
            <p:nvPr/>
          </p:nvSpPr>
          <p:spPr>
            <a:xfrm>
              <a:off x="898347" y="24098514"/>
              <a:ext cx="5544993" cy="26426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2C39CFE-9315-EFFE-BE74-E72C2F8727B7}"/>
                </a:ext>
              </a:extLst>
            </p:cNvPr>
            <p:cNvSpPr/>
            <p:nvPr/>
          </p:nvSpPr>
          <p:spPr>
            <a:xfrm>
              <a:off x="1011870" y="24261446"/>
              <a:ext cx="2260776" cy="5041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각각의 </a:t>
              </a:r>
              <a:r>
                <a:rPr lang="en-US" altLang="ko-KR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Anchor</a:t>
              </a:r>
              <a:r>
                <a:rPr lang="ko-KR" altLang="en-US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 부터 거리 측정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E58DBF1-981C-6199-1751-B9FC8CB268FC}"/>
                </a:ext>
              </a:extLst>
            </p:cNvPr>
            <p:cNvSpPr/>
            <p:nvPr/>
          </p:nvSpPr>
          <p:spPr>
            <a:xfrm>
              <a:off x="1011870" y="25190170"/>
              <a:ext cx="2260776" cy="50415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rgbClr val="131A5A"/>
                  </a:solidFill>
                </a:rPr>
                <a:t>Trilateration</a:t>
              </a:r>
              <a:r>
                <a:rPr lang="ko-KR" altLang="en-US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이용해서 </a:t>
              </a:r>
              <a:r>
                <a:rPr lang="en-US" altLang="ko-KR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Tag </a:t>
              </a:r>
              <a:r>
                <a:rPr lang="ko-KR" altLang="en-US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좌표측정</a:t>
              </a:r>
              <a:endParaRPr lang="en-US" altLang="ko-KR" sz="16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E20005B-153C-4E94-0AB4-BAE867024999}"/>
                </a:ext>
              </a:extLst>
            </p:cNvPr>
            <p:cNvSpPr/>
            <p:nvPr/>
          </p:nvSpPr>
          <p:spPr>
            <a:xfrm>
              <a:off x="1011870" y="26123406"/>
              <a:ext cx="2260776" cy="5041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목표 좌표와 비교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60C1A29-0DE2-7BBB-553C-DE16E9A29E79}"/>
                </a:ext>
              </a:extLst>
            </p:cNvPr>
            <p:cNvSpPr/>
            <p:nvPr/>
          </p:nvSpPr>
          <p:spPr>
            <a:xfrm>
              <a:off x="4234400" y="24257441"/>
              <a:ext cx="1982433" cy="5081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Y</a:t>
              </a:r>
              <a:r>
                <a:rPr lang="ko-KR" altLang="en-US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축 비교하여 이동</a:t>
              </a:r>
              <a:endParaRPr lang="en-US" altLang="ko-KR" sz="16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B48F2D9-224E-FD91-1E87-49B5989BA258}"/>
                </a:ext>
              </a:extLst>
            </p:cNvPr>
            <p:cNvSpPr/>
            <p:nvPr/>
          </p:nvSpPr>
          <p:spPr>
            <a:xfrm>
              <a:off x="4257819" y="25190170"/>
              <a:ext cx="1980368" cy="50056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X</a:t>
              </a:r>
              <a:r>
                <a:rPr lang="ko-KR" altLang="en-US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축 비교하여 이동</a:t>
              </a:r>
              <a:endParaRPr lang="en-US" altLang="ko-KR" sz="16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7EC3C54-545C-89A5-6267-EF8A2298ECE2}"/>
                </a:ext>
              </a:extLst>
            </p:cNvPr>
            <p:cNvSpPr/>
            <p:nvPr/>
          </p:nvSpPr>
          <p:spPr>
            <a:xfrm>
              <a:off x="4259549" y="26115302"/>
              <a:ext cx="1982433" cy="50774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목표 좌표 도달</a:t>
              </a:r>
              <a:endParaRPr lang="en-US" altLang="ko-KR" sz="16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3" name="화살표: 아래쪽 22">
              <a:extLst>
                <a:ext uri="{FF2B5EF4-FFF2-40B4-BE49-F238E27FC236}">
                  <a16:creationId xmlns:a16="http://schemas.microsoft.com/office/drawing/2014/main" id="{E58FD3C4-B98C-5C1E-BA7B-B385DA8E6441}"/>
                </a:ext>
              </a:extLst>
            </p:cNvPr>
            <p:cNvSpPr/>
            <p:nvPr/>
          </p:nvSpPr>
          <p:spPr>
            <a:xfrm>
              <a:off x="1928644" y="24833534"/>
              <a:ext cx="148883" cy="28034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화살표: 아래쪽 23">
              <a:extLst>
                <a:ext uri="{FF2B5EF4-FFF2-40B4-BE49-F238E27FC236}">
                  <a16:creationId xmlns:a16="http://schemas.microsoft.com/office/drawing/2014/main" id="{4C2E71E0-8C91-1327-B785-FCC32212AA44}"/>
                </a:ext>
              </a:extLst>
            </p:cNvPr>
            <p:cNvSpPr/>
            <p:nvPr/>
          </p:nvSpPr>
          <p:spPr>
            <a:xfrm>
              <a:off x="1928644" y="25762584"/>
              <a:ext cx="148883" cy="28034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화살표: 아래쪽 24">
              <a:extLst>
                <a:ext uri="{FF2B5EF4-FFF2-40B4-BE49-F238E27FC236}">
                  <a16:creationId xmlns:a16="http://schemas.microsoft.com/office/drawing/2014/main" id="{669EF9AD-5E56-9B2C-C80A-F354EDB49B23}"/>
                </a:ext>
              </a:extLst>
            </p:cNvPr>
            <p:cNvSpPr/>
            <p:nvPr/>
          </p:nvSpPr>
          <p:spPr>
            <a:xfrm>
              <a:off x="5173561" y="24833534"/>
              <a:ext cx="148883" cy="28034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58A5C784-3B9D-18E5-1F74-7DC05E5C7F62}"/>
                </a:ext>
              </a:extLst>
            </p:cNvPr>
            <p:cNvSpPr/>
            <p:nvPr/>
          </p:nvSpPr>
          <p:spPr>
            <a:xfrm>
              <a:off x="5176696" y="25761578"/>
              <a:ext cx="148883" cy="280343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7" name="연결선: 꺾임 26">
              <a:extLst>
                <a:ext uri="{FF2B5EF4-FFF2-40B4-BE49-F238E27FC236}">
                  <a16:creationId xmlns:a16="http://schemas.microsoft.com/office/drawing/2014/main" id="{E8C6BFA2-CE8D-B1D2-0FEC-2080622021E6}"/>
                </a:ext>
              </a:extLst>
            </p:cNvPr>
            <p:cNvCxnSpPr>
              <a:cxnSpLocks/>
              <a:stCxn id="19" idx="3"/>
              <a:endCxn id="20" idx="1"/>
            </p:cNvCxnSpPr>
            <p:nvPr/>
          </p:nvCxnSpPr>
          <p:spPr>
            <a:xfrm flipV="1">
              <a:off x="3272647" y="24511521"/>
              <a:ext cx="961753" cy="1863961"/>
            </a:xfrm>
            <a:prstGeom prst="bentConnector3">
              <a:avLst>
                <a:gd name="adj1" fmla="val 50000"/>
              </a:avLst>
            </a:prstGeom>
            <a:ln w="635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821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D326-06D0-1EF5-5AAF-95701F5F1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64B528-E9F0-AE36-2946-C376FA1E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DDDBCE7C-49A4-6517-37BF-A836EAC9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03D2952A-B684-3707-FBFB-1B43E3065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2000" dirty="0">
                <a:solidFill>
                  <a:srgbClr val="131A5A"/>
                </a:solidFill>
              </a:rPr>
              <a:t>Dispenser</a:t>
            </a:r>
            <a:endParaRPr lang="en-US" altLang="ko-KR" sz="1400" dirty="0">
              <a:solidFill>
                <a:srgbClr val="131A5A"/>
              </a:solidFill>
            </a:endParaRPr>
          </a:p>
          <a:p>
            <a:pPr lvl="2">
              <a:lnSpc>
                <a:spcPct val="120000"/>
              </a:lnSpc>
            </a:pPr>
            <a:endParaRPr lang="en-US" altLang="ko-KR" sz="1400" dirty="0">
              <a:solidFill>
                <a:srgbClr val="131A5A"/>
              </a:solidFill>
            </a:endParaRPr>
          </a:p>
          <a:p>
            <a:pPr marL="457200" lvl="1" indent="0">
              <a:lnSpc>
                <a:spcPct val="120000"/>
              </a:lnSpc>
              <a:buNone/>
            </a:pPr>
            <a:br>
              <a:rPr lang="en-US" altLang="ko-KR" sz="1600" dirty="0">
                <a:solidFill>
                  <a:srgbClr val="131A5A"/>
                </a:solidFill>
              </a:rPr>
            </a:br>
            <a:endParaRPr lang="en-US" altLang="ko-KR" sz="16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B80AB832-2076-04A5-1F8D-72CF9554582F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방법 및 동작 원리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A97081F-489C-2AFF-0963-81E1C50DC57C}"/>
              </a:ext>
            </a:extLst>
          </p:cNvPr>
          <p:cNvGrpSpPr/>
          <p:nvPr/>
        </p:nvGrpSpPr>
        <p:grpSpPr>
          <a:xfrm>
            <a:off x="701764" y="3212976"/>
            <a:ext cx="2952328" cy="1390358"/>
            <a:chOff x="755576" y="4460689"/>
            <a:chExt cx="2952328" cy="1390358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07E23247-984E-4EF1-2C49-AEDE58AF7538}"/>
                </a:ext>
              </a:extLst>
            </p:cNvPr>
            <p:cNvGrpSpPr/>
            <p:nvPr/>
          </p:nvGrpSpPr>
          <p:grpSpPr>
            <a:xfrm>
              <a:off x="755576" y="4460689"/>
              <a:ext cx="2952328" cy="1390358"/>
              <a:chOff x="1115616" y="3573016"/>
              <a:chExt cx="4359322" cy="1998939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F6F0D02C-279C-D5CE-8B1A-4BBA578F4BAD}"/>
                  </a:ext>
                </a:extLst>
              </p:cNvPr>
              <p:cNvGrpSpPr/>
              <p:nvPr/>
            </p:nvGrpSpPr>
            <p:grpSpPr>
              <a:xfrm>
                <a:off x="1115616" y="3573016"/>
                <a:ext cx="4359322" cy="1998939"/>
                <a:chOff x="3896038" y="1395638"/>
                <a:chExt cx="4359322" cy="1998939"/>
              </a:xfrm>
            </p:grpSpPr>
            <p:pic>
              <p:nvPicPr>
                <p:cNvPr id="16" name="그림 15">
                  <a:extLst>
                    <a:ext uri="{FF2B5EF4-FFF2-40B4-BE49-F238E27FC236}">
                      <a16:creationId xmlns:a16="http://schemas.microsoft.com/office/drawing/2014/main" id="{3A7F1C5B-0D6A-B609-AD9F-7C6599AE2D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79453" y="1961935"/>
                  <a:ext cx="1443861" cy="1309027"/>
                </a:xfrm>
                <a:prstGeom prst="rect">
                  <a:avLst/>
                </a:prstGeom>
              </p:spPr>
            </p:pic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BD94C020-E134-1445-4A47-9E833EE7F895}"/>
                    </a:ext>
                  </a:extLst>
                </p:cNvPr>
                <p:cNvSpPr/>
                <p:nvPr/>
              </p:nvSpPr>
              <p:spPr>
                <a:xfrm>
                  <a:off x="3896038" y="1731185"/>
                  <a:ext cx="4359322" cy="1663392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034BF20A-33D8-F187-EB01-75E57633E266}"/>
                    </a:ext>
                  </a:extLst>
                </p:cNvPr>
                <p:cNvSpPr/>
                <p:nvPr/>
              </p:nvSpPr>
              <p:spPr>
                <a:xfrm>
                  <a:off x="5258286" y="1395638"/>
                  <a:ext cx="1634825" cy="504907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Dispenser</a:t>
                  </a:r>
                  <a:endParaRPr lang="ko-KR" altLang="en-US" dirty="0"/>
                </a:p>
              </p:txBody>
            </p:sp>
          </p:grpSp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557978C2-57E5-D24E-BB93-5AEC5DD81C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234429" y="4318618"/>
                <a:ext cx="1252866" cy="909953"/>
              </a:xfrm>
              <a:prstGeom prst="rect">
                <a:avLst/>
              </a:prstGeom>
            </p:spPr>
          </p:pic>
        </p:grp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B861E7EF-FE03-2D64-D8EE-C3E856961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5696" y="4891817"/>
              <a:ext cx="624070" cy="802406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85DE62B-54B4-8C58-FF0D-7DCA28AABEA9}"/>
              </a:ext>
            </a:extLst>
          </p:cNvPr>
          <p:cNvGrpSpPr/>
          <p:nvPr/>
        </p:nvGrpSpPr>
        <p:grpSpPr>
          <a:xfrm>
            <a:off x="3995936" y="3140968"/>
            <a:ext cx="4653091" cy="2118935"/>
            <a:chOff x="3995936" y="3506665"/>
            <a:chExt cx="4653091" cy="2118935"/>
          </a:xfrm>
        </p:grpSpPr>
        <p:sp>
          <p:nvSpPr>
            <p:cNvPr id="42" name="화살표: 아래쪽 41">
              <a:extLst>
                <a:ext uri="{FF2B5EF4-FFF2-40B4-BE49-F238E27FC236}">
                  <a16:creationId xmlns:a16="http://schemas.microsoft.com/office/drawing/2014/main" id="{059A074B-7208-C5EF-67F3-02E5C081412C}"/>
                </a:ext>
              </a:extLst>
            </p:cNvPr>
            <p:cNvSpPr/>
            <p:nvPr/>
          </p:nvSpPr>
          <p:spPr>
            <a:xfrm rot="16627392">
              <a:off x="6410967" y="3714753"/>
              <a:ext cx="45719" cy="78068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화살표: 아래쪽 47">
              <a:extLst>
                <a:ext uri="{FF2B5EF4-FFF2-40B4-BE49-F238E27FC236}">
                  <a16:creationId xmlns:a16="http://schemas.microsoft.com/office/drawing/2014/main" id="{79191398-1D16-0140-4448-00901B09CC6B}"/>
                </a:ext>
              </a:extLst>
            </p:cNvPr>
            <p:cNvSpPr/>
            <p:nvPr/>
          </p:nvSpPr>
          <p:spPr>
            <a:xfrm rot="4910219" flipH="1">
              <a:off x="6410968" y="4751367"/>
              <a:ext cx="45719" cy="78044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3F9A60B-557F-3B9B-9431-1F938D4FAC6E}"/>
                </a:ext>
              </a:extLst>
            </p:cNvPr>
            <p:cNvGrpSpPr/>
            <p:nvPr/>
          </p:nvGrpSpPr>
          <p:grpSpPr>
            <a:xfrm>
              <a:off x="3995936" y="3506665"/>
              <a:ext cx="1466449" cy="2118935"/>
              <a:chOff x="4427984" y="3470306"/>
              <a:chExt cx="1466449" cy="2118935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1240B1B-F3D1-B65C-8F41-CBC277248178}"/>
                  </a:ext>
                </a:extLst>
              </p:cNvPr>
              <p:cNvSpPr/>
              <p:nvPr/>
            </p:nvSpPr>
            <p:spPr>
              <a:xfrm>
                <a:off x="4616312" y="3861048"/>
                <a:ext cx="1105201" cy="3459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차량 도착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7CA270E3-E2AF-299B-F4DD-6C1E794C64D8}"/>
                  </a:ext>
                </a:extLst>
              </p:cNvPr>
              <p:cNvSpPr/>
              <p:nvPr/>
            </p:nvSpPr>
            <p:spPr>
              <a:xfrm>
                <a:off x="4616312" y="5122735"/>
                <a:ext cx="1105201" cy="3459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차량 출발</a:t>
                </a: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BA15539A-C2A3-E250-C26C-6891FFAE8460}"/>
                  </a:ext>
                </a:extLst>
              </p:cNvPr>
              <p:cNvGrpSpPr/>
              <p:nvPr/>
            </p:nvGrpSpPr>
            <p:grpSpPr>
              <a:xfrm>
                <a:off x="4427984" y="3470306"/>
                <a:ext cx="1466449" cy="2118935"/>
                <a:chOff x="4427984" y="3470306"/>
                <a:chExt cx="1466449" cy="2118935"/>
              </a:xfrm>
            </p:grpSpPr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4C29346C-02B8-F705-B519-86D43EF501FA}"/>
                    </a:ext>
                  </a:extLst>
                </p:cNvPr>
                <p:cNvSpPr/>
                <p:nvPr/>
              </p:nvSpPr>
              <p:spPr>
                <a:xfrm>
                  <a:off x="4427984" y="3645025"/>
                  <a:ext cx="1466449" cy="194421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0F9B4D48-9D5E-9488-DC83-4B97F4283589}"/>
                    </a:ext>
                  </a:extLst>
                </p:cNvPr>
                <p:cNvSpPr/>
                <p:nvPr/>
              </p:nvSpPr>
              <p:spPr>
                <a:xfrm>
                  <a:off x="4751316" y="3470306"/>
                  <a:ext cx="819784" cy="24152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/>
                    <a:t>Tag</a:t>
                  </a:r>
                  <a:endParaRPr lang="ko-KR" altLang="en-US" sz="1600" dirty="0"/>
                </a:p>
              </p:txBody>
            </p:sp>
          </p:grp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6BD723EF-1B15-060C-178E-2194418138A3}"/>
                </a:ext>
              </a:extLst>
            </p:cNvPr>
            <p:cNvGrpSpPr/>
            <p:nvPr/>
          </p:nvGrpSpPr>
          <p:grpSpPr>
            <a:xfrm>
              <a:off x="7182578" y="3759517"/>
              <a:ext cx="1466449" cy="1572538"/>
              <a:chOff x="6912259" y="3688869"/>
              <a:chExt cx="1466449" cy="1572538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FD2402E2-5994-5FC7-D2B8-C4BC5B6F80D6}"/>
                  </a:ext>
                </a:extLst>
              </p:cNvPr>
              <p:cNvSpPr/>
              <p:nvPr/>
            </p:nvSpPr>
            <p:spPr>
              <a:xfrm>
                <a:off x="7069825" y="4036765"/>
                <a:ext cx="1102575" cy="3459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모터 동작 시작</a:t>
                </a:r>
              </a:p>
            </p:txBody>
          </p:sp>
          <p:sp>
            <p:nvSpPr>
              <p:cNvPr id="44" name="화살표: 아래쪽 43">
                <a:extLst>
                  <a:ext uri="{FF2B5EF4-FFF2-40B4-BE49-F238E27FC236}">
                    <a16:creationId xmlns:a16="http://schemas.microsoft.com/office/drawing/2014/main" id="{254C096D-75E6-AF41-318C-F1268D826991}"/>
                  </a:ext>
                </a:extLst>
              </p:cNvPr>
              <p:cNvSpPr/>
              <p:nvPr/>
            </p:nvSpPr>
            <p:spPr>
              <a:xfrm>
                <a:off x="7622625" y="4478081"/>
                <a:ext cx="45719" cy="192357"/>
              </a:xfrm>
              <a:prstGeom prst="down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68D86F27-E52C-2A8B-EEE1-D1A969A9FC8B}"/>
                  </a:ext>
                </a:extLst>
              </p:cNvPr>
              <p:cNvSpPr/>
              <p:nvPr/>
            </p:nvSpPr>
            <p:spPr>
              <a:xfrm>
                <a:off x="7069825" y="4776812"/>
                <a:ext cx="1102575" cy="3459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모터 동작 완료</a:t>
                </a: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46AB5C13-4833-9AB1-C166-600756F50DDF}"/>
                  </a:ext>
                </a:extLst>
              </p:cNvPr>
              <p:cNvSpPr/>
              <p:nvPr/>
            </p:nvSpPr>
            <p:spPr>
              <a:xfrm>
                <a:off x="6912259" y="3882468"/>
                <a:ext cx="1466449" cy="137893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C1D9B91B-9655-0F2A-425A-8995EA78FF5E}"/>
                  </a:ext>
                </a:extLst>
              </p:cNvPr>
              <p:cNvSpPr/>
              <p:nvPr/>
            </p:nvSpPr>
            <p:spPr>
              <a:xfrm>
                <a:off x="7235591" y="3688869"/>
                <a:ext cx="819784" cy="24152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/>
                  <a:t>Anchor</a:t>
                </a:r>
                <a:endParaRPr lang="ko-KR" altLang="en-US" sz="1400" dirty="0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4EBDD8A-0007-A84D-DB5A-949350A70655}"/>
                </a:ext>
              </a:extLst>
            </p:cNvPr>
            <p:cNvSpPr txBox="1"/>
            <p:nvPr/>
          </p:nvSpPr>
          <p:spPr>
            <a:xfrm>
              <a:off x="5695889" y="3708518"/>
              <a:ext cx="15231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Poll msg + “</a:t>
              </a:r>
              <a:r>
                <a:rPr lang="ko-KR" altLang="en-US" sz="1000" dirty="0"/>
                <a:t>모터 동작</a:t>
              </a:r>
              <a:r>
                <a:rPr lang="en-US" altLang="ko-KR" sz="1000" dirty="0"/>
                <a:t>“</a:t>
              </a:r>
              <a:endParaRPr lang="ko-KR" altLang="en-US" sz="10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C3FACDB-AE76-5037-86FE-883EF5FD8BC4}"/>
                </a:ext>
              </a:extLst>
            </p:cNvPr>
            <p:cNvSpPr txBox="1"/>
            <p:nvPr/>
          </p:nvSpPr>
          <p:spPr>
            <a:xfrm>
              <a:off x="5503529" y="4732044"/>
              <a:ext cx="176522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Response msg + “</a:t>
              </a:r>
              <a:r>
                <a:rPr lang="ko-KR" altLang="en-US" sz="900" dirty="0"/>
                <a:t>차량 출발</a:t>
              </a:r>
              <a:r>
                <a:rPr lang="en-US" altLang="ko-KR" sz="900" dirty="0"/>
                <a:t>＂</a:t>
              </a:r>
              <a:endParaRPr lang="ko-KR" altLang="en-US" sz="900" dirty="0"/>
            </a:p>
          </p:txBody>
        </p:sp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2673EE19-5578-CE0A-2000-C36F04C2D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693221" y="4687169"/>
            <a:ext cx="1189480" cy="1585973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46DF273F-9CEE-52CB-9E7B-6B28AC72A4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1267" y="4888695"/>
            <a:ext cx="1607761" cy="1205821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4A3FF3F0-5BF3-0902-ED21-69A00875E10A}"/>
              </a:ext>
            </a:extLst>
          </p:cNvPr>
          <p:cNvSpPr txBox="1"/>
          <p:nvPr/>
        </p:nvSpPr>
        <p:spPr>
          <a:xfrm>
            <a:off x="908401" y="1617985"/>
            <a:ext cx="7336007" cy="1347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 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기능이 탑재된 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Dispenser</a:t>
            </a: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Anchor: 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차량 접근 시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en-US" altLang="ko-KR" sz="1400" b="1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Poll_msg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내부의 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“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모터 동작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” 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명령 감지</a:t>
            </a:r>
            <a:endParaRPr lang="en-US" altLang="ko-KR" sz="14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모터 동작 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-&gt; 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의약품 출납 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-&gt; 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모터 정지</a:t>
            </a:r>
            <a:endParaRPr lang="en-US" altLang="ko-KR" sz="14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모터가 정지하면 </a:t>
            </a:r>
            <a:r>
              <a:rPr lang="en-US" altLang="ko-KR" sz="1400" b="1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Response_msg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“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차량 출발</a:t>
            </a:r>
            <a:r>
              <a:rPr lang="en-US" altLang="ko-KR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” </a:t>
            </a:r>
            <a:r>
              <a:rPr lang="ko-KR" altLang="en-US" sz="14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동작 명령</a:t>
            </a:r>
            <a:endParaRPr lang="en-US" altLang="ko-KR" sz="14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006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ABD0-2FDB-6408-C3FE-6EC46A2D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47">
            <a:extLst>
              <a:ext uri="{FF2B5EF4-FFF2-40B4-BE49-F238E27FC236}">
                <a16:creationId xmlns:a16="http://schemas.microsoft.com/office/drawing/2014/main" id="{7EE12716-68DF-AE74-C4D9-D14F8817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C89A5CC5-52AF-FCCB-855B-37F610A74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2000" dirty="0">
                <a:solidFill>
                  <a:srgbClr val="131A5A"/>
                </a:solidFill>
              </a:rPr>
              <a:t>Dispenser</a:t>
            </a:r>
            <a:endParaRPr lang="en-US" altLang="ko-KR" sz="1400" dirty="0">
              <a:solidFill>
                <a:srgbClr val="131A5A"/>
              </a:solidFill>
            </a:endParaRPr>
          </a:p>
          <a:p>
            <a:pPr lvl="2">
              <a:lnSpc>
                <a:spcPct val="120000"/>
              </a:lnSpc>
            </a:pPr>
            <a:endParaRPr lang="en-US" altLang="ko-KR" sz="1400" dirty="0">
              <a:solidFill>
                <a:srgbClr val="131A5A"/>
              </a:solidFill>
            </a:endParaRPr>
          </a:p>
          <a:p>
            <a:pPr marL="457200" lvl="1" indent="0">
              <a:lnSpc>
                <a:spcPct val="120000"/>
              </a:lnSpc>
              <a:buNone/>
            </a:pPr>
            <a:br>
              <a:rPr lang="en-US" altLang="ko-KR" sz="1600" dirty="0">
                <a:solidFill>
                  <a:srgbClr val="131A5A"/>
                </a:solidFill>
              </a:rPr>
            </a:br>
            <a:endParaRPr lang="en-US" altLang="ko-KR" sz="16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BE388ECD-80DE-CECA-D71F-CEC0D4CFAFD2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방법 및 동작 원리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827282-69D1-5574-BFDC-D8D66B0B1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22" y="2492896"/>
            <a:ext cx="7755299" cy="2908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F62AC5-2B77-4806-167B-E7370A9EB8B1}"/>
              </a:ext>
            </a:extLst>
          </p:cNvPr>
          <p:cNvSpPr txBox="1"/>
          <p:nvPr/>
        </p:nvSpPr>
        <p:spPr>
          <a:xfrm>
            <a:off x="908401" y="1617985"/>
            <a:ext cx="7336007" cy="459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TransmitPoll</a:t>
            </a:r>
            <a:r>
              <a:rPr lang="en-US" altLang="ko-KR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– </a:t>
            </a: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추가적인 정보 전달 </a:t>
            </a:r>
            <a:r>
              <a:rPr lang="en-US" altLang="ko-KR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</a:t>
            </a: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환자</a:t>
            </a:r>
            <a:r>
              <a:rPr lang="en-US" altLang="ko-KR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의약품 넘버</a:t>
            </a:r>
            <a:r>
              <a:rPr lang="en-US" altLang="ko-KR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9374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414C0-099A-0CC5-C8FC-7747CC34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47">
            <a:extLst>
              <a:ext uri="{FF2B5EF4-FFF2-40B4-BE49-F238E27FC236}">
                <a16:creationId xmlns:a16="http://schemas.microsoft.com/office/drawing/2014/main" id="{32ADF9ED-B46D-BF0C-51B0-7DE670CA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48B2BD75-2437-786F-4E4D-7BF16E014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2000" dirty="0">
                <a:solidFill>
                  <a:srgbClr val="131A5A"/>
                </a:solidFill>
              </a:rPr>
              <a:t>Dispenser</a:t>
            </a:r>
            <a:endParaRPr lang="en-US" altLang="ko-KR" sz="1400" dirty="0">
              <a:solidFill>
                <a:srgbClr val="131A5A"/>
              </a:solidFill>
            </a:endParaRPr>
          </a:p>
          <a:p>
            <a:pPr lvl="2">
              <a:lnSpc>
                <a:spcPct val="120000"/>
              </a:lnSpc>
            </a:pPr>
            <a:endParaRPr lang="en-US" altLang="ko-KR" sz="1400" dirty="0">
              <a:solidFill>
                <a:srgbClr val="131A5A"/>
              </a:solidFill>
            </a:endParaRPr>
          </a:p>
          <a:p>
            <a:pPr marL="457200" lvl="1" indent="0">
              <a:lnSpc>
                <a:spcPct val="120000"/>
              </a:lnSpc>
              <a:buNone/>
            </a:pPr>
            <a:br>
              <a:rPr lang="en-US" altLang="ko-KR" sz="1600" dirty="0">
                <a:solidFill>
                  <a:srgbClr val="131A5A"/>
                </a:solidFill>
              </a:rPr>
            </a:br>
            <a:endParaRPr lang="en-US" altLang="ko-KR" sz="16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A15ABDC1-7FD4-DDB4-AF44-45704E81A9BC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방법 및 동작 원리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E87EC1-F8CD-DF39-9D3A-29E2B9A1E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117" y="2708920"/>
            <a:ext cx="5030557" cy="3411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BBE6D0-D4BC-18A2-0384-2CCF3336DF27}"/>
              </a:ext>
            </a:extLst>
          </p:cNvPr>
          <p:cNvSpPr txBox="1"/>
          <p:nvPr/>
        </p:nvSpPr>
        <p:spPr>
          <a:xfrm>
            <a:off x="908401" y="1617985"/>
            <a:ext cx="7336007" cy="87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Anchor_distance_request</a:t>
            </a:r>
            <a:br>
              <a:rPr lang="en-US" altLang="ko-KR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Poll </a:t>
            </a: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검사 후 변조된 정보 확인될 시 </a:t>
            </a:r>
            <a:r>
              <a:rPr lang="en-US" altLang="ko-KR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TWR</a:t>
            </a: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아닌 </a:t>
            </a:r>
            <a:r>
              <a:rPr lang="ko-KR" altLang="en-US" b="1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디스펜서</a:t>
            </a: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작동</a:t>
            </a:r>
            <a:endParaRPr lang="en-US" altLang="ko-KR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148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63D2-45AC-435B-8894-195AE60C6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47">
            <a:extLst>
              <a:ext uri="{FF2B5EF4-FFF2-40B4-BE49-F238E27FC236}">
                <a16:creationId xmlns:a16="http://schemas.microsoft.com/office/drawing/2014/main" id="{A195ABE1-9D57-A7F3-7C55-FB8B17BE7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A3869E1F-70F1-6366-D985-E0BEEE51A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2000" dirty="0">
                <a:solidFill>
                  <a:srgbClr val="131A5A"/>
                </a:solidFill>
              </a:rPr>
              <a:t>Dispenser</a:t>
            </a:r>
            <a:endParaRPr lang="en-US" altLang="ko-KR" sz="1400" dirty="0">
              <a:solidFill>
                <a:srgbClr val="131A5A"/>
              </a:solidFill>
            </a:endParaRPr>
          </a:p>
          <a:p>
            <a:pPr lvl="2">
              <a:lnSpc>
                <a:spcPct val="120000"/>
              </a:lnSpc>
            </a:pPr>
            <a:endParaRPr lang="en-US" altLang="ko-KR" sz="1400" dirty="0">
              <a:solidFill>
                <a:srgbClr val="131A5A"/>
              </a:solidFill>
            </a:endParaRPr>
          </a:p>
          <a:p>
            <a:pPr marL="457200" lvl="1" indent="0">
              <a:lnSpc>
                <a:spcPct val="120000"/>
              </a:lnSpc>
              <a:buNone/>
            </a:pPr>
            <a:br>
              <a:rPr lang="en-US" altLang="ko-KR" sz="1600" dirty="0">
                <a:solidFill>
                  <a:srgbClr val="131A5A"/>
                </a:solidFill>
              </a:rPr>
            </a:br>
            <a:endParaRPr lang="en-US" altLang="ko-KR" sz="1600" dirty="0">
              <a:solidFill>
                <a:srgbClr val="131A5A"/>
              </a:solidFill>
            </a:endParaRP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2D2340A5-E26D-E3A6-FA0B-61FF6F507D7B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방법 및 동작 원리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39A6A8-D5F8-9C34-A202-F424FC31D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47" y="1595038"/>
            <a:ext cx="3048614" cy="18433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580F104-4EBE-B78A-B1F7-81581E714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258" y="3865473"/>
            <a:ext cx="6287377" cy="19814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DC56BE-A54B-E779-1A04-5A4DAC0FCEEC}"/>
              </a:ext>
            </a:extLst>
          </p:cNvPr>
          <p:cNvSpPr txBox="1"/>
          <p:nvPr/>
        </p:nvSpPr>
        <p:spPr>
          <a:xfrm>
            <a:off x="908401" y="1617985"/>
            <a:ext cx="7336007" cy="87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AnchorA</a:t>
            </a:r>
            <a:br>
              <a:rPr lang="en-US" altLang="ko-KR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차량이 접근하면 </a:t>
            </a:r>
            <a:r>
              <a:rPr lang="ko-KR" altLang="en-US" b="1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디스펜서</a:t>
            </a: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작동</a:t>
            </a:r>
            <a:endParaRPr lang="en-US" altLang="ko-KR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624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3E6B-4AB4-6A7E-394F-B2C8C405E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917432-AE08-075B-3C41-A86EE938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52FE5E1D-A2B1-58F0-D879-540BD6DC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8" name="내용 개체 틀 31">
            <a:extLst>
              <a:ext uri="{FF2B5EF4-FFF2-40B4-BE49-F238E27FC236}">
                <a16:creationId xmlns:a16="http://schemas.microsoft.com/office/drawing/2014/main" id="{18556E78-B418-254A-75FD-638B70BAF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1297699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2000" dirty="0">
                <a:solidFill>
                  <a:srgbClr val="131A5A"/>
                </a:solidFill>
              </a:rPr>
              <a:t>Anchor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B21FE9B8-5711-6D57-0AF7-92277997E5AB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noProof="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방법 및 동작 원리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497AD2F-4D35-A424-523C-87E8AF1D43DB}"/>
              </a:ext>
            </a:extLst>
          </p:cNvPr>
          <p:cNvSpPr/>
          <p:nvPr/>
        </p:nvSpPr>
        <p:spPr>
          <a:xfrm>
            <a:off x="6033178" y="2650763"/>
            <a:ext cx="1249594" cy="32529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Server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4C6C1F7-17CA-8A54-1D07-3DEE552C6C53}"/>
              </a:ext>
            </a:extLst>
          </p:cNvPr>
          <p:cNvGrpSpPr/>
          <p:nvPr/>
        </p:nvGrpSpPr>
        <p:grpSpPr>
          <a:xfrm>
            <a:off x="555399" y="1986139"/>
            <a:ext cx="8378571" cy="4251173"/>
            <a:chOff x="555399" y="1986139"/>
            <a:chExt cx="8378571" cy="4251173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C5F5B374-D210-C98F-7A26-92D20E61B6B1}"/>
                </a:ext>
              </a:extLst>
            </p:cNvPr>
            <p:cNvGrpSpPr/>
            <p:nvPr/>
          </p:nvGrpSpPr>
          <p:grpSpPr>
            <a:xfrm>
              <a:off x="555399" y="1986139"/>
              <a:ext cx="8040092" cy="4251173"/>
              <a:chOff x="555399" y="1986139"/>
              <a:chExt cx="8040092" cy="4251173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721999B7-202B-2DF2-2787-C69ABF72D077}"/>
                  </a:ext>
                </a:extLst>
              </p:cNvPr>
              <p:cNvGrpSpPr/>
              <p:nvPr/>
            </p:nvGrpSpPr>
            <p:grpSpPr>
              <a:xfrm>
                <a:off x="555399" y="2564904"/>
                <a:ext cx="7905033" cy="3672408"/>
                <a:chOff x="555399" y="2564904"/>
                <a:chExt cx="7905033" cy="3672408"/>
              </a:xfrm>
            </p:grpSpPr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F629D214-BB9A-86AF-37CD-923424373ABE}"/>
                    </a:ext>
                  </a:extLst>
                </p:cNvPr>
                <p:cNvSpPr/>
                <p:nvPr/>
              </p:nvSpPr>
              <p:spPr>
                <a:xfrm>
                  <a:off x="982385" y="5874757"/>
                  <a:ext cx="330673" cy="280446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E2EDF928-FE7D-83AC-D08B-9496F1535758}"/>
                    </a:ext>
                  </a:extLst>
                </p:cNvPr>
                <p:cNvSpPr/>
                <p:nvPr/>
              </p:nvSpPr>
              <p:spPr>
                <a:xfrm>
                  <a:off x="630966" y="2564904"/>
                  <a:ext cx="7580494" cy="3672408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" name="부제목 13">
                  <a:extLst>
                    <a:ext uri="{FF2B5EF4-FFF2-40B4-BE49-F238E27FC236}">
                      <a16:creationId xmlns:a16="http://schemas.microsoft.com/office/drawing/2014/main" id="{2053BA6C-F314-6A09-4BC8-3D39B8D2348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5399" y="5615477"/>
                  <a:ext cx="1291246" cy="37706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342900" indent="-3429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6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2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1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itchFamily="34" charset="0"/>
                    <a:buNone/>
                  </a:pPr>
                  <a:r>
                    <a:rPr lang="en-US" altLang="ko-KR" sz="1400" b="1" dirty="0"/>
                    <a:t>Anchor 1</a:t>
                  </a:r>
                </a:p>
              </p:txBody>
            </p: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EC3B4B9C-3F38-3525-5174-C160854A9032}"/>
                    </a:ext>
                  </a:extLst>
                </p:cNvPr>
                <p:cNvSpPr/>
                <p:nvPr/>
              </p:nvSpPr>
              <p:spPr>
                <a:xfrm>
                  <a:off x="2078479" y="5216932"/>
                  <a:ext cx="322648" cy="275794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부제목 13">
                  <a:extLst>
                    <a:ext uri="{FF2B5EF4-FFF2-40B4-BE49-F238E27FC236}">
                      <a16:creationId xmlns:a16="http://schemas.microsoft.com/office/drawing/2014/main" id="{4C379232-885F-ED11-86FD-FA67BBB47B2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55966" y="4988707"/>
                  <a:ext cx="1741916" cy="2731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342900" indent="-3429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6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2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1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altLang="ko-KR" sz="1200" b="1" dirty="0"/>
                    <a:t>Dispenser</a:t>
                  </a:r>
                </a:p>
              </p:txBody>
            </p: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1D1AED07-B122-D007-B83E-F0D121FBAF17}"/>
                    </a:ext>
                  </a:extLst>
                </p:cNvPr>
                <p:cNvSpPr/>
                <p:nvPr/>
              </p:nvSpPr>
              <p:spPr>
                <a:xfrm>
                  <a:off x="7645109" y="5866574"/>
                  <a:ext cx="330673" cy="280446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4" name="부제목 13">
                  <a:extLst>
                    <a:ext uri="{FF2B5EF4-FFF2-40B4-BE49-F238E27FC236}">
                      <a16:creationId xmlns:a16="http://schemas.microsoft.com/office/drawing/2014/main" id="{5513F1E5-EE37-66F0-0328-89A6F009E0B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169186" y="5575489"/>
                  <a:ext cx="1291246" cy="37706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342900" indent="-3429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6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2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1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itchFamily="34" charset="0"/>
                    <a:buNone/>
                  </a:pPr>
                  <a:r>
                    <a:rPr lang="en-US" altLang="ko-KR" sz="1400" b="1" dirty="0"/>
                    <a:t>Anchor 2</a:t>
                  </a:r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2E64C5-83A9-3B17-8585-A32702AB29A9}"/>
                    </a:ext>
                  </a:extLst>
                </p:cNvPr>
                <p:cNvSpPr/>
                <p:nvPr/>
              </p:nvSpPr>
              <p:spPr>
                <a:xfrm>
                  <a:off x="7608513" y="2890071"/>
                  <a:ext cx="330673" cy="280446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8" name="부제목 13">
                  <a:extLst>
                    <a:ext uri="{FF2B5EF4-FFF2-40B4-BE49-F238E27FC236}">
                      <a16:creationId xmlns:a16="http://schemas.microsoft.com/office/drawing/2014/main" id="{83DDEF43-C2EB-4FB4-B16F-98E1BF7B8FA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132591" y="2598986"/>
                  <a:ext cx="1291246" cy="37706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342900" indent="-3429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6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2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1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itchFamily="34" charset="0"/>
                    <a:buNone/>
                  </a:pPr>
                  <a:r>
                    <a:rPr lang="en-US" altLang="ko-KR" sz="1400" b="1" dirty="0"/>
                    <a:t>Anchor 3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F83A19FA-0977-93B1-E605-9ADCA25AC8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55966" y="3229328"/>
                  <a:ext cx="1" cy="240211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351DD93D-95A6-5265-39FE-5735DCC40B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55967" y="3227912"/>
                  <a:ext cx="1741916" cy="141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73D6BCB8-17B4-FD01-D120-3B0B02BF3D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55967" y="5631438"/>
                  <a:ext cx="1741916" cy="141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094ED68F-E9A2-B5D3-044C-A98CBA5563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97882" y="4653638"/>
                  <a:ext cx="1" cy="97780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5D07E8C0-2E10-3C0B-371A-B493DD24D6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97883" y="3227912"/>
                  <a:ext cx="0" cy="9571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5C6C4152-A933-6119-B485-4B6D3D40D2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93404" y="4653638"/>
                  <a:ext cx="1839406" cy="838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BFD32619-B151-B7D4-74BD-CA2D429F2E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93404" y="4185031"/>
                  <a:ext cx="1839407" cy="838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A19C03CA-2385-5772-F9E3-452C13A6AD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91568" y="3214402"/>
                  <a:ext cx="0" cy="24625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3C2C0818-7596-B4EB-F8D9-21C3C37112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32810" y="3214402"/>
                  <a:ext cx="235875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8839096C-293E-CB21-87DB-959BBB0502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32810" y="5678405"/>
                  <a:ext cx="2358758" cy="1507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BED8C3A3-C227-4FDD-82C6-EB5362FA16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24920" y="4652221"/>
                  <a:ext cx="7889" cy="104125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39963CFC-8515-5ED0-54CA-17758D1F31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32811" y="3214402"/>
                  <a:ext cx="0" cy="97901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22E6B103-8F00-55E2-B9EF-88A6CA22755F}"/>
                    </a:ext>
                  </a:extLst>
                </p:cNvPr>
                <p:cNvSpPr/>
                <p:nvPr/>
              </p:nvSpPr>
              <p:spPr>
                <a:xfrm>
                  <a:off x="5432586" y="3183357"/>
                  <a:ext cx="1359206" cy="2098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200" b="1" dirty="0"/>
                    <a:t>Patient room</a:t>
                  </a:r>
                  <a:endParaRPr lang="ko-KR" altLang="en-US" sz="1050" b="1" dirty="0"/>
                </a:p>
              </p:txBody>
            </p:sp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1E1A2261-5904-A5AC-FC11-BA8BF3C722A1}"/>
                    </a:ext>
                  </a:extLst>
                </p:cNvPr>
                <p:cNvSpPr/>
                <p:nvPr/>
              </p:nvSpPr>
              <p:spPr>
                <a:xfrm>
                  <a:off x="6577483" y="5201886"/>
                  <a:ext cx="322648" cy="2757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부제목 13">
                  <a:extLst>
                    <a:ext uri="{FF2B5EF4-FFF2-40B4-BE49-F238E27FC236}">
                      <a16:creationId xmlns:a16="http://schemas.microsoft.com/office/drawing/2014/main" id="{C9C73C68-23ED-CF55-BD08-08061295EA0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867849" y="4956504"/>
                  <a:ext cx="1741916" cy="2731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342900" indent="-3429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6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2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1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altLang="ko-KR" sz="1200" b="1" dirty="0"/>
                    <a:t>Patient 2</a:t>
                  </a: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2ABA6263-6EEB-99B4-08D2-D09887657C3E}"/>
                    </a:ext>
                  </a:extLst>
                </p:cNvPr>
                <p:cNvSpPr/>
                <p:nvPr/>
              </p:nvSpPr>
              <p:spPr>
                <a:xfrm>
                  <a:off x="6577483" y="3850277"/>
                  <a:ext cx="322648" cy="275794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부제목 13">
                  <a:extLst>
                    <a:ext uri="{FF2B5EF4-FFF2-40B4-BE49-F238E27FC236}">
                      <a16:creationId xmlns:a16="http://schemas.microsoft.com/office/drawing/2014/main" id="{DF0AA83A-20B3-4D78-97F6-BCCA539F4D6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867849" y="3604895"/>
                  <a:ext cx="1741916" cy="2731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vert="horz" lIns="91440" tIns="45720" rIns="91440" bIns="45720" rtlCol="0">
                  <a:normAutofit lnSpcReduction="10000"/>
                </a:bodyPr>
                <a:lstStyle>
                  <a:lvl1pPr marL="342900" indent="-3429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6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2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1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altLang="ko-KR" sz="1200" b="1" dirty="0"/>
                    <a:t>Patient 1</a:t>
                  </a: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6BDD000D-EF52-9D28-527A-6C6EBF88C037}"/>
                    </a:ext>
                  </a:extLst>
                </p:cNvPr>
                <p:cNvSpPr/>
                <p:nvPr/>
              </p:nvSpPr>
              <p:spPr>
                <a:xfrm>
                  <a:off x="2039449" y="3817986"/>
                  <a:ext cx="353293" cy="30198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900" dirty="0"/>
                </a:p>
              </p:txBody>
            </p:sp>
            <p:sp>
              <p:nvSpPr>
                <p:cNvPr id="70" name="부제목 13">
                  <a:extLst>
                    <a:ext uri="{FF2B5EF4-FFF2-40B4-BE49-F238E27FC236}">
                      <a16:creationId xmlns:a16="http://schemas.microsoft.com/office/drawing/2014/main" id="{5507CC1D-820C-E816-B92E-3AB6DBC12AD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595168" y="3532224"/>
                  <a:ext cx="1291246" cy="28562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342900" indent="-3429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6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1" hangingPunct="1">
                    <a:spcBef>
                      <a:spcPts val="600"/>
                    </a:spcBef>
                    <a:buFont typeface="Arial" pitchFamily="34" charset="0"/>
                    <a:buChar char="•"/>
                    <a:defRPr sz="1200" b="0" kern="12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–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»"/>
                    <a:defRPr sz="12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spcBef>
                      <a:spcPct val="20000"/>
                    </a:spcBef>
                    <a:buFont typeface="Arial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itchFamily="34" charset="0"/>
                    <a:buNone/>
                  </a:pPr>
                  <a:r>
                    <a:rPr lang="ko-KR" altLang="en-US" sz="1200" b="1" dirty="0"/>
                    <a:t>차량</a:t>
                  </a:r>
                  <a:r>
                    <a:rPr lang="en-US" altLang="ko-KR" sz="1200" b="1" dirty="0"/>
                    <a:t>(Tag)</a:t>
                  </a:r>
                </a:p>
              </p:txBody>
            </p:sp>
            <p:sp>
              <p:nvSpPr>
                <p:cNvPr id="71" name="직사각형 70">
                  <a:extLst>
                    <a:ext uri="{FF2B5EF4-FFF2-40B4-BE49-F238E27FC236}">
                      <a16:creationId xmlns:a16="http://schemas.microsoft.com/office/drawing/2014/main" id="{7C9ED4A7-0900-53EA-C943-EE9DA7B3C525}"/>
                    </a:ext>
                  </a:extLst>
                </p:cNvPr>
                <p:cNvSpPr/>
                <p:nvPr/>
              </p:nvSpPr>
              <p:spPr>
                <a:xfrm>
                  <a:off x="1543276" y="3188459"/>
                  <a:ext cx="1359206" cy="20984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200" b="1" dirty="0"/>
                    <a:t>Storage</a:t>
                  </a:r>
                  <a:endParaRPr lang="ko-KR" altLang="en-US" sz="1200" b="1" dirty="0"/>
                </a:p>
              </p:txBody>
            </p:sp>
          </p:grp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AC28628C-5C2B-25A2-E451-C68D8180D4EB}"/>
                  </a:ext>
                </a:extLst>
              </p:cNvPr>
              <p:cNvSpPr/>
              <p:nvPr/>
            </p:nvSpPr>
            <p:spPr>
              <a:xfrm>
                <a:off x="6660232" y="1986139"/>
                <a:ext cx="1935259" cy="51149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</a:rPr>
                  <a:t>의약품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200" b="1" dirty="0">
                    <a:solidFill>
                      <a:schemeClr val="tx1"/>
                    </a:solidFill>
                  </a:rPr>
                  <a:t>및 환자 정보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200" b="1" dirty="0">
                    <a:solidFill>
                      <a:schemeClr val="tx1"/>
                    </a:solidFill>
                  </a:rPr>
                  <a:t>입력</a:t>
                </a:r>
              </a:p>
            </p:txBody>
          </p:sp>
        </p:grp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7FCE926F-FC9F-836E-F0BD-B06184879D87}"/>
                </a:ext>
              </a:extLst>
            </p:cNvPr>
            <p:cNvSpPr/>
            <p:nvPr/>
          </p:nvSpPr>
          <p:spPr>
            <a:xfrm>
              <a:off x="1698188" y="5736818"/>
              <a:ext cx="1772678" cy="4587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의약품 출납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차량 출발</a:t>
              </a: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B2EC164D-7813-55A4-5099-5E14440EEC35}"/>
                </a:ext>
              </a:extLst>
            </p:cNvPr>
            <p:cNvSpPr/>
            <p:nvPr/>
          </p:nvSpPr>
          <p:spPr>
            <a:xfrm>
              <a:off x="7351430" y="5061338"/>
              <a:ext cx="1582540" cy="45879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</a:rPr>
                <a:t>의약품 도착</a:t>
              </a:r>
              <a:r>
                <a:rPr lang="en-US" altLang="ko-KR" sz="1200" b="1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원위치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C33136FD-5661-5791-47C2-68B36EAA4DE1}"/>
              </a:ext>
            </a:extLst>
          </p:cNvPr>
          <p:cNvSpPr txBox="1"/>
          <p:nvPr/>
        </p:nvSpPr>
        <p:spPr>
          <a:xfrm>
            <a:off x="759260" y="1616082"/>
            <a:ext cx="7336007" cy="891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일반적인 </a:t>
            </a:r>
            <a:r>
              <a:rPr lang="en-US" altLang="ko-KR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 </a:t>
            </a:r>
            <a:r>
              <a:rPr lang="ko-KR" altLang="en-US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동작</a:t>
            </a:r>
            <a:endParaRPr lang="en-US" altLang="ko-KR" sz="12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DS-TWR </a:t>
            </a:r>
            <a:r>
              <a:rPr lang="ko-KR" altLang="en-US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방식으로 </a:t>
            </a:r>
            <a:r>
              <a:rPr lang="en-US" altLang="ko-KR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Tag</a:t>
            </a:r>
            <a:r>
              <a:rPr lang="ko-KR" altLang="en-US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Anchor </a:t>
            </a:r>
            <a:r>
              <a:rPr lang="ko-KR" altLang="en-US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사이의 거리 측정</a:t>
            </a:r>
            <a:endParaRPr lang="en-US" altLang="ko-KR" sz="12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앵커마다 다른 역할도 같이 수행</a:t>
            </a:r>
            <a:endParaRPr lang="en-US" altLang="ko-KR" sz="1200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09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DB93-0847-61A5-CB27-E43096162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BFE74C-70D6-FFDF-E4E6-64468C72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0AFD6808-B23E-8581-B862-D0D048D50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BA87B085-DF2B-D751-6AA9-F863A48B3EFF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시현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10" name="내용 개체 틀 31">
            <a:extLst>
              <a:ext uri="{FF2B5EF4-FFF2-40B4-BE49-F238E27FC236}">
                <a16:creationId xmlns:a16="http://schemas.microsoft.com/office/drawing/2014/main" id="{229D101E-E954-74E1-5014-E7C266304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1800" dirty="0">
                <a:solidFill>
                  <a:srgbClr val="131A5A"/>
                </a:solidFill>
              </a:rPr>
              <a:t>Tag</a:t>
            </a:r>
            <a:r>
              <a:rPr lang="ko-KR" altLang="en-US" sz="1800" dirty="0">
                <a:solidFill>
                  <a:srgbClr val="131A5A"/>
                </a:solidFill>
              </a:rPr>
              <a:t> 접근 시 </a:t>
            </a:r>
            <a:r>
              <a:rPr lang="en-US" altLang="ko-KR" sz="1800">
                <a:solidFill>
                  <a:srgbClr val="131A5A"/>
                </a:solidFill>
              </a:rPr>
              <a:t>Dispenser </a:t>
            </a:r>
            <a:r>
              <a:rPr lang="ko-KR" altLang="en-US" sz="1800" dirty="0">
                <a:solidFill>
                  <a:srgbClr val="131A5A"/>
                </a:solidFill>
              </a:rPr>
              <a:t>작동</a:t>
            </a:r>
            <a:br>
              <a:rPr lang="en-US" altLang="ko-KR" sz="1800" dirty="0">
                <a:solidFill>
                  <a:srgbClr val="131A5A"/>
                </a:solidFill>
              </a:rPr>
            </a:br>
            <a:br>
              <a:rPr lang="en-US" altLang="ko-KR" sz="1800" dirty="0">
                <a:solidFill>
                  <a:srgbClr val="131A5A"/>
                </a:solidFill>
              </a:rPr>
            </a:br>
            <a:br>
              <a:rPr lang="en-US" altLang="ko-KR" sz="1800" dirty="0">
                <a:solidFill>
                  <a:srgbClr val="131A5A"/>
                </a:solidFill>
              </a:rPr>
            </a:br>
            <a:br>
              <a:rPr lang="en-US" altLang="ko-KR" sz="1800" dirty="0">
                <a:solidFill>
                  <a:srgbClr val="131A5A"/>
                </a:solidFill>
              </a:rPr>
            </a:br>
            <a:br>
              <a:rPr lang="en-US" altLang="ko-KR" sz="1800" dirty="0">
                <a:solidFill>
                  <a:srgbClr val="131A5A"/>
                </a:solidFill>
              </a:rPr>
            </a:br>
            <a:br>
              <a:rPr lang="en-US" altLang="ko-KR" sz="1800" dirty="0">
                <a:solidFill>
                  <a:srgbClr val="131A5A"/>
                </a:solidFill>
              </a:rPr>
            </a:br>
            <a:br>
              <a:rPr lang="en-US" altLang="ko-KR" sz="1800" dirty="0">
                <a:solidFill>
                  <a:srgbClr val="131A5A"/>
                </a:solidFill>
              </a:rPr>
            </a:br>
            <a:br>
              <a:rPr lang="en-US" altLang="ko-KR" sz="1800" dirty="0">
                <a:solidFill>
                  <a:srgbClr val="131A5A"/>
                </a:solidFill>
              </a:rPr>
            </a:br>
            <a:endParaRPr lang="en-US" altLang="ko-KR" sz="1800" dirty="0">
              <a:solidFill>
                <a:srgbClr val="131A5A"/>
              </a:solidFill>
            </a:endParaRPr>
          </a:p>
          <a:p>
            <a:pPr lvl="1">
              <a:lnSpc>
                <a:spcPct val="120000"/>
              </a:lnSpc>
            </a:pPr>
            <a:r>
              <a:rPr lang="ko-KR" altLang="en-US" sz="1800" dirty="0">
                <a:solidFill>
                  <a:srgbClr val="131A5A"/>
                </a:solidFill>
              </a:rPr>
              <a:t>자율주행 기능</a:t>
            </a:r>
            <a:endParaRPr lang="en-US" altLang="ko-KR" sz="1800" dirty="0">
              <a:solidFill>
                <a:srgbClr val="131A5A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C8609F4-FF99-225D-4DE6-8729500F5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762435"/>
            <a:ext cx="2015098" cy="21780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9CBD2A-88F6-5E35-1B86-08798A698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900" y="1762435"/>
            <a:ext cx="2681252" cy="296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345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64465-22FE-CC0A-0DF5-EFDBFCB74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6A12F1-A7B4-4BBC-1F9F-6BE66E77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A6CB8794-0A85-1381-53DE-EB30D8F97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56A3A97F-54C0-F682-1525-5FEB57520EB9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시현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10" name="내용 개체 틀 31">
            <a:extLst>
              <a:ext uri="{FF2B5EF4-FFF2-40B4-BE49-F238E27FC236}">
                <a16:creationId xmlns:a16="http://schemas.microsoft.com/office/drawing/2014/main" id="{F1243B7F-CB4C-FE5F-3423-925B107B8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232400"/>
            <a:ext cx="8507287" cy="5004912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20000"/>
              </a:lnSpc>
            </a:pPr>
            <a:r>
              <a:rPr lang="en-US" altLang="ko-KR" sz="1800" dirty="0" err="1">
                <a:solidFill>
                  <a:srgbClr val="131A5A"/>
                </a:solidFill>
              </a:rPr>
              <a:t>FeedBack</a:t>
            </a:r>
            <a:endParaRPr lang="en-US" altLang="ko-KR" sz="1800" dirty="0">
              <a:solidFill>
                <a:srgbClr val="131A5A"/>
              </a:solidFill>
            </a:endParaRPr>
          </a:p>
          <a:p>
            <a:pPr lvl="2">
              <a:lnSpc>
                <a:spcPct val="120000"/>
              </a:lnSpc>
            </a:pPr>
            <a:r>
              <a:rPr lang="ko-KR" altLang="en-US" sz="1600" dirty="0">
                <a:solidFill>
                  <a:srgbClr val="131A5A"/>
                </a:solidFill>
              </a:rPr>
              <a:t>자율 주행</a:t>
            </a:r>
            <a:br>
              <a:rPr lang="en-US" altLang="ko-KR" sz="1600" dirty="0">
                <a:solidFill>
                  <a:srgbClr val="131A5A"/>
                </a:solidFill>
              </a:rPr>
            </a:br>
            <a:r>
              <a:rPr lang="en-US" altLang="ko-KR" sz="1600" dirty="0">
                <a:solidFill>
                  <a:srgbClr val="131A5A"/>
                </a:solidFill>
              </a:rPr>
              <a:t>1. </a:t>
            </a:r>
            <a:r>
              <a:rPr lang="ko-KR" altLang="en-US" sz="1600" dirty="0" err="1">
                <a:solidFill>
                  <a:srgbClr val="131A5A"/>
                </a:solidFill>
              </a:rPr>
              <a:t>좌표값이</a:t>
            </a:r>
            <a:r>
              <a:rPr lang="ko-KR" altLang="en-US" sz="1600" dirty="0">
                <a:solidFill>
                  <a:srgbClr val="131A5A"/>
                </a:solidFill>
              </a:rPr>
              <a:t> 튀어서 목표 좌표에 도달했다는 사실이 부정확</a:t>
            </a:r>
            <a:br>
              <a:rPr lang="en-US" altLang="ko-KR" sz="1600" dirty="0">
                <a:solidFill>
                  <a:srgbClr val="131A5A"/>
                </a:solidFill>
              </a:rPr>
            </a:br>
            <a:r>
              <a:rPr lang="en-US" altLang="ko-KR" sz="1600" dirty="0">
                <a:solidFill>
                  <a:srgbClr val="131A5A"/>
                </a:solidFill>
              </a:rPr>
              <a:t>-&gt; </a:t>
            </a:r>
            <a:r>
              <a:rPr lang="en-US" altLang="ko-KR" sz="1600" dirty="0" err="1">
                <a:solidFill>
                  <a:srgbClr val="131A5A"/>
                </a:solidFill>
              </a:rPr>
              <a:t>g,h</a:t>
            </a:r>
            <a:r>
              <a:rPr lang="en-US" altLang="ko-KR" sz="1600" dirty="0">
                <a:solidFill>
                  <a:srgbClr val="131A5A"/>
                </a:solidFill>
              </a:rPr>
              <a:t> </a:t>
            </a:r>
            <a:r>
              <a:rPr lang="ko-KR" altLang="en-US" sz="1600" dirty="0">
                <a:solidFill>
                  <a:srgbClr val="131A5A"/>
                </a:solidFill>
              </a:rPr>
              <a:t>필터로도 한계가 있었음</a:t>
            </a:r>
            <a:r>
              <a:rPr lang="en-US" altLang="ko-KR" sz="1600" dirty="0">
                <a:solidFill>
                  <a:srgbClr val="131A5A"/>
                </a:solidFill>
              </a:rPr>
              <a:t>.</a:t>
            </a:r>
            <a:br>
              <a:rPr lang="en-US" altLang="ko-KR" sz="1600" dirty="0">
                <a:solidFill>
                  <a:srgbClr val="131A5A"/>
                </a:solidFill>
              </a:rPr>
            </a:br>
            <a:r>
              <a:rPr lang="en-US" altLang="ko-KR" sz="1600" dirty="0">
                <a:solidFill>
                  <a:srgbClr val="131A5A"/>
                </a:solidFill>
              </a:rPr>
              <a:t>2. </a:t>
            </a:r>
            <a:r>
              <a:rPr lang="ko-KR" altLang="en-US" sz="1600" dirty="0" err="1">
                <a:solidFill>
                  <a:srgbClr val="131A5A"/>
                </a:solidFill>
              </a:rPr>
              <a:t>매카넘</a:t>
            </a:r>
            <a:r>
              <a:rPr lang="ko-KR" altLang="en-US" sz="1600" dirty="0">
                <a:solidFill>
                  <a:srgbClr val="131A5A"/>
                </a:solidFill>
              </a:rPr>
              <a:t> 휠 자체의 미끄러짐으로 인한 차체 틀어짐 </a:t>
            </a:r>
            <a:r>
              <a:rPr lang="en-US" altLang="ko-KR" sz="1600" dirty="0">
                <a:solidFill>
                  <a:srgbClr val="131A5A"/>
                </a:solidFill>
              </a:rPr>
              <a:t>Issue </a:t>
            </a:r>
            <a:br>
              <a:rPr lang="en-US" altLang="ko-KR" sz="1600" dirty="0">
                <a:solidFill>
                  <a:srgbClr val="131A5A"/>
                </a:solidFill>
              </a:rPr>
            </a:br>
            <a:r>
              <a:rPr lang="en-US" altLang="ko-KR" sz="1600" dirty="0">
                <a:solidFill>
                  <a:srgbClr val="131A5A"/>
                </a:solidFill>
              </a:rPr>
              <a:t>-&gt; Gyro Sensor</a:t>
            </a:r>
            <a:r>
              <a:rPr lang="ko-KR" altLang="en-US" sz="1600" dirty="0">
                <a:solidFill>
                  <a:srgbClr val="131A5A"/>
                </a:solidFill>
              </a:rPr>
              <a:t>로도 한계 봉착</a:t>
            </a:r>
            <a:endParaRPr lang="en-US" altLang="ko-KR" sz="1600" dirty="0">
              <a:solidFill>
                <a:srgbClr val="131A5A"/>
              </a:solidFill>
            </a:endParaRPr>
          </a:p>
          <a:p>
            <a:pPr lvl="2">
              <a:lnSpc>
                <a:spcPct val="120000"/>
              </a:lnSpc>
            </a:pPr>
            <a:endParaRPr lang="en-US" altLang="ko-KR" sz="1600" dirty="0">
              <a:solidFill>
                <a:srgbClr val="131A5A"/>
              </a:solidFill>
            </a:endParaRPr>
          </a:p>
          <a:p>
            <a:pPr lvl="2">
              <a:lnSpc>
                <a:spcPct val="120000"/>
              </a:lnSpc>
            </a:pPr>
            <a:r>
              <a:rPr lang="en-US" altLang="ko-KR" sz="1600" dirty="0">
                <a:solidFill>
                  <a:srgbClr val="131A5A"/>
                </a:solidFill>
              </a:rPr>
              <a:t>Anchor</a:t>
            </a:r>
            <a:r>
              <a:rPr lang="ko-KR" altLang="en-US" sz="1600" dirty="0">
                <a:solidFill>
                  <a:srgbClr val="131A5A"/>
                </a:solidFill>
              </a:rPr>
              <a:t>와 </a:t>
            </a:r>
            <a:r>
              <a:rPr lang="en-US" altLang="ko-KR" sz="1600" dirty="0">
                <a:solidFill>
                  <a:srgbClr val="131A5A"/>
                </a:solidFill>
              </a:rPr>
              <a:t>Tag </a:t>
            </a:r>
            <a:r>
              <a:rPr lang="ko-KR" altLang="en-US" sz="1600" dirty="0">
                <a:solidFill>
                  <a:srgbClr val="131A5A"/>
                </a:solidFill>
              </a:rPr>
              <a:t>접근</a:t>
            </a:r>
            <a:br>
              <a:rPr lang="en-US" altLang="ko-KR" sz="1600" dirty="0">
                <a:solidFill>
                  <a:srgbClr val="131A5A"/>
                </a:solidFill>
              </a:rPr>
            </a:br>
            <a:r>
              <a:rPr lang="en-US" altLang="ko-KR" sz="1600" dirty="0">
                <a:solidFill>
                  <a:srgbClr val="131A5A"/>
                </a:solidFill>
              </a:rPr>
              <a:t>anchor </a:t>
            </a:r>
            <a:r>
              <a:rPr lang="ko-KR" altLang="en-US" sz="1600" dirty="0">
                <a:solidFill>
                  <a:srgbClr val="131A5A"/>
                </a:solidFill>
              </a:rPr>
              <a:t>측에서 </a:t>
            </a:r>
            <a:r>
              <a:rPr lang="en-US" altLang="ko-KR" sz="1600" dirty="0" err="1">
                <a:solidFill>
                  <a:srgbClr val="131A5A"/>
                </a:solidFill>
              </a:rPr>
              <a:t>custommode</a:t>
            </a:r>
            <a:r>
              <a:rPr lang="en-US" altLang="ko-KR" sz="1600" dirty="0">
                <a:solidFill>
                  <a:srgbClr val="131A5A"/>
                </a:solidFill>
              </a:rPr>
              <a:t> </a:t>
            </a:r>
            <a:r>
              <a:rPr lang="ko-KR" altLang="en-US" sz="1600" dirty="0">
                <a:solidFill>
                  <a:srgbClr val="131A5A"/>
                </a:solidFill>
              </a:rPr>
              <a:t>작동 후 다시 </a:t>
            </a:r>
            <a:r>
              <a:rPr lang="en-US" altLang="ko-KR" sz="1600" dirty="0">
                <a:solidFill>
                  <a:srgbClr val="131A5A"/>
                </a:solidFill>
              </a:rPr>
              <a:t>TWR</a:t>
            </a:r>
            <a:r>
              <a:rPr lang="ko-KR" altLang="en-US" sz="1600" dirty="0">
                <a:solidFill>
                  <a:srgbClr val="131A5A"/>
                </a:solidFill>
              </a:rPr>
              <a:t>로 복귀 실패</a:t>
            </a:r>
            <a:br>
              <a:rPr lang="en-US" altLang="ko-KR" sz="1600" dirty="0">
                <a:solidFill>
                  <a:srgbClr val="131A5A"/>
                </a:solidFill>
              </a:rPr>
            </a:br>
            <a:br>
              <a:rPr lang="en-US" altLang="ko-KR" sz="1600" dirty="0">
                <a:solidFill>
                  <a:srgbClr val="131A5A"/>
                </a:solidFill>
              </a:rPr>
            </a:br>
            <a:endParaRPr lang="en-US" altLang="ko-KR" sz="1600" dirty="0">
              <a:solidFill>
                <a:srgbClr val="131A5A"/>
              </a:solidFill>
            </a:endParaRPr>
          </a:p>
          <a:p>
            <a:pPr lvl="2">
              <a:lnSpc>
                <a:spcPct val="120000"/>
              </a:lnSpc>
            </a:pPr>
            <a:r>
              <a:rPr lang="ko-KR" altLang="en-US" sz="1600" dirty="0">
                <a:solidFill>
                  <a:srgbClr val="131A5A"/>
                </a:solidFill>
              </a:rPr>
              <a:t>코드 통합</a:t>
            </a:r>
            <a:br>
              <a:rPr lang="en-US" altLang="ko-KR" sz="1600" dirty="0">
                <a:solidFill>
                  <a:srgbClr val="131A5A"/>
                </a:solidFill>
              </a:rPr>
            </a:br>
            <a:r>
              <a:rPr lang="ko-KR" altLang="en-US" sz="1600" dirty="0">
                <a:solidFill>
                  <a:srgbClr val="131A5A"/>
                </a:solidFill>
              </a:rPr>
              <a:t>프로젝트 초기에 주안점을 </a:t>
            </a:r>
            <a:r>
              <a:rPr lang="en-US" altLang="ko-KR" sz="1600" dirty="0">
                <a:solidFill>
                  <a:srgbClr val="131A5A"/>
                </a:solidFill>
              </a:rPr>
              <a:t>UWB</a:t>
            </a:r>
            <a:r>
              <a:rPr lang="ko-KR" altLang="en-US" sz="1600" dirty="0">
                <a:solidFill>
                  <a:srgbClr val="131A5A"/>
                </a:solidFill>
              </a:rPr>
              <a:t>에</a:t>
            </a:r>
            <a:r>
              <a:rPr lang="en-US" altLang="ko-KR" sz="1600" dirty="0">
                <a:solidFill>
                  <a:srgbClr val="131A5A"/>
                </a:solidFill>
              </a:rPr>
              <a:t> </a:t>
            </a:r>
            <a:r>
              <a:rPr lang="ko-KR" altLang="en-US" sz="1600" dirty="0" err="1">
                <a:solidFill>
                  <a:srgbClr val="131A5A"/>
                </a:solidFill>
              </a:rPr>
              <a:t>두다보니</a:t>
            </a:r>
            <a:r>
              <a:rPr lang="en-US" altLang="ko-KR" sz="1600" dirty="0">
                <a:solidFill>
                  <a:srgbClr val="131A5A"/>
                </a:solidFill>
              </a:rPr>
              <a:t>, </a:t>
            </a:r>
            <a:r>
              <a:rPr lang="ko-KR" altLang="en-US" sz="1600" dirty="0">
                <a:solidFill>
                  <a:srgbClr val="131A5A"/>
                </a:solidFill>
              </a:rPr>
              <a:t>모듈 제어에 신경을 쓰지 않았음</a:t>
            </a:r>
            <a:r>
              <a:rPr lang="en-US" altLang="ko-KR" sz="1600" dirty="0">
                <a:solidFill>
                  <a:srgbClr val="131A5A"/>
                </a:solidFill>
              </a:rPr>
              <a:t>.</a:t>
            </a:r>
            <a:br>
              <a:rPr lang="en-US" altLang="ko-KR" sz="1600" dirty="0">
                <a:solidFill>
                  <a:srgbClr val="131A5A"/>
                </a:solidFill>
              </a:rPr>
            </a:br>
            <a:r>
              <a:rPr lang="ko-KR" altLang="en-US" sz="1600" dirty="0">
                <a:solidFill>
                  <a:srgbClr val="131A5A"/>
                </a:solidFill>
              </a:rPr>
              <a:t>초기에는 작동이 정상적으로 이루어졌으나</a:t>
            </a:r>
            <a:r>
              <a:rPr lang="en-US" altLang="ko-KR" sz="1600" dirty="0">
                <a:solidFill>
                  <a:srgbClr val="131A5A"/>
                </a:solidFill>
              </a:rPr>
              <a:t>,</a:t>
            </a:r>
            <a:r>
              <a:rPr lang="ko-KR" altLang="en-US" sz="1600" dirty="0">
                <a:solidFill>
                  <a:srgbClr val="131A5A"/>
                </a:solidFill>
              </a:rPr>
              <a:t> </a:t>
            </a:r>
            <a:br>
              <a:rPr lang="en-US" altLang="ko-KR" sz="1600" dirty="0">
                <a:solidFill>
                  <a:srgbClr val="131A5A"/>
                </a:solidFill>
              </a:rPr>
            </a:br>
            <a:r>
              <a:rPr lang="ko-KR" altLang="en-US" sz="1600" dirty="0">
                <a:solidFill>
                  <a:srgbClr val="131A5A"/>
                </a:solidFill>
              </a:rPr>
              <a:t>시간이 흐름에 따라 </a:t>
            </a:r>
            <a:r>
              <a:rPr lang="en-US" altLang="ko-KR" sz="1600" dirty="0">
                <a:solidFill>
                  <a:srgbClr val="131A5A"/>
                </a:solidFill>
              </a:rPr>
              <a:t>robust </a:t>
            </a:r>
            <a:r>
              <a:rPr lang="ko-KR" altLang="en-US" sz="1600" dirty="0">
                <a:solidFill>
                  <a:srgbClr val="131A5A"/>
                </a:solidFill>
              </a:rPr>
              <a:t>발생하여 초기 작성한 코드도 동작하지 않는 문제 발생</a:t>
            </a:r>
            <a:br>
              <a:rPr lang="en-US" altLang="ko-KR" sz="1600" dirty="0">
                <a:solidFill>
                  <a:srgbClr val="131A5A"/>
                </a:solidFill>
              </a:rPr>
            </a:br>
            <a:r>
              <a:rPr lang="ko-KR" altLang="en-US" sz="1600" dirty="0">
                <a:solidFill>
                  <a:srgbClr val="131A5A"/>
                </a:solidFill>
              </a:rPr>
              <a:t>라이브러리 꼬임</a:t>
            </a:r>
            <a:r>
              <a:rPr lang="en-US" altLang="ko-KR" sz="1600" dirty="0">
                <a:solidFill>
                  <a:srgbClr val="131A5A"/>
                </a:solidFill>
              </a:rPr>
              <a:t>, </a:t>
            </a:r>
            <a:r>
              <a:rPr lang="ko-KR" altLang="en-US" sz="1600" dirty="0">
                <a:solidFill>
                  <a:srgbClr val="131A5A"/>
                </a:solidFill>
              </a:rPr>
              <a:t>중복 변수 등으로 인해서 작동되지 않음</a:t>
            </a:r>
            <a:endParaRPr lang="en-US" altLang="ko-KR" sz="1600" dirty="0">
              <a:solidFill>
                <a:srgbClr val="131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988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1320C-DEEB-692B-B095-E9869EF3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BACD81-F998-98A0-8A91-33E9BE19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E9F6DA13-01FF-4503-838C-A8D0BFF65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9" y="53625"/>
            <a:ext cx="1512168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1F482D28-FEB1-DD5E-1FE4-FBC13F344CD3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성능 평가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10" name="내용 개체 틀 31">
            <a:extLst>
              <a:ext uri="{FF2B5EF4-FFF2-40B4-BE49-F238E27FC236}">
                <a16:creationId xmlns:a16="http://schemas.microsoft.com/office/drawing/2014/main" id="{6436A5E0-7E33-531E-484B-C74984655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545" y="1232400"/>
            <a:ext cx="8210254" cy="5004912"/>
          </a:xfrm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</a:pPr>
            <a:r>
              <a:rPr lang="en-US" altLang="ko-KR" sz="1800" dirty="0">
                <a:solidFill>
                  <a:srgbClr val="131A5A"/>
                </a:solidFill>
              </a:rPr>
              <a:t>Calibration &amp; Tracking Tag Movement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DB2D684-5980-142D-347A-D212D2412B77}"/>
              </a:ext>
            </a:extLst>
          </p:cNvPr>
          <p:cNvGrpSpPr/>
          <p:nvPr/>
        </p:nvGrpSpPr>
        <p:grpSpPr>
          <a:xfrm>
            <a:off x="4788024" y="1844825"/>
            <a:ext cx="3578205" cy="3384376"/>
            <a:chOff x="3416174" y="16062265"/>
            <a:chExt cx="4572001" cy="4033921"/>
          </a:xfrm>
        </p:grpSpPr>
        <p:sp>
          <p:nvSpPr>
            <p:cNvPr id="3" name="Rectangle 490">
              <a:extLst>
                <a:ext uri="{FF2B5EF4-FFF2-40B4-BE49-F238E27FC236}">
                  <a16:creationId xmlns:a16="http://schemas.microsoft.com/office/drawing/2014/main" id="{F38E3D41-1348-299D-C117-A7E26B994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362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" name="Rectangle 491">
              <a:extLst>
                <a:ext uri="{FF2B5EF4-FFF2-40B4-BE49-F238E27FC236}">
                  <a16:creationId xmlns:a16="http://schemas.microsoft.com/office/drawing/2014/main" id="{C75D1A1C-6F19-6D06-92C3-5C6D11B6B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362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" name="Rectangle 492">
              <a:extLst>
                <a:ext uri="{FF2B5EF4-FFF2-40B4-BE49-F238E27FC236}">
                  <a16:creationId xmlns:a16="http://schemas.microsoft.com/office/drawing/2014/main" id="{2FF967CA-FC42-A96E-4F7D-6168B9AA6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362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Rectangle 493">
              <a:extLst>
                <a:ext uri="{FF2B5EF4-FFF2-40B4-BE49-F238E27FC236}">
                  <a16:creationId xmlns:a16="http://schemas.microsoft.com/office/drawing/2014/main" id="{7CE8635C-34B7-AD1F-A7EE-D26D24E0B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462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" name="Rectangle 494">
              <a:extLst>
                <a:ext uri="{FF2B5EF4-FFF2-40B4-BE49-F238E27FC236}">
                  <a16:creationId xmlns:a16="http://schemas.microsoft.com/office/drawing/2014/main" id="{1AD61CB3-E527-5215-909A-3E20F1AC0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1049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Rectangle 496">
              <a:extLst>
                <a:ext uri="{FF2B5EF4-FFF2-40B4-BE49-F238E27FC236}">
                  <a16:creationId xmlns:a16="http://schemas.microsoft.com/office/drawing/2014/main" id="{2AB62CB3-C5D4-C5B1-8552-06A016ACF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562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Rectangle 497">
              <a:extLst>
                <a:ext uri="{FF2B5EF4-FFF2-40B4-BE49-F238E27FC236}">
                  <a16:creationId xmlns:a16="http://schemas.microsoft.com/office/drawing/2014/main" id="{8CB901D8-6556-3F1E-606E-B923B624D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324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Rectangle 499">
              <a:extLst>
                <a:ext uri="{FF2B5EF4-FFF2-40B4-BE49-F238E27FC236}">
                  <a16:creationId xmlns:a16="http://schemas.microsoft.com/office/drawing/2014/main" id="{F2B83396-8FBA-CAB5-E347-017CAD931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599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Rectangle 500">
              <a:extLst>
                <a:ext uri="{FF2B5EF4-FFF2-40B4-BE49-F238E27FC236}">
                  <a16:creationId xmlns:a16="http://schemas.microsoft.com/office/drawing/2014/main" id="{6C1191DA-72DB-F5A4-C670-461AFF526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187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502">
              <a:extLst>
                <a:ext uri="{FF2B5EF4-FFF2-40B4-BE49-F238E27FC236}">
                  <a16:creationId xmlns:a16="http://schemas.microsoft.com/office/drawing/2014/main" id="{18804AB2-259C-68EB-2EC4-A43A9D719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699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Rectangle 503">
              <a:extLst>
                <a:ext uri="{FF2B5EF4-FFF2-40B4-BE49-F238E27FC236}">
                  <a16:creationId xmlns:a16="http://schemas.microsoft.com/office/drawing/2014/main" id="{E470DF14-C4DE-7579-B6EB-8E491D9DA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9462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Rectangle 505">
              <a:extLst>
                <a:ext uri="{FF2B5EF4-FFF2-40B4-BE49-F238E27FC236}">
                  <a16:creationId xmlns:a16="http://schemas.microsoft.com/office/drawing/2014/main" id="{DBD4FB86-15CF-1676-A21C-023FA340B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0149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Rectangle 506">
              <a:extLst>
                <a:ext uri="{FF2B5EF4-FFF2-40B4-BE49-F238E27FC236}">
                  <a16:creationId xmlns:a16="http://schemas.microsoft.com/office/drawing/2014/main" id="{6CCDBBB6-00D4-8F37-1C0B-D540BE93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0149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Rectangle 508">
              <a:extLst>
                <a:ext uri="{FF2B5EF4-FFF2-40B4-BE49-F238E27FC236}">
                  <a16:creationId xmlns:a16="http://schemas.microsoft.com/office/drawing/2014/main" id="{229BA8A6-FD04-9E2A-6B4C-8D5CDD030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9249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Rectangle 509">
              <a:extLst>
                <a:ext uri="{FF2B5EF4-FFF2-40B4-BE49-F238E27FC236}">
                  <a16:creationId xmlns:a16="http://schemas.microsoft.com/office/drawing/2014/main" id="{93FDA57F-E123-1DA0-6814-84E6C9E23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2424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Rectangle 511">
              <a:extLst>
                <a:ext uri="{FF2B5EF4-FFF2-40B4-BE49-F238E27FC236}">
                  <a16:creationId xmlns:a16="http://schemas.microsoft.com/office/drawing/2014/main" id="{FED67AC1-4B2B-8912-77EF-A6563D70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9937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Rectangle 512">
              <a:extLst>
                <a:ext uri="{FF2B5EF4-FFF2-40B4-BE49-F238E27FC236}">
                  <a16:creationId xmlns:a16="http://schemas.microsoft.com/office/drawing/2014/main" id="{18DD9411-35A9-F0C6-0545-CB463E950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6287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Rectangle 514">
              <a:extLst>
                <a:ext uri="{FF2B5EF4-FFF2-40B4-BE49-F238E27FC236}">
                  <a16:creationId xmlns:a16="http://schemas.microsoft.com/office/drawing/2014/main" id="{1E842A86-9074-831D-1BCF-85A9F06EE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387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Rectangle 515">
              <a:extLst>
                <a:ext uri="{FF2B5EF4-FFF2-40B4-BE49-F238E27FC236}">
                  <a16:creationId xmlns:a16="http://schemas.microsoft.com/office/drawing/2014/main" id="{4BA9AE9A-EDEC-728B-E5AF-C94A08BDD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8562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Rectangle 517">
              <a:extLst>
                <a:ext uri="{FF2B5EF4-FFF2-40B4-BE49-F238E27FC236}">
                  <a16:creationId xmlns:a16="http://schemas.microsoft.com/office/drawing/2014/main" id="{B2C313A8-425A-1F45-058E-F7EFB47D2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4487" y="16387786"/>
              <a:ext cx="12700" cy="32766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518">
              <a:extLst>
                <a:ext uri="{FF2B5EF4-FFF2-40B4-BE49-F238E27FC236}">
                  <a16:creationId xmlns:a16="http://schemas.microsoft.com/office/drawing/2014/main" id="{02A330A7-0D37-D9E8-D044-EACF91425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9249" y="16390961"/>
              <a:ext cx="6350" cy="3265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520">
              <a:extLst>
                <a:ext uri="{FF2B5EF4-FFF2-40B4-BE49-F238E27FC236}">
                  <a16:creationId xmlns:a16="http://schemas.microsoft.com/office/drawing/2014/main" id="{073E8C72-86B3-C1AA-ACDE-09CE769C3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9459599"/>
              <a:ext cx="4144963" cy="127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Rectangle 521">
              <a:extLst>
                <a:ext uri="{FF2B5EF4-FFF2-40B4-BE49-F238E27FC236}">
                  <a16:creationId xmlns:a16="http://schemas.microsoft.com/office/drawing/2014/main" id="{85D9AC4F-6B2C-D025-B6DE-2F0103F80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9459599"/>
              <a:ext cx="4138613" cy="6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Rectangle 523">
              <a:extLst>
                <a:ext uri="{FF2B5EF4-FFF2-40B4-BE49-F238E27FC236}">
                  <a16:creationId xmlns:a16="http://schemas.microsoft.com/office/drawing/2014/main" id="{4BA75365-1FC2-FAD2-CB6A-4D9D69BCB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9034149"/>
              <a:ext cx="4144963" cy="127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Rectangle 524">
              <a:extLst>
                <a:ext uri="{FF2B5EF4-FFF2-40B4-BE49-F238E27FC236}">
                  <a16:creationId xmlns:a16="http://schemas.microsoft.com/office/drawing/2014/main" id="{C10FE594-8BE2-FC75-98D0-C4E44E0AE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9037324"/>
              <a:ext cx="4138613" cy="6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Rectangle 526">
              <a:extLst>
                <a:ext uri="{FF2B5EF4-FFF2-40B4-BE49-F238E27FC236}">
                  <a16:creationId xmlns:a16="http://schemas.microsoft.com/office/drawing/2014/main" id="{235030F1-C613-DF92-9937-F100D3AD5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8615049"/>
              <a:ext cx="4144963" cy="127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527">
              <a:extLst>
                <a:ext uri="{FF2B5EF4-FFF2-40B4-BE49-F238E27FC236}">
                  <a16:creationId xmlns:a16="http://schemas.microsoft.com/office/drawing/2014/main" id="{187B7D99-D965-1B8E-95F8-DE8E9DCFF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8615049"/>
              <a:ext cx="4138613" cy="6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Rectangle 529">
              <a:extLst>
                <a:ext uri="{FF2B5EF4-FFF2-40B4-BE49-F238E27FC236}">
                  <a16:creationId xmlns:a16="http://schemas.microsoft.com/office/drawing/2014/main" id="{89ABBA59-DF4F-8CF5-6CD7-D1D7AC421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8188011"/>
              <a:ext cx="4144963" cy="127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Rectangle 530">
              <a:extLst>
                <a:ext uri="{FF2B5EF4-FFF2-40B4-BE49-F238E27FC236}">
                  <a16:creationId xmlns:a16="http://schemas.microsoft.com/office/drawing/2014/main" id="{00D33B34-852A-58B5-7B9F-B9AC81B8F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8192774"/>
              <a:ext cx="4138613" cy="6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Rectangle 532">
              <a:extLst>
                <a:ext uri="{FF2B5EF4-FFF2-40B4-BE49-F238E27FC236}">
                  <a16:creationId xmlns:a16="http://schemas.microsoft.com/office/drawing/2014/main" id="{371DA580-9E62-F4E0-9027-51E2E3228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7768911"/>
              <a:ext cx="4144963" cy="127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Rectangle 533">
              <a:extLst>
                <a:ext uri="{FF2B5EF4-FFF2-40B4-BE49-F238E27FC236}">
                  <a16:creationId xmlns:a16="http://schemas.microsoft.com/office/drawing/2014/main" id="{AB80CB60-1D10-3AC9-FC0B-18D1044EB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7770499"/>
              <a:ext cx="4138613" cy="6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Rectangle 535">
              <a:extLst>
                <a:ext uri="{FF2B5EF4-FFF2-40B4-BE49-F238E27FC236}">
                  <a16:creationId xmlns:a16="http://schemas.microsoft.com/office/drawing/2014/main" id="{8609002A-E4B2-91C1-97A8-F1BE84668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7341874"/>
              <a:ext cx="4144963" cy="127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Rectangle 536">
              <a:extLst>
                <a:ext uri="{FF2B5EF4-FFF2-40B4-BE49-F238E27FC236}">
                  <a16:creationId xmlns:a16="http://schemas.microsoft.com/office/drawing/2014/main" id="{F665CACB-4CBE-08E3-5F5F-13E2D3C9E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7348224"/>
              <a:ext cx="4138613" cy="6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Rectangle 538">
              <a:extLst>
                <a:ext uri="{FF2B5EF4-FFF2-40B4-BE49-F238E27FC236}">
                  <a16:creationId xmlns:a16="http://schemas.microsoft.com/office/drawing/2014/main" id="{6498C9B3-A65D-99CE-DEA2-708D6281E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6922774"/>
              <a:ext cx="4144963" cy="127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" name="Rectangle 539">
              <a:extLst>
                <a:ext uri="{FF2B5EF4-FFF2-40B4-BE49-F238E27FC236}">
                  <a16:creationId xmlns:a16="http://schemas.microsoft.com/office/drawing/2014/main" id="{19F1FBE4-253A-9E03-A88C-12BC6EEBC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6925949"/>
              <a:ext cx="4138613" cy="6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" name="Rectangle 541">
              <a:extLst>
                <a:ext uri="{FF2B5EF4-FFF2-40B4-BE49-F238E27FC236}">
                  <a16:creationId xmlns:a16="http://schemas.microsoft.com/office/drawing/2014/main" id="{E729E9F3-93FA-D82F-06FE-7D52BF63F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6502086"/>
              <a:ext cx="4144963" cy="1270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Rectangle 542">
              <a:extLst>
                <a:ext uri="{FF2B5EF4-FFF2-40B4-BE49-F238E27FC236}">
                  <a16:creationId xmlns:a16="http://schemas.microsoft.com/office/drawing/2014/main" id="{44B778CB-0067-50E0-A260-64A38DEDD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212" y="16502086"/>
              <a:ext cx="4138613" cy="6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Line 544">
              <a:extLst>
                <a:ext uri="{FF2B5EF4-FFF2-40B4-BE49-F238E27FC236}">
                  <a16:creationId xmlns:a16="http://schemas.microsoft.com/office/drawing/2014/main" id="{4138E2F1-1800-BB9D-41DC-A547895A7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9656449"/>
              <a:ext cx="413861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Line 545">
              <a:extLst>
                <a:ext uri="{FF2B5EF4-FFF2-40B4-BE49-F238E27FC236}">
                  <a16:creationId xmlns:a16="http://schemas.microsoft.com/office/drawing/2014/main" id="{6DD697CB-845B-505A-802D-A19E12AD7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6390961"/>
              <a:ext cx="4138613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Line 546">
              <a:extLst>
                <a:ext uri="{FF2B5EF4-FFF2-40B4-BE49-F238E27FC236}">
                  <a16:creationId xmlns:a16="http://schemas.microsoft.com/office/drawing/2014/main" id="{F390461E-2CD5-93F4-5561-A7B6957800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3537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Line 547">
              <a:extLst>
                <a:ext uri="{FF2B5EF4-FFF2-40B4-BE49-F238E27FC236}">
                  <a16:creationId xmlns:a16="http://schemas.microsoft.com/office/drawing/2014/main" id="{0FBEB5FE-7C58-999D-272C-C61AB0A05B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4224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" name="Line 548">
              <a:extLst>
                <a:ext uri="{FF2B5EF4-FFF2-40B4-BE49-F238E27FC236}">
                  <a16:creationId xmlns:a16="http://schemas.microsoft.com/office/drawing/2014/main" id="{FFF89E5D-2E2D-E2ED-2FE0-5E3669C21E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6499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" name="Line 549">
              <a:extLst>
                <a:ext uri="{FF2B5EF4-FFF2-40B4-BE49-F238E27FC236}">
                  <a16:creationId xmlns:a16="http://schemas.microsoft.com/office/drawing/2014/main" id="{E04EFC3A-7667-A50C-09C2-A69C6E9FFD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70362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" name="Line 550">
              <a:extLst>
                <a:ext uri="{FF2B5EF4-FFF2-40B4-BE49-F238E27FC236}">
                  <a16:creationId xmlns:a16="http://schemas.microsoft.com/office/drawing/2014/main" id="{18EEAF2C-C08A-C3B7-0146-26540C2CC8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92637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" name="Line 551">
              <a:extLst>
                <a:ext uri="{FF2B5EF4-FFF2-40B4-BE49-F238E27FC236}">
                  <a16:creationId xmlns:a16="http://schemas.microsoft.com/office/drawing/2014/main" id="{37FF0815-0CDE-78AA-39F5-0BE6A6491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13324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" name="Line 552">
              <a:extLst>
                <a:ext uri="{FF2B5EF4-FFF2-40B4-BE49-F238E27FC236}">
                  <a16:creationId xmlns:a16="http://schemas.microsoft.com/office/drawing/2014/main" id="{25644E07-83B7-1F5C-ED6F-9ED6A7D6F9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5599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" name="Line 553">
              <a:extLst>
                <a:ext uri="{FF2B5EF4-FFF2-40B4-BE49-F238E27FC236}">
                  <a16:creationId xmlns:a16="http://schemas.microsoft.com/office/drawing/2014/main" id="{7687265B-39FA-60BF-1591-4FEA8F59F2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9462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4" name="Line 554">
              <a:extLst>
                <a:ext uri="{FF2B5EF4-FFF2-40B4-BE49-F238E27FC236}">
                  <a16:creationId xmlns:a16="http://schemas.microsoft.com/office/drawing/2014/main" id="{A940CC9C-6B54-FCC7-EC3D-E522AC5DF6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81737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Line 555">
              <a:extLst>
                <a:ext uri="{FF2B5EF4-FFF2-40B4-BE49-F238E27FC236}">
                  <a16:creationId xmlns:a16="http://schemas.microsoft.com/office/drawing/2014/main" id="{8B3BDF19-5F71-1C2C-E7D0-FEF596D77C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02424" y="19615174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" name="Line 556">
              <a:extLst>
                <a:ext uri="{FF2B5EF4-FFF2-40B4-BE49-F238E27FC236}">
                  <a16:creationId xmlns:a16="http://schemas.microsoft.com/office/drawing/2014/main" id="{F609A188-2B26-4734-27E1-694CFEDB9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3537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" name="Line 557">
              <a:extLst>
                <a:ext uri="{FF2B5EF4-FFF2-40B4-BE49-F238E27FC236}">
                  <a16:creationId xmlns:a16="http://schemas.microsoft.com/office/drawing/2014/main" id="{D76880A8-8D02-C129-EE69-A5A204197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4224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Line 558">
              <a:extLst>
                <a:ext uri="{FF2B5EF4-FFF2-40B4-BE49-F238E27FC236}">
                  <a16:creationId xmlns:a16="http://schemas.microsoft.com/office/drawing/2014/main" id="{DD9ECAB1-3277-8B73-7DA7-326EA252B4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6499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Line 559">
              <a:extLst>
                <a:ext uri="{FF2B5EF4-FFF2-40B4-BE49-F238E27FC236}">
                  <a16:creationId xmlns:a16="http://schemas.microsoft.com/office/drawing/2014/main" id="{A7A375BB-9732-0A4D-8E83-9E63A6389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0362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Line 560">
              <a:extLst>
                <a:ext uri="{FF2B5EF4-FFF2-40B4-BE49-F238E27FC236}">
                  <a16:creationId xmlns:a16="http://schemas.microsoft.com/office/drawing/2014/main" id="{FFF8D2B3-BDDA-DEDF-77A9-F78C83458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92637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Line 561">
              <a:extLst>
                <a:ext uri="{FF2B5EF4-FFF2-40B4-BE49-F238E27FC236}">
                  <a16:creationId xmlns:a16="http://schemas.microsoft.com/office/drawing/2014/main" id="{ECC4F54B-9369-D8FF-6173-D516FDF6F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3324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Line 562">
              <a:extLst>
                <a:ext uri="{FF2B5EF4-FFF2-40B4-BE49-F238E27FC236}">
                  <a16:creationId xmlns:a16="http://schemas.microsoft.com/office/drawing/2014/main" id="{D065120A-5DEC-BFBE-BA4F-697FF6B02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5599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Line 563">
              <a:extLst>
                <a:ext uri="{FF2B5EF4-FFF2-40B4-BE49-F238E27FC236}">
                  <a16:creationId xmlns:a16="http://schemas.microsoft.com/office/drawing/2014/main" id="{413A03C0-8B12-0731-2117-DC272630E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9462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Line 564">
              <a:extLst>
                <a:ext uri="{FF2B5EF4-FFF2-40B4-BE49-F238E27FC236}">
                  <a16:creationId xmlns:a16="http://schemas.microsoft.com/office/drawing/2014/main" id="{9127E46D-150B-CBE0-C3C1-EA59DA72F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1737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Line 565">
              <a:extLst>
                <a:ext uri="{FF2B5EF4-FFF2-40B4-BE49-F238E27FC236}">
                  <a16:creationId xmlns:a16="http://schemas.microsoft.com/office/drawing/2014/main" id="{7076B41D-5FF0-96A0-BC98-4E8C2E649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2424" y="16390961"/>
              <a:ext cx="0" cy="41275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566">
              <a:extLst>
                <a:ext uri="{FF2B5EF4-FFF2-40B4-BE49-F238E27FC236}">
                  <a16:creationId xmlns:a16="http://schemas.microsoft.com/office/drawing/2014/main" id="{BD69AD6C-D0DA-8E21-A157-B71C99C08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462" y="19727886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0.4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567">
              <a:extLst>
                <a:ext uri="{FF2B5EF4-FFF2-40B4-BE49-F238E27FC236}">
                  <a16:creationId xmlns:a16="http://schemas.microsoft.com/office/drawing/2014/main" id="{7CC23EC5-6F19-AA5A-1585-55EAD9FB4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6912" y="19727886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0.6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568">
              <a:extLst>
                <a:ext uri="{FF2B5EF4-FFF2-40B4-BE49-F238E27FC236}">
                  <a16:creationId xmlns:a16="http://schemas.microsoft.com/office/drawing/2014/main" id="{58F6F71B-93E4-D8DE-D9B3-6AD472680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012" y="19727886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0.8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569">
              <a:extLst>
                <a:ext uri="{FF2B5EF4-FFF2-40B4-BE49-F238E27FC236}">
                  <a16:creationId xmlns:a16="http://schemas.microsoft.com/office/drawing/2014/main" id="{82A4C274-74E5-93E0-7400-8897A864D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2262" y="19727886"/>
              <a:ext cx="1270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Rectangle 570">
              <a:extLst>
                <a:ext uri="{FF2B5EF4-FFF2-40B4-BE49-F238E27FC236}">
                  <a16:creationId xmlns:a16="http://schemas.microsoft.com/office/drawing/2014/main" id="{65B21A86-76C6-891A-E510-A2D065C5B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149" y="19727886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1.2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Rectangle 571">
              <a:extLst>
                <a:ext uri="{FF2B5EF4-FFF2-40B4-BE49-F238E27FC236}">
                  <a16:creationId xmlns:a16="http://schemas.microsoft.com/office/drawing/2014/main" id="{E33A1C40-E607-D9AB-E174-96F277C79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7599" y="19727886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1.4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572">
              <a:extLst>
                <a:ext uri="{FF2B5EF4-FFF2-40B4-BE49-F238E27FC236}">
                  <a16:creationId xmlns:a16="http://schemas.microsoft.com/office/drawing/2014/main" id="{15D6824C-3A93-349F-990D-206B3D625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6699" y="19727886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1.6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573">
              <a:extLst>
                <a:ext uri="{FF2B5EF4-FFF2-40B4-BE49-F238E27FC236}">
                  <a16:creationId xmlns:a16="http://schemas.microsoft.com/office/drawing/2014/main" id="{1227EEE3-2FED-434F-F1C7-BC72B9E09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7387" y="19727886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1.8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574">
              <a:extLst>
                <a:ext uri="{FF2B5EF4-FFF2-40B4-BE49-F238E27FC236}">
                  <a16:creationId xmlns:a16="http://schemas.microsoft.com/office/drawing/2014/main" id="{842883CB-1EC3-7A2E-BE0D-3D4055688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3637" y="19727886"/>
              <a:ext cx="1270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Rectangle 575">
              <a:extLst>
                <a:ext uri="{FF2B5EF4-FFF2-40B4-BE49-F238E27FC236}">
                  <a16:creationId xmlns:a16="http://schemas.microsoft.com/office/drawing/2014/main" id="{98D2D29D-D61D-76CC-C8AF-5906F4249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1937" y="19727886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2.2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Rectangle 576">
              <a:extLst>
                <a:ext uri="{FF2B5EF4-FFF2-40B4-BE49-F238E27FC236}">
                  <a16:creationId xmlns:a16="http://schemas.microsoft.com/office/drawing/2014/main" id="{9FEC2D98-518C-3175-6005-4BD6B6BD7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7399" y="19905686"/>
              <a:ext cx="693738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X</a:t>
              </a:r>
              <a:r>
                <a:rPr kumimoji="0" lang="ko-KR" altLang="ko-KR" sz="11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Position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" name="Line 577">
              <a:extLst>
                <a:ext uri="{FF2B5EF4-FFF2-40B4-BE49-F238E27FC236}">
                  <a16:creationId xmlns:a16="http://schemas.microsoft.com/office/drawing/2014/main" id="{93312DF7-5851-CEE4-8BAC-C0F9705D87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3212" y="16390961"/>
              <a:ext cx="0" cy="32654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Line 578">
              <a:extLst>
                <a:ext uri="{FF2B5EF4-FFF2-40B4-BE49-F238E27FC236}">
                  <a16:creationId xmlns:a16="http://schemas.microsoft.com/office/drawing/2014/main" id="{E95A8980-9E24-6D4A-E631-AF5639C08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81824" y="16390961"/>
              <a:ext cx="0" cy="326548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Line 579">
              <a:extLst>
                <a:ext uri="{FF2B5EF4-FFF2-40B4-BE49-F238E27FC236}">
                  <a16:creationId xmlns:a16="http://schemas.microsoft.com/office/drawing/2014/main" id="{894FBBDC-2922-AA38-C712-18A2CA363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9462774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Line 580">
              <a:extLst>
                <a:ext uri="{FF2B5EF4-FFF2-40B4-BE49-F238E27FC236}">
                  <a16:creationId xmlns:a16="http://schemas.microsoft.com/office/drawing/2014/main" id="{00E9BC0A-9F67-2A07-943B-9D89E9654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9040499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Line 581">
              <a:extLst>
                <a:ext uri="{FF2B5EF4-FFF2-40B4-BE49-F238E27FC236}">
                  <a16:creationId xmlns:a16="http://schemas.microsoft.com/office/drawing/2014/main" id="{0E5EEEE6-B9E9-311B-02BB-6CF34D0004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8618224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Line 582">
              <a:extLst>
                <a:ext uri="{FF2B5EF4-FFF2-40B4-BE49-F238E27FC236}">
                  <a16:creationId xmlns:a16="http://schemas.microsoft.com/office/drawing/2014/main" id="{CF2414D3-BA04-9112-D2D4-9A4D035A2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8195949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Line 583">
              <a:extLst>
                <a:ext uri="{FF2B5EF4-FFF2-40B4-BE49-F238E27FC236}">
                  <a16:creationId xmlns:a16="http://schemas.microsoft.com/office/drawing/2014/main" id="{21DED568-4068-F815-27FA-02CBC49A5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7773674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Line 584">
              <a:extLst>
                <a:ext uri="{FF2B5EF4-FFF2-40B4-BE49-F238E27FC236}">
                  <a16:creationId xmlns:a16="http://schemas.microsoft.com/office/drawing/2014/main" id="{4ECF1BB1-0732-C722-B09B-C8506A829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7351399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Line 585">
              <a:extLst>
                <a:ext uri="{FF2B5EF4-FFF2-40B4-BE49-F238E27FC236}">
                  <a16:creationId xmlns:a16="http://schemas.microsoft.com/office/drawing/2014/main" id="{B7E4A17D-0DA8-A023-B150-A74BE7A5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6929124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Line 586">
              <a:extLst>
                <a:ext uri="{FF2B5EF4-FFF2-40B4-BE49-F238E27FC236}">
                  <a16:creationId xmlns:a16="http://schemas.microsoft.com/office/drawing/2014/main" id="{47574139-51A6-FD6B-DA2D-97FCAA8F3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212" y="16505261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Line 587">
              <a:extLst>
                <a:ext uri="{FF2B5EF4-FFF2-40B4-BE49-F238E27FC236}">
                  <a16:creationId xmlns:a16="http://schemas.microsoft.com/office/drawing/2014/main" id="{86788508-5745-BDF3-739C-7765C46177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40549" y="19462774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Line 588">
              <a:extLst>
                <a:ext uri="{FF2B5EF4-FFF2-40B4-BE49-F238E27FC236}">
                  <a16:creationId xmlns:a16="http://schemas.microsoft.com/office/drawing/2014/main" id="{FDDA747A-C9CC-02A7-3E11-42D97A4F8F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40549" y="19040499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Line 589">
              <a:extLst>
                <a:ext uri="{FF2B5EF4-FFF2-40B4-BE49-F238E27FC236}">
                  <a16:creationId xmlns:a16="http://schemas.microsoft.com/office/drawing/2014/main" id="{FB4BE0E2-4315-5FAF-B4F2-F23F896FC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40549" y="18618224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Line 590">
              <a:extLst>
                <a:ext uri="{FF2B5EF4-FFF2-40B4-BE49-F238E27FC236}">
                  <a16:creationId xmlns:a16="http://schemas.microsoft.com/office/drawing/2014/main" id="{798663BD-A300-724F-649D-190BCAAFAB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40549" y="18195949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Line 591">
              <a:extLst>
                <a:ext uri="{FF2B5EF4-FFF2-40B4-BE49-F238E27FC236}">
                  <a16:creationId xmlns:a16="http://schemas.microsoft.com/office/drawing/2014/main" id="{64165A89-A8EE-CADF-6B04-786912138B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40549" y="17773674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Line 592">
              <a:extLst>
                <a:ext uri="{FF2B5EF4-FFF2-40B4-BE49-F238E27FC236}">
                  <a16:creationId xmlns:a16="http://schemas.microsoft.com/office/drawing/2014/main" id="{CD68832F-BB53-91A1-71A4-EB37F928DD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40549" y="17351399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3" name="Line 593">
              <a:extLst>
                <a:ext uri="{FF2B5EF4-FFF2-40B4-BE49-F238E27FC236}">
                  <a16:creationId xmlns:a16="http://schemas.microsoft.com/office/drawing/2014/main" id="{32566F22-7730-D82B-45FD-69071FD92B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40549" y="16929124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4" name="Line 594">
              <a:extLst>
                <a:ext uri="{FF2B5EF4-FFF2-40B4-BE49-F238E27FC236}">
                  <a16:creationId xmlns:a16="http://schemas.microsoft.com/office/drawing/2014/main" id="{0E98F239-76FD-5B95-6265-44529F7ADB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40549" y="16505261"/>
              <a:ext cx="41275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5" name="Rectangle 595">
              <a:extLst>
                <a:ext uri="{FF2B5EF4-FFF2-40B4-BE49-F238E27FC236}">
                  <a16:creationId xmlns:a16="http://schemas.microsoft.com/office/drawing/2014/main" id="{3D771689-1B1A-2D7A-6A31-4E551BA9F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624" y="19397686"/>
              <a:ext cx="1270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6" name="Rectangle 596">
              <a:extLst>
                <a:ext uri="{FF2B5EF4-FFF2-40B4-BE49-F238E27FC236}">
                  <a16:creationId xmlns:a16="http://schemas.microsoft.com/office/drawing/2014/main" id="{CA41798D-7C5C-D338-A879-95D16F396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024" y="18976999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1.2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Rectangle 597">
              <a:extLst>
                <a:ext uri="{FF2B5EF4-FFF2-40B4-BE49-F238E27FC236}">
                  <a16:creationId xmlns:a16="http://schemas.microsoft.com/office/drawing/2014/main" id="{61F32905-1032-E7FD-ED77-1223AB2E3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024" y="18557899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1.4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Rectangle 598">
              <a:extLst>
                <a:ext uri="{FF2B5EF4-FFF2-40B4-BE49-F238E27FC236}">
                  <a16:creationId xmlns:a16="http://schemas.microsoft.com/office/drawing/2014/main" id="{2D753D72-8807-F566-A2CA-1D3137BB7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024" y="18130861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1.6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Rectangle 599">
              <a:extLst>
                <a:ext uri="{FF2B5EF4-FFF2-40B4-BE49-F238E27FC236}">
                  <a16:creationId xmlns:a16="http://schemas.microsoft.com/office/drawing/2014/main" id="{7333DB15-90D2-4F5F-C742-B8771AE83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024" y="17711761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1.8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600">
              <a:extLst>
                <a:ext uri="{FF2B5EF4-FFF2-40B4-BE49-F238E27FC236}">
                  <a16:creationId xmlns:a16="http://schemas.microsoft.com/office/drawing/2014/main" id="{E3B99FB2-8E38-7E4E-870C-40F3F8A66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624" y="17284724"/>
              <a:ext cx="1270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Rectangle 601">
              <a:extLst>
                <a:ext uri="{FF2B5EF4-FFF2-40B4-BE49-F238E27FC236}">
                  <a16:creationId xmlns:a16="http://schemas.microsoft.com/office/drawing/2014/main" id="{A703372D-236A-6AB2-A7BB-42D833495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024" y="16865624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2.2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Rectangle 602">
              <a:extLst>
                <a:ext uri="{FF2B5EF4-FFF2-40B4-BE49-F238E27FC236}">
                  <a16:creationId xmlns:a16="http://schemas.microsoft.com/office/drawing/2014/main" id="{02BBF02F-1C98-2255-5C9F-E3B2865E6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024" y="16446524"/>
              <a:ext cx="228600" cy="165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2.4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" name="Rectangle 603">
              <a:extLst>
                <a:ext uri="{FF2B5EF4-FFF2-40B4-BE49-F238E27FC236}">
                  <a16:creationId xmlns:a16="http://schemas.microsoft.com/office/drawing/2014/main" id="{54E2166A-BC83-E82E-667C-3412C2FAEC8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35224" y="18168961"/>
              <a:ext cx="1524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Y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" name="Rectangle 604">
              <a:extLst>
                <a:ext uri="{FF2B5EF4-FFF2-40B4-BE49-F238E27FC236}">
                  <a16:creationId xmlns:a16="http://schemas.microsoft.com/office/drawing/2014/main" id="{A43EB0BC-2437-F2FC-9D12-149812B87D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60624" y="18105461"/>
              <a:ext cx="1016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Rectangle 605">
              <a:extLst>
                <a:ext uri="{FF2B5EF4-FFF2-40B4-BE49-F238E27FC236}">
                  <a16:creationId xmlns:a16="http://schemas.microsoft.com/office/drawing/2014/main" id="{4469337A-242F-6B18-95AE-52D5E60472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32049" y="18038786"/>
              <a:ext cx="15875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" name="Rectangle 606">
              <a:extLst>
                <a:ext uri="{FF2B5EF4-FFF2-40B4-BE49-F238E27FC236}">
                  <a16:creationId xmlns:a16="http://schemas.microsoft.com/office/drawing/2014/main" id="{C0DE104F-3070-9216-EA56-45B55E5CE8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41574" y="17953061"/>
              <a:ext cx="1397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" name="Rectangle 607">
              <a:extLst>
                <a:ext uri="{FF2B5EF4-FFF2-40B4-BE49-F238E27FC236}">
                  <a16:creationId xmlns:a16="http://schemas.microsoft.com/office/drawing/2014/main" id="{1FD07117-222B-0251-F6A9-39ADC831D1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44749" y="17880036"/>
              <a:ext cx="13335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8" name="Rectangle 608">
              <a:extLst>
                <a:ext uri="{FF2B5EF4-FFF2-40B4-BE49-F238E27FC236}">
                  <a16:creationId xmlns:a16="http://schemas.microsoft.com/office/drawing/2014/main" id="{89773349-6D36-FC2B-C318-CC00A3648B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63799" y="17829236"/>
              <a:ext cx="9525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" name="Rectangle 609">
              <a:extLst>
                <a:ext uri="{FF2B5EF4-FFF2-40B4-BE49-F238E27FC236}">
                  <a16:creationId xmlns:a16="http://schemas.microsoft.com/office/drawing/2014/main" id="{AA3581FE-F8E7-1C39-0ECC-1F0F30160F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60624" y="17794311"/>
              <a:ext cx="1016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" name="Rectangle 610">
              <a:extLst>
                <a:ext uri="{FF2B5EF4-FFF2-40B4-BE49-F238E27FC236}">
                  <a16:creationId xmlns:a16="http://schemas.microsoft.com/office/drawing/2014/main" id="{8DE9195D-A95B-CD58-7EF7-2C69A1F2DA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63799" y="17759386"/>
              <a:ext cx="9525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1" name="Rectangle 611">
              <a:extLst>
                <a:ext uri="{FF2B5EF4-FFF2-40B4-BE49-F238E27FC236}">
                  <a16:creationId xmlns:a16="http://schemas.microsoft.com/office/drawing/2014/main" id="{1F15DC6E-155C-B7E4-66E7-12E6DDCB40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41574" y="17705411"/>
              <a:ext cx="1397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" name="Rectangle 612">
              <a:extLst>
                <a:ext uri="{FF2B5EF4-FFF2-40B4-BE49-F238E27FC236}">
                  <a16:creationId xmlns:a16="http://schemas.microsoft.com/office/drawing/2014/main" id="{BFE8608A-5D6E-7605-F7C5-AA99114FB5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41574" y="17629211"/>
              <a:ext cx="1397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" name="Rectangle 613">
              <a:extLst>
                <a:ext uri="{FF2B5EF4-FFF2-40B4-BE49-F238E27FC236}">
                  <a16:creationId xmlns:a16="http://schemas.microsoft.com/office/drawing/2014/main" id="{6BA7DEAA-5FBE-62F3-33D6-935A5951B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603" y="16062265"/>
              <a:ext cx="4136572" cy="256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400" b="1" dirty="0">
                  <a:solidFill>
                    <a:srgbClr val="000000"/>
                  </a:solidFill>
                </a:rPr>
                <a:t>T</a:t>
              </a:r>
              <a:r>
                <a:rPr kumimoji="0" lang="en-US" altLang="ko-KR" sz="14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  <a:t>racking Tag Movement</a:t>
              </a:r>
              <a:endPara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4" name="Freeform 614">
              <a:extLst>
                <a:ext uri="{FF2B5EF4-FFF2-40B4-BE49-F238E27FC236}">
                  <a16:creationId xmlns:a16="http://schemas.microsoft.com/office/drawing/2014/main" id="{ED82C8E3-30B1-A45B-2DD7-2F2B32452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862" y="17265674"/>
              <a:ext cx="3103563" cy="2092325"/>
            </a:xfrm>
            <a:custGeom>
              <a:avLst/>
              <a:gdLst>
                <a:gd name="T0" fmla="*/ 0 w 1955"/>
                <a:gd name="T1" fmla="*/ 70 h 1318"/>
                <a:gd name="T2" fmla="*/ 0 w 1955"/>
                <a:gd name="T3" fmla="*/ 209 h 1318"/>
                <a:gd name="T4" fmla="*/ 0 w 1955"/>
                <a:gd name="T5" fmla="*/ 347 h 1318"/>
                <a:gd name="T6" fmla="*/ 0 w 1955"/>
                <a:gd name="T7" fmla="*/ 486 h 1318"/>
                <a:gd name="T8" fmla="*/ 0 w 1955"/>
                <a:gd name="T9" fmla="*/ 624 h 1318"/>
                <a:gd name="T10" fmla="*/ 0 w 1955"/>
                <a:gd name="T11" fmla="*/ 763 h 1318"/>
                <a:gd name="T12" fmla="*/ 0 w 1955"/>
                <a:gd name="T13" fmla="*/ 902 h 1318"/>
                <a:gd name="T14" fmla="*/ 0 w 1955"/>
                <a:gd name="T15" fmla="*/ 1041 h 1318"/>
                <a:gd name="T16" fmla="*/ 0 w 1955"/>
                <a:gd name="T17" fmla="*/ 1179 h 1318"/>
                <a:gd name="T18" fmla="*/ 0 w 1955"/>
                <a:gd name="T19" fmla="*/ 1318 h 1318"/>
                <a:gd name="T20" fmla="*/ 80 w 1955"/>
                <a:gd name="T21" fmla="*/ 1280 h 1318"/>
                <a:gd name="T22" fmla="*/ 160 w 1955"/>
                <a:gd name="T23" fmla="*/ 1242 h 1318"/>
                <a:gd name="T24" fmla="*/ 240 w 1955"/>
                <a:gd name="T25" fmla="*/ 1204 h 1318"/>
                <a:gd name="T26" fmla="*/ 320 w 1955"/>
                <a:gd name="T27" fmla="*/ 1167 h 1318"/>
                <a:gd name="T28" fmla="*/ 399 w 1955"/>
                <a:gd name="T29" fmla="*/ 1129 h 1318"/>
                <a:gd name="T30" fmla="*/ 479 w 1955"/>
                <a:gd name="T31" fmla="*/ 1091 h 1318"/>
                <a:gd name="T32" fmla="*/ 559 w 1955"/>
                <a:gd name="T33" fmla="*/ 1053 h 1318"/>
                <a:gd name="T34" fmla="*/ 639 w 1955"/>
                <a:gd name="T35" fmla="*/ 1015 h 1318"/>
                <a:gd name="T36" fmla="*/ 719 w 1955"/>
                <a:gd name="T37" fmla="*/ 978 h 1318"/>
                <a:gd name="T38" fmla="*/ 789 w 1955"/>
                <a:gd name="T39" fmla="*/ 959 h 1318"/>
                <a:gd name="T40" fmla="*/ 849 w 1955"/>
                <a:gd name="T41" fmla="*/ 959 h 1318"/>
                <a:gd name="T42" fmla="*/ 909 w 1955"/>
                <a:gd name="T43" fmla="*/ 959 h 1318"/>
                <a:gd name="T44" fmla="*/ 969 w 1955"/>
                <a:gd name="T45" fmla="*/ 959 h 1318"/>
                <a:gd name="T46" fmla="*/ 1029 w 1955"/>
                <a:gd name="T47" fmla="*/ 959 h 1318"/>
                <a:gd name="T48" fmla="*/ 1090 w 1955"/>
                <a:gd name="T49" fmla="*/ 959 h 1318"/>
                <a:gd name="T50" fmla="*/ 1150 w 1955"/>
                <a:gd name="T51" fmla="*/ 959 h 1318"/>
                <a:gd name="T52" fmla="*/ 1210 w 1955"/>
                <a:gd name="T53" fmla="*/ 959 h 1318"/>
                <a:gd name="T54" fmla="*/ 1270 w 1955"/>
                <a:gd name="T55" fmla="*/ 959 h 1318"/>
                <a:gd name="T56" fmla="*/ 1330 w 1955"/>
                <a:gd name="T57" fmla="*/ 959 h 1318"/>
                <a:gd name="T58" fmla="*/ 1396 w 1955"/>
                <a:gd name="T59" fmla="*/ 877 h 1318"/>
                <a:gd name="T60" fmla="*/ 1462 w 1955"/>
                <a:gd name="T61" fmla="*/ 796 h 1318"/>
                <a:gd name="T62" fmla="*/ 1528 w 1955"/>
                <a:gd name="T63" fmla="*/ 715 h 1318"/>
                <a:gd name="T64" fmla="*/ 1594 w 1955"/>
                <a:gd name="T65" fmla="*/ 634 h 1318"/>
                <a:gd name="T66" fmla="*/ 1659 w 1955"/>
                <a:gd name="T67" fmla="*/ 552 h 1318"/>
                <a:gd name="T68" fmla="*/ 1725 w 1955"/>
                <a:gd name="T69" fmla="*/ 471 h 1318"/>
                <a:gd name="T70" fmla="*/ 1791 w 1955"/>
                <a:gd name="T71" fmla="*/ 390 h 1318"/>
                <a:gd name="T72" fmla="*/ 1857 w 1955"/>
                <a:gd name="T73" fmla="*/ 309 h 1318"/>
                <a:gd name="T74" fmla="*/ 1923 w 1955"/>
                <a:gd name="T75" fmla="*/ 228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55" h="1318">
                  <a:moveTo>
                    <a:pt x="0" y="0"/>
                  </a:moveTo>
                  <a:lnTo>
                    <a:pt x="0" y="70"/>
                  </a:lnTo>
                  <a:lnTo>
                    <a:pt x="0" y="139"/>
                  </a:lnTo>
                  <a:lnTo>
                    <a:pt x="0" y="209"/>
                  </a:lnTo>
                  <a:lnTo>
                    <a:pt x="0" y="278"/>
                  </a:lnTo>
                  <a:lnTo>
                    <a:pt x="0" y="347"/>
                  </a:lnTo>
                  <a:lnTo>
                    <a:pt x="0" y="417"/>
                  </a:lnTo>
                  <a:lnTo>
                    <a:pt x="0" y="486"/>
                  </a:lnTo>
                  <a:lnTo>
                    <a:pt x="0" y="555"/>
                  </a:lnTo>
                  <a:lnTo>
                    <a:pt x="0" y="624"/>
                  </a:lnTo>
                  <a:lnTo>
                    <a:pt x="0" y="694"/>
                  </a:lnTo>
                  <a:lnTo>
                    <a:pt x="0" y="763"/>
                  </a:lnTo>
                  <a:lnTo>
                    <a:pt x="0" y="833"/>
                  </a:lnTo>
                  <a:lnTo>
                    <a:pt x="0" y="902"/>
                  </a:lnTo>
                  <a:lnTo>
                    <a:pt x="0" y="971"/>
                  </a:lnTo>
                  <a:lnTo>
                    <a:pt x="0" y="1041"/>
                  </a:lnTo>
                  <a:lnTo>
                    <a:pt x="0" y="1110"/>
                  </a:lnTo>
                  <a:lnTo>
                    <a:pt x="0" y="1179"/>
                  </a:lnTo>
                  <a:lnTo>
                    <a:pt x="0" y="1249"/>
                  </a:lnTo>
                  <a:lnTo>
                    <a:pt x="0" y="1318"/>
                  </a:lnTo>
                  <a:lnTo>
                    <a:pt x="40" y="1299"/>
                  </a:lnTo>
                  <a:lnTo>
                    <a:pt x="80" y="1280"/>
                  </a:lnTo>
                  <a:lnTo>
                    <a:pt x="120" y="1261"/>
                  </a:lnTo>
                  <a:lnTo>
                    <a:pt x="160" y="1242"/>
                  </a:lnTo>
                  <a:lnTo>
                    <a:pt x="200" y="1223"/>
                  </a:lnTo>
                  <a:lnTo>
                    <a:pt x="240" y="1204"/>
                  </a:lnTo>
                  <a:lnTo>
                    <a:pt x="280" y="1185"/>
                  </a:lnTo>
                  <a:lnTo>
                    <a:pt x="320" y="1167"/>
                  </a:lnTo>
                  <a:lnTo>
                    <a:pt x="360" y="1148"/>
                  </a:lnTo>
                  <a:lnTo>
                    <a:pt x="399" y="1129"/>
                  </a:lnTo>
                  <a:lnTo>
                    <a:pt x="439" y="1110"/>
                  </a:lnTo>
                  <a:lnTo>
                    <a:pt x="479" y="1091"/>
                  </a:lnTo>
                  <a:lnTo>
                    <a:pt x="519" y="1072"/>
                  </a:lnTo>
                  <a:lnTo>
                    <a:pt x="559" y="1053"/>
                  </a:lnTo>
                  <a:lnTo>
                    <a:pt x="599" y="1034"/>
                  </a:lnTo>
                  <a:lnTo>
                    <a:pt x="639" y="1015"/>
                  </a:lnTo>
                  <a:lnTo>
                    <a:pt x="679" y="996"/>
                  </a:lnTo>
                  <a:lnTo>
                    <a:pt x="719" y="978"/>
                  </a:lnTo>
                  <a:lnTo>
                    <a:pt x="758" y="959"/>
                  </a:lnTo>
                  <a:lnTo>
                    <a:pt x="789" y="959"/>
                  </a:lnTo>
                  <a:lnTo>
                    <a:pt x="819" y="959"/>
                  </a:lnTo>
                  <a:lnTo>
                    <a:pt x="849" y="959"/>
                  </a:lnTo>
                  <a:lnTo>
                    <a:pt x="879" y="959"/>
                  </a:lnTo>
                  <a:lnTo>
                    <a:pt x="909" y="959"/>
                  </a:lnTo>
                  <a:lnTo>
                    <a:pt x="939" y="959"/>
                  </a:lnTo>
                  <a:lnTo>
                    <a:pt x="969" y="959"/>
                  </a:lnTo>
                  <a:lnTo>
                    <a:pt x="999" y="959"/>
                  </a:lnTo>
                  <a:lnTo>
                    <a:pt x="1029" y="959"/>
                  </a:lnTo>
                  <a:lnTo>
                    <a:pt x="1060" y="959"/>
                  </a:lnTo>
                  <a:lnTo>
                    <a:pt x="1090" y="959"/>
                  </a:lnTo>
                  <a:lnTo>
                    <a:pt x="1120" y="959"/>
                  </a:lnTo>
                  <a:lnTo>
                    <a:pt x="1150" y="959"/>
                  </a:lnTo>
                  <a:lnTo>
                    <a:pt x="1180" y="959"/>
                  </a:lnTo>
                  <a:lnTo>
                    <a:pt x="1210" y="959"/>
                  </a:lnTo>
                  <a:lnTo>
                    <a:pt x="1240" y="959"/>
                  </a:lnTo>
                  <a:lnTo>
                    <a:pt x="1270" y="959"/>
                  </a:lnTo>
                  <a:lnTo>
                    <a:pt x="1300" y="959"/>
                  </a:lnTo>
                  <a:lnTo>
                    <a:pt x="1330" y="959"/>
                  </a:lnTo>
                  <a:lnTo>
                    <a:pt x="1363" y="918"/>
                  </a:lnTo>
                  <a:lnTo>
                    <a:pt x="1396" y="877"/>
                  </a:lnTo>
                  <a:lnTo>
                    <a:pt x="1429" y="837"/>
                  </a:lnTo>
                  <a:lnTo>
                    <a:pt x="1462" y="796"/>
                  </a:lnTo>
                  <a:lnTo>
                    <a:pt x="1495" y="755"/>
                  </a:lnTo>
                  <a:lnTo>
                    <a:pt x="1528" y="715"/>
                  </a:lnTo>
                  <a:lnTo>
                    <a:pt x="1561" y="674"/>
                  </a:lnTo>
                  <a:lnTo>
                    <a:pt x="1594" y="634"/>
                  </a:lnTo>
                  <a:lnTo>
                    <a:pt x="1627" y="593"/>
                  </a:lnTo>
                  <a:lnTo>
                    <a:pt x="1659" y="552"/>
                  </a:lnTo>
                  <a:lnTo>
                    <a:pt x="1692" y="512"/>
                  </a:lnTo>
                  <a:lnTo>
                    <a:pt x="1725" y="471"/>
                  </a:lnTo>
                  <a:lnTo>
                    <a:pt x="1758" y="431"/>
                  </a:lnTo>
                  <a:lnTo>
                    <a:pt x="1791" y="390"/>
                  </a:lnTo>
                  <a:lnTo>
                    <a:pt x="1824" y="349"/>
                  </a:lnTo>
                  <a:lnTo>
                    <a:pt x="1857" y="309"/>
                  </a:lnTo>
                  <a:lnTo>
                    <a:pt x="1890" y="268"/>
                  </a:lnTo>
                  <a:lnTo>
                    <a:pt x="1923" y="228"/>
                  </a:lnTo>
                  <a:lnTo>
                    <a:pt x="1955" y="187"/>
                  </a:lnTo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5" name="Oval 615">
              <a:extLst>
                <a:ext uri="{FF2B5EF4-FFF2-40B4-BE49-F238E27FC236}">
                  <a16:creationId xmlns:a16="http://schemas.microsoft.com/office/drawing/2014/main" id="{951819FA-3B06-2B61-D30A-8D1ED2671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062" y="17214874"/>
              <a:ext cx="101600" cy="1031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6" name="Freeform 616">
              <a:extLst>
                <a:ext uri="{FF2B5EF4-FFF2-40B4-BE49-F238E27FC236}">
                  <a16:creationId xmlns:a16="http://schemas.microsoft.com/office/drawing/2014/main" id="{ACE0A193-7941-0311-313B-8A556145DC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4887" y="17211699"/>
              <a:ext cx="107950" cy="109538"/>
            </a:xfrm>
            <a:custGeom>
              <a:avLst/>
              <a:gdLst>
                <a:gd name="T0" fmla="*/ 136 w 272"/>
                <a:gd name="T1" fmla="*/ 16 h 272"/>
                <a:gd name="T2" fmla="*/ 256 w 272"/>
                <a:gd name="T3" fmla="*/ 136 h 272"/>
                <a:gd name="T4" fmla="*/ 256 w 272"/>
                <a:gd name="T5" fmla="*/ 136 h 272"/>
                <a:gd name="T6" fmla="*/ 136 w 272"/>
                <a:gd name="T7" fmla="*/ 256 h 272"/>
                <a:gd name="T8" fmla="*/ 16 w 272"/>
                <a:gd name="T9" fmla="*/ 136 h 272"/>
                <a:gd name="T10" fmla="*/ 136 w 272"/>
                <a:gd name="T11" fmla="*/ 16 h 272"/>
                <a:gd name="T12" fmla="*/ 136 w 272"/>
                <a:gd name="T13" fmla="*/ 0 h 272"/>
                <a:gd name="T14" fmla="*/ 0 w 272"/>
                <a:gd name="T15" fmla="*/ 136 h 272"/>
                <a:gd name="T16" fmla="*/ 136 w 272"/>
                <a:gd name="T17" fmla="*/ 272 h 272"/>
                <a:gd name="T18" fmla="*/ 272 w 272"/>
                <a:gd name="T19" fmla="*/ 136 h 272"/>
                <a:gd name="T20" fmla="*/ 272 w 272"/>
                <a:gd name="T21" fmla="*/ 136 h 272"/>
                <a:gd name="T22" fmla="*/ 136 w 272"/>
                <a:gd name="T23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2" h="272">
                  <a:moveTo>
                    <a:pt x="136" y="16"/>
                  </a:moveTo>
                  <a:cubicBezTo>
                    <a:pt x="203" y="16"/>
                    <a:pt x="256" y="70"/>
                    <a:pt x="256" y="136"/>
                  </a:cubicBezTo>
                  <a:lnTo>
                    <a:pt x="256" y="136"/>
                  </a:lnTo>
                  <a:cubicBezTo>
                    <a:pt x="256" y="203"/>
                    <a:pt x="203" y="256"/>
                    <a:pt x="136" y="256"/>
                  </a:cubicBezTo>
                  <a:cubicBezTo>
                    <a:pt x="70" y="256"/>
                    <a:pt x="16" y="203"/>
                    <a:pt x="16" y="136"/>
                  </a:cubicBezTo>
                  <a:cubicBezTo>
                    <a:pt x="16" y="70"/>
                    <a:pt x="70" y="16"/>
                    <a:pt x="136" y="16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cubicBezTo>
                    <a:pt x="0" y="212"/>
                    <a:pt x="61" y="272"/>
                    <a:pt x="136" y="272"/>
                  </a:cubicBezTo>
                  <a:cubicBezTo>
                    <a:pt x="211" y="272"/>
                    <a:pt x="272" y="212"/>
                    <a:pt x="272" y="136"/>
                  </a:cubicBezTo>
                  <a:lnTo>
                    <a:pt x="272" y="136"/>
                  </a:lnTo>
                  <a:cubicBezTo>
                    <a:pt x="272" y="61"/>
                    <a:pt x="211" y="0"/>
                    <a:pt x="13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7" name="Oval 617">
              <a:extLst>
                <a:ext uri="{FF2B5EF4-FFF2-40B4-BE49-F238E27FC236}">
                  <a16:creationId xmlns:a16="http://schemas.microsoft.com/office/drawing/2014/main" id="{6A659B11-C6B7-E4C1-E043-563917F35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8062" y="19307199"/>
              <a:ext cx="101600" cy="1016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8" name="Freeform 618">
              <a:extLst>
                <a:ext uri="{FF2B5EF4-FFF2-40B4-BE49-F238E27FC236}">
                  <a16:creationId xmlns:a16="http://schemas.microsoft.com/office/drawing/2014/main" id="{CC525AC5-8A43-633A-6A45-D17DB5AE56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4887" y="19304024"/>
              <a:ext cx="107950" cy="107950"/>
            </a:xfrm>
            <a:custGeom>
              <a:avLst/>
              <a:gdLst>
                <a:gd name="T0" fmla="*/ 136 w 272"/>
                <a:gd name="T1" fmla="*/ 16 h 272"/>
                <a:gd name="T2" fmla="*/ 256 w 272"/>
                <a:gd name="T3" fmla="*/ 136 h 272"/>
                <a:gd name="T4" fmla="*/ 256 w 272"/>
                <a:gd name="T5" fmla="*/ 136 h 272"/>
                <a:gd name="T6" fmla="*/ 136 w 272"/>
                <a:gd name="T7" fmla="*/ 256 h 272"/>
                <a:gd name="T8" fmla="*/ 16 w 272"/>
                <a:gd name="T9" fmla="*/ 136 h 272"/>
                <a:gd name="T10" fmla="*/ 136 w 272"/>
                <a:gd name="T11" fmla="*/ 16 h 272"/>
                <a:gd name="T12" fmla="*/ 136 w 272"/>
                <a:gd name="T13" fmla="*/ 0 h 272"/>
                <a:gd name="T14" fmla="*/ 0 w 272"/>
                <a:gd name="T15" fmla="*/ 136 h 272"/>
                <a:gd name="T16" fmla="*/ 136 w 272"/>
                <a:gd name="T17" fmla="*/ 272 h 272"/>
                <a:gd name="T18" fmla="*/ 272 w 272"/>
                <a:gd name="T19" fmla="*/ 136 h 272"/>
                <a:gd name="T20" fmla="*/ 272 w 272"/>
                <a:gd name="T21" fmla="*/ 136 h 272"/>
                <a:gd name="T22" fmla="*/ 136 w 272"/>
                <a:gd name="T23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2" h="272">
                  <a:moveTo>
                    <a:pt x="136" y="16"/>
                  </a:moveTo>
                  <a:cubicBezTo>
                    <a:pt x="203" y="16"/>
                    <a:pt x="256" y="70"/>
                    <a:pt x="256" y="136"/>
                  </a:cubicBezTo>
                  <a:lnTo>
                    <a:pt x="256" y="136"/>
                  </a:lnTo>
                  <a:cubicBezTo>
                    <a:pt x="256" y="202"/>
                    <a:pt x="203" y="256"/>
                    <a:pt x="136" y="256"/>
                  </a:cubicBezTo>
                  <a:cubicBezTo>
                    <a:pt x="70" y="256"/>
                    <a:pt x="16" y="202"/>
                    <a:pt x="16" y="136"/>
                  </a:cubicBezTo>
                  <a:cubicBezTo>
                    <a:pt x="16" y="70"/>
                    <a:pt x="70" y="16"/>
                    <a:pt x="136" y="16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cubicBezTo>
                    <a:pt x="0" y="211"/>
                    <a:pt x="61" y="272"/>
                    <a:pt x="136" y="272"/>
                  </a:cubicBezTo>
                  <a:cubicBezTo>
                    <a:pt x="211" y="272"/>
                    <a:pt x="272" y="211"/>
                    <a:pt x="272" y="136"/>
                  </a:cubicBezTo>
                  <a:lnTo>
                    <a:pt x="272" y="136"/>
                  </a:lnTo>
                  <a:cubicBezTo>
                    <a:pt x="272" y="61"/>
                    <a:pt x="211" y="0"/>
                    <a:pt x="13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9" name="Oval 619">
              <a:extLst>
                <a:ext uri="{FF2B5EF4-FFF2-40B4-BE49-F238E27FC236}">
                  <a16:creationId xmlns:a16="http://schemas.microsoft.com/office/drawing/2014/main" id="{D9154DB9-CD12-7AD6-17F1-D8C4A7B1A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1387" y="18735699"/>
              <a:ext cx="103188" cy="1031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0" name="Freeform 620">
              <a:extLst>
                <a:ext uri="{FF2B5EF4-FFF2-40B4-BE49-F238E27FC236}">
                  <a16:creationId xmlns:a16="http://schemas.microsoft.com/office/drawing/2014/main" id="{F9098DDF-55D6-B323-CFCD-25550E4418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8212" y="18732524"/>
              <a:ext cx="109538" cy="109538"/>
            </a:xfrm>
            <a:custGeom>
              <a:avLst/>
              <a:gdLst>
                <a:gd name="T0" fmla="*/ 136 w 272"/>
                <a:gd name="T1" fmla="*/ 16 h 272"/>
                <a:gd name="T2" fmla="*/ 256 w 272"/>
                <a:gd name="T3" fmla="*/ 136 h 272"/>
                <a:gd name="T4" fmla="*/ 256 w 272"/>
                <a:gd name="T5" fmla="*/ 136 h 272"/>
                <a:gd name="T6" fmla="*/ 136 w 272"/>
                <a:gd name="T7" fmla="*/ 256 h 272"/>
                <a:gd name="T8" fmla="*/ 16 w 272"/>
                <a:gd name="T9" fmla="*/ 136 h 272"/>
                <a:gd name="T10" fmla="*/ 136 w 272"/>
                <a:gd name="T11" fmla="*/ 16 h 272"/>
                <a:gd name="T12" fmla="*/ 136 w 272"/>
                <a:gd name="T13" fmla="*/ 0 h 272"/>
                <a:gd name="T14" fmla="*/ 0 w 272"/>
                <a:gd name="T15" fmla="*/ 136 h 272"/>
                <a:gd name="T16" fmla="*/ 136 w 272"/>
                <a:gd name="T17" fmla="*/ 272 h 272"/>
                <a:gd name="T18" fmla="*/ 272 w 272"/>
                <a:gd name="T19" fmla="*/ 136 h 272"/>
                <a:gd name="T20" fmla="*/ 272 w 272"/>
                <a:gd name="T21" fmla="*/ 136 h 272"/>
                <a:gd name="T22" fmla="*/ 136 w 272"/>
                <a:gd name="T23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2" h="272">
                  <a:moveTo>
                    <a:pt x="136" y="16"/>
                  </a:moveTo>
                  <a:cubicBezTo>
                    <a:pt x="202" y="16"/>
                    <a:pt x="256" y="70"/>
                    <a:pt x="256" y="136"/>
                  </a:cubicBezTo>
                  <a:lnTo>
                    <a:pt x="256" y="136"/>
                  </a:lnTo>
                  <a:cubicBezTo>
                    <a:pt x="256" y="203"/>
                    <a:pt x="202" y="256"/>
                    <a:pt x="136" y="256"/>
                  </a:cubicBezTo>
                  <a:cubicBezTo>
                    <a:pt x="70" y="256"/>
                    <a:pt x="16" y="203"/>
                    <a:pt x="16" y="136"/>
                  </a:cubicBezTo>
                  <a:cubicBezTo>
                    <a:pt x="16" y="70"/>
                    <a:pt x="70" y="16"/>
                    <a:pt x="136" y="16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cubicBezTo>
                    <a:pt x="0" y="211"/>
                    <a:pt x="61" y="272"/>
                    <a:pt x="136" y="272"/>
                  </a:cubicBezTo>
                  <a:cubicBezTo>
                    <a:pt x="211" y="272"/>
                    <a:pt x="272" y="211"/>
                    <a:pt x="272" y="136"/>
                  </a:cubicBezTo>
                  <a:lnTo>
                    <a:pt x="272" y="136"/>
                  </a:lnTo>
                  <a:cubicBezTo>
                    <a:pt x="272" y="61"/>
                    <a:pt x="211" y="0"/>
                    <a:pt x="13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1" name="Oval 621">
              <a:extLst>
                <a:ext uri="{FF2B5EF4-FFF2-40B4-BE49-F238E27FC236}">
                  <a16:creationId xmlns:a16="http://schemas.microsoft.com/office/drawing/2014/main" id="{9AB6A66D-0F3A-8AB0-F463-69FB17F3A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9437" y="18735699"/>
              <a:ext cx="101600" cy="1031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2" name="Freeform 622">
              <a:extLst>
                <a:ext uri="{FF2B5EF4-FFF2-40B4-BE49-F238E27FC236}">
                  <a16:creationId xmlns:a16="http://schemas.microsoft.com/office/drawing/2014/main" id="{C13F5109-3EF8-D29E-410D-F90DCC32E5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6262" y="18732524"/>
              <a:ext cx="107950" cy="109538"/>
            </a:xfrm>
            <a:custGeom>
              <a:avLst/>
              <a:gdLst>
                <a:gd name="T0" fmla="*/ 136 w 272"/>
                <a:gd name="T1" fmla="*/ 16 h 272"/>
                <a:gd name="T2" fmla="*/ 256 w 272"/>
                <a:gd name="T3" fmla="*/ 136 h 272"/>
                <a:gd name="T4" fmla="*/ 256 w 272"/>
                <a:gd name="T5" fmla="*/ 136 h 272"/>
                <a:gd name="T6" fmla="*/ 136 w 272"/>
                <a:gd name="T7" fmla="*/ 256 h 272"/>
                <a:gd name="T8" fmla="*/ 16 w 272"/>
                <a:gd name="T9" fmla="*/ 136 h 272"/>
                <a:gd name="T10" fmla="*/ 136 w 272"/>
                <a:gd name="T11" fmla="*/ 16 h 272"/>
                <a:gd name="T12" fmla="*/ 136 w 272"/>
                <a:gd name="T13" fmla="*/ 0 h 272"/>
                <a:gd name="T14" fmla="*/ 0 w 272"/>
                <a:gd name="T15" fmla="*/ 136 h 272"/>
                <a:gd name="T16" fmla="*/ 136 w 272"/>
                <a:gd name="T17" fmla="*/ 272 h 272"/>
                <a:gd name="T18" fmla="*/ 272 w 272"/>
                <a:gd name="T19" fmla="*/ 136 h 272"/>
                <a:gd name="T20" fmla="*/ 272 w 272"/>
                <a:gd name="T21" fmla="*/ 136 h 272"/>
                <a:gd name="T22" fmla="*/ 136 w 272"/>
                <a:gd name="T23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2" h="272">
                  <a:moveTo>
                    <a:pt x="136" y="16"/>
                  </a:moveTo>
                  <a:cubicBezTo>
                    <a:pt x="202" y="16"/>
                    <a:pt x="256" y="70"/>
                    <a:pt x="256" y="136"/>
                  </a:cubicBezTo>
                  <a:lnTo>
                    <a:pt x="256" y="136"/>
                  </a:lnTo>
                  <a:cubicBezTo>
                    <a:pt x="256" y="203"/>
                    <a:pt x="202" y="256"/>
                    <a:pt x="136" y="256"/>
                  </a:cubicBezTo>
                  <a:cubicBezTo>
                    <a:pt x="70" y="256"/>
                    <a:pt x="16" y="203"/>
                    <a:pt x="16" y="136"/>
                  </a:cubicBezTo>
                  <a:cubicBezTo>
                    <a:pt x="16" y="70"/>
                    <a:pt x="70" y="16"/>
                    <a:pt x="136" y="16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cubicBezTo>
                    <a:pt x="0" y="211"/>
                    <a:pt x="61" y="272"/>
                    <a:pt x="136" y="272"/>
                  </a:cubicBezTo>
                  <a:cubicBezTo>
                    <a:pt x="211" y="272"/>
                    <a:pt x="272" y="211"/>
                    <a:pt x="272" y="136"/>
                  </a:cubicBezTo>
                  <a:lnTo>
                    <a:pt x="272" y="136"/>
                  </a:lnTo>
                  <a:cubicBezTo>
                    <a:pt x="272" y="61"/>
                    <a:pt x="211" y="0"/>
                    <a:pt x="13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3" name="Oval 623">
              <a:extLst>
                <a:ext uri="{FF2B5EF4-FFF2-40B4-BE49-F238E27FC236}">
                  <a16:creationId xmlns:a16="http://schemas.microsoft.com/office/drawing/2014/main" id="{90E7ABB3-AE2F-4C66-7805-C30E4C1F2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1624" y="17511736"/>
              <a:ext cx="101600" cy="1016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4" name="Freeform 624">
              <a:extLst>
                <a:ext uri="{FF2B5EF4-FFF2-40B4-BE49-F238E27FC236}">
                  <a16:creationId xmlns:a16="http://schemas.microsoft.com/office/drawing/2014/main" id="{D69ACB0C-5897-1A97-3895-6EA1ECAB6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8449" y="17508561"/>
              <a:ext cx="107950" cy="107950"/>
            </a:xfrm>
            <a:custGeom>
              <a:avLst/>
              <a:gdLst>
                <a:gd name="T0" fmla="*/ 136 w 272"/>
                <a:gd name="T1" fmla="*/ 16 h 272"/>
                <a:gd name="T2" fmla="*/ 256 w 272"/>
                <a:gd name="T3" fmla="*/ 136 h 272"/>
                <a:gd name="T4" fmla="*/ 256 w 272"/>
                <a:gd name="T5" fmla="*/ 136 h 272"/>
                <a:gd name="T6" fmla="*/ 136 w 272"/>
                <a:gd name="T7" fmla="*/ 256 h 272"/>
                <a:gd name="T8" fmla="*/ 16 w 272"/>
                <a:gd name="T9" fmla="*/ 136 h 272"/>
                <a:gd name="T10" fmla="*/ 136 w 272"/>
                <a:gd name="T11" fmla="*/ 16 h 272"/>
                <a:gd name="T12" fmla="*/ 136 w 272"/>
                <a:gd name="T13" fmla="*/ 0 h 272"/>
                <a:gd name="T14" fmla="*/ 0 w 272"/>
                <a:gd name="T15" fmla="*/ 136 h 272"/>
                <a:gd name="T16" fmla="*/ 136 w 272"/>
                <a:gd name="T17" fmla="*/ 272 h 272"/>
                <a:gd name="T18" fmla="*/ 272 w 272"/>
                <a:gd name="T19" fmla="*/ 136 h 272"/>
                <a:gd name="T20" fmla="*/ 272 w 272"/>
                <a:gd name="T21" fmla="*/ 136 h 272"/>
                <a:gd name="T22" fmla="*/ 136 w 272"/>
                <a:gd name="T23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2" h="272">
                  <a:moveTo>
                    <a:pt x="136" y="16"/>
                  </a:moveTo>
                  <a:cubicBezTo>
                    <a:pt x="203" y="16"/>
                    <a:pt x="256" y="70"/>
                    <a:pt x="256" y="136"/>
                  </a:cubicBezTo>
                  <a:lnTo>
                    <a:pt x="256" y="136"/>
                  </a:lnTo>
                  <a:cubicBezTo>
                    <a:pt x="256" y="203"/>
                    <a:pt x="203" y="256"/>
                    <a:pt x="136" y="256"/>
                  </a:cubicBezTo>
                  <a:cubicBezTo>
                    <a:pt x="70" y="256"/>
                    <a:pt x="16" y="203"/>
                    <a:pt x="16" y="136"/>
                  </a:cubicBezTo>
                  <a:cubicBezTo>
                    <a:pt x="16" y="70"/>
                    <a:pt x="70" y="16"/>
                    <a:pt x="136" y="16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cubicBezTo>
                    <a:pt x="0" y="211"/>
                    <a:pt x="61" y="272"/>
                    <a:pt x="136" y="272"/>
                  </a:cubicBezTo>
                  <a:cubicBezTo>
                    <a:pt x="212" y="272"/>
                    <a:pt x="272" y="211"/>
                    <a:pt x="272" y="136"/>
                  </a:cubicBezTo>
                  <a:lnTo>
                    <a:pt x="272" y="136"/>
                  </a:lnTo>
                  <a:cubicBezTo>
                    <a:pt x="272" y="61"/>
                    <a:pt x="212" y="0"/>
                    <a:pt x="13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5" name="Freeform 625">
              <a:extLst>
                <a:ext uri="{FF2B5EF4-FFF2-40B4-BE49-F238E27FC236}">
                  <a16:creationId xmlns:a16="http://schemas.microsoft.com/office/drawing/2014/main" id="{9F32FC7F-E9F0-50BD-1AD0-80906CFFC1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3424" y="17203761"/>
              <a:ext cx="3354388" cy="2184400"/>
            </a:xfrm>
            <a:custGeom>
              <a:avLst/>
              <a:gdLst>
                <a:gd name="T0" fmla="*/ 229 w 2113"/>
                <a:gd name="T1" fmla="*/ 33 h 1376"/>
                <a:gd name="T2" fmla="*/ 206 w 2113"/>
                <a:gd name="T3" fmla="*/ 209 h 1376"/>
                <a:gd name="T4" fmla="*/ 182 w 2113"/>
                <a:gd name="T5" fmla="*/ 440 h 1376"/>
                <a:gd name="T6" fmla="*/ 153 w 2113"/>
                <a:gd name="T7" fmla="*/ 480 h 1376"/>
                <a:gd name="T8" fmla="*/ 140 w 2113"/>
                <a:gd name="T9" fmla="*/ 671 h 1376"/>
                <a:gd name="T10" fmla="*/ 145 w 2113"/>
                <a:gd name="T11" fmla="*/ 767 h 1376"/>
                <a:gd name="T12" fmla="*/ 32 w 2113"/>
                <a:gd name="T13" fmla="*/ 851 h 1376"/>
                <a:gd name="T14" fmla="*/ 12 w 2113"/>
                <a:gd name="T15" fmla="*/ 925 h 1376"/>
                <a:gd name="T16" fmla="*/ 72 w 2113"/>
                <a:gd name="T17" fmla="*/ 1045 h 1376"/>
                <a:gd name="T18" fmla="*/ 211 w 2113"/>
                <a:gd name="T19" fmla="*/ 1110 h 1376"/>
                <a:gd name="T20" fmla="*/ 211 w 2113"/>
                <a:gd name="T21" fmla="*/ 1302 h 1376"/>
                <a:gd name="T22" fmla="*/ 211 w 2113"/>
                <a:gd name="T23" fmla="*/ 1357 h 1376"/>
                <a:gd name="T24" fmla="*/ 331 w 2113"/>
                <a:gd name="T25" fmla="*/ 1355 h 1376"/>
                <a:gd name="T26" fmla="*/ 375 w 2113"/>
                <a:gd name="T27" fmla="*/ 1282 h 1376"/>
                <a:gd name="T28" fmla="*/ 403 w 2113"/>
                <a:gd name="T29" fmla="*/ 1138 h 1376"/>
                <a:gd name="T30" fmla="*/ 513 w 2113"/>
                <a:gd name="T31" fmla="*/ 1044 h 1376"/>
                <a:gd name="T32" fmla="*/ 545 w 2113"/>
                <a:gd name="T33" fmla="*/ 998 h 1376"/>
                <a:gd name="T34" fmla="*/ 557 w 2113"/>
                <a:gd name="T35" fmla="*/ 1025 h 1376"/>
                <a:gd name="T36" fmla="*/ 557 w 2113"/>
                <a:gd name="T37" fmla="*/ 1025 h 1376"/>
                <a:gd name="T38" fmla="*/ 545 w 2113"/>
                <a:gd name="T39" fmla="*/ 1009 h 1376"/>
                <a:gd name="T40" fmla="*/ 599 w 2113"/>
                <a:gd name="T41" fmla="*/ 989 h 1376"/>
                <a:gd name="T42" fmla="*/ 792 w 2113"/>
                <a:gd name="T43" fmla="*/ 989 h 1376"/>
                <a:gd name="T44" fmla="*/ 963 w 2113"/>
                <a:gd name="T45" fmla="*/ 1078 h 1376"/>
                <a:gd name="T46" fmla="*/ 974 w 2113"/>
                <a:gd name="T47" fmla="*/ 1030 h 1376"/>
                <a:gd name="T48" fmla="*/ 1142 w 2113"/>
                <a:gd name="T49" fmla="*/ 1038 h 1376"/>
                <a:gd name="T50" fmla="*/ 1142 w 2113"/>
                <a:gd name="T51" fmla="*/ 1117 h 1376"/>
                <a:gd name="T52" fmla="*/ 1142 w 2113"/>
                <a:gd name="T53" fmla="*/ 1060 h 1376"/>
                <a:gd name="T54" fmla="*/ 1136 w 2113"/>
                <a:gd name="T55" fmla="*/ 984 h 1376"/>
                <a:gd name="T56" fmla="*/ 1142 w 2113"/>
                <a:gd name="T57" fmla="*/ 1064 h 1376"/>
                <a:gd name="T58" fmla="*/ 1136 w 2113"/>
                <a:gd name="T59" fmla="*/ 984 h 1376"/>
                <a:gd name="T60" fmla="*/ 1182 w 2113"/>
                <a:gd name="T61" fmla="*/ 1006 h 1376"/>
                <a:gd name="T62" fmla="*/ 1256 w 2113"/>
                <a:gd name="T63" fmla="*/ 1024 h 1376"/>
                <a:gd name="T64" fmla="*/ 1296 w 2113"/>
                <a:gd name="T65" fmla="*/ 984 h 1376"/>
                <a:gd name="T66" fmla="*/ 1421 w 2113"/>
                <a:gd name="T67" fmla="*/ 987 h 1376"/>
                <a:gd name="T68" fmla="*/ 1423 w 2113"/>
                <a:gd name="T69" fmla="*/ 1027 h 1376"/>
                <a:gd name="T70" fmla="*/ 1533 w 2113"/>
                <a:gd name="T71" fmla="*/ 991 h 1376"/>
                <a:gd name="T72" fmla="*/ 1564 w 2113"/>
                <a:gd name="T73" fmla="*/ 1028 h 1376"/>
                <a:gd name="T74" fmla="*/ 1680 w 2113"/>
                <a:gd name="T75" fmla="*/ 947 h 1376"/>
                <a:gd name="T76" fmla="*/ 1723 w 2113"/>
                <a:gd name="T77" fmla="*/ 861 h 1376"/>
                <a:gd name="T78" fmla="*/ 1821 w 2113"/>
                <a:gd name="T79" fmla="*/ 891 h 1376"/>
                <a:gd name="T80" fmla="*/ 1809 w 2113"/>
                <a:gd name="T81" fmla="*/ 891 h 1376"/>
                <a:gd name="T82" fmla="*/ 1815 w 2113"/>
                <a:gd name="T83" fmla="*/ 891 h 1376"/>
                <a:gd name="T84" fmla="*/ 1887 w 2113"/>
                <a:gd name="T85" fmla="*/ 705 h 1376"/>
                <a:gd name="T86" fmla="*/ 1875 w 2113"/>
                <a:gd name="T87" fmla="*/ 757 h 1376"/>
                <a:gd name="T88" fmla="*/ 1887 w 2113"/>
                <a:gd name="T89" fmla="*/ 705 h 1376"/>
                <a:gd name="T90" fmla="*/ 1929 w 2113"/>
                <a:gd name="T91" fmla="*/ 788 h 1376"/>
                <a:gd name="T92" fmla="*/ 1928 w 2113"/>
                <a:gd name="T93" fmla="*/ 758 h 1376"/>
                <a:gd name="T94" fmla="*/ 2043 w 2113"/>
                <a:gd name="T95" fmla="*/ 711 h 1376"/>
                <a:gd name="T96" fmla="*/ 2060 w 2113"/>
                <a:gd name="T97" fmla="*/ 704 h 1376"/>
                <a:gd name="T98" fmla="*/ 2087 w 2113"/>
                <a:gd name="T99" fmla="*/ 628 h 1376"/>
                <a:gd name="T100" fmla="*/ 2087 w 2113"/>
                <a:gd name="T101" fmla="*/ 436 h 1376"/>
                <a:gd name="T102" fmla="*/ 2087 w 2113"/>
                <a:gd name="T103" fmla="*/ 244 h 1376"/>
                <a:gd name="T104" fmla="*/ 2087 w 2113"/>
                <a:gd name="T105" fmla="*/ 52 h 1376"/>
                <a:gd name="T106" fmla="*/ 2085 w 2113"/>
                <a:gd name="T107" fmla="*/ 45 h 1376"/>
                <a:gd name="T108" fmla="*/ 2113 w 2113"/>
                <a:gd name="T109" fmla="*/ 14 h 1376"/>
                <a:gd name="T110" fmla="*/ 2113 w 2113"/>
                <a:gd name="T111" fmla="*/ 14 h 1376"/>
                <a:gd name="T112" fmla="*/ 2101 w 2113"/>
                <a:gd name="T113" fmla="*/ 66 h 1376"/>
                <a:gd name="T114" fmla="*/ 325 w 2113"/>
                <a:gd name="T115" fmla="*/ 45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13" h="1376">
                  <a:moveTo>
                    <a:pt x="229" y="33"/>
                  </a:moveTo>
                  <a:lnTo>
                    <a:pt x="205" y="33"/>
                  </a:lnTo>
                  <a:lnTo>
                    <a:pt x="199" y="40"/>
                  </a:lnTo>
                  <a:lnTo>
                    <a:pt x="200" y="64"/>
                  </a:lnTo>
                  <a:lnTo>
                    <a:pt x="212" y="64"/>
                  </a:lnTo>
                  <a:lnTo>
                    <a:pt x="211" y="39"/>
                  </a:lnTo>
                  <a:lnTo>
                    <a:pt x="205" y="39"/>
                  </a:lnTo>
                  <a:lnTo>
                    <a:pt x="205" y="45"/>
                  </a:lnTo>
                  <a:lnTo>
                    <a:pt x="229" y="45"/>
                  </a:lnTo>
                  <a:lnTo>
                    <a:pt x="229" y="33"/>
                  </a:lnTo>
                  <a:close/>
                  <a:moveTo>
                    <a:pt x="202" y="112"/>
                  </a:moveTo>
                  <a:lnTo>
                    <a:pt x="204" y="160"/>
                  </a:lnTo>
                  <a:lnTo>
                    <a:pt x="216" y="160"/>
                  </a:lnTo>
                  <a:lnTo>
                    <a:pt x="214" y="112"/>
                  </a:lnTo>
                  <a:lnTo>
                    <a:pt x="202" y="112"/>
                  </a:lnTo>
                  <a:close/>
                  <a:moveTo>
                    <a:pt x="206" y="209"/>
                  </a:moveTo>
                  <a:lnTo>
                    <a:pt x="208" y="256"/>
                  </a:lnTo>
                  <a:lnTo>
                    <a:pt x="220" y="256"/>
                  </a:lnTo>
                  <a:lnTo>
                    <a:pt x="218" y="208"/>
                  </a:lnTo>
                  <a:lnTo>
                    <a:pt x="206" y="209"/>
                  </a:lnTo>
                  <a:close/>
                  <a:moveTo>
                    <a:pt x="210" y="304"/>
                  </a:moveTo>
                  <a:lnTo>
                    <a:pt x="212" y="352"/>
                  </a:lnTo>
                  <a:lnTo>
                    <a:pt x="224" y="352"/>
                  </a:lnTo>
                  <a:lnTo>
                    <a:pt x="222" y="304"/>
                  </a:lnTo>
                  <a:lnTo>
                    <a:pt x="210" y="304"/>
                  </a:lnTo>
                  <a:close/>
                  <a:moveTo>
                    <a:pt x="191" y="390"/>
                  </a:moveTo>
                  <a:lnTo>
                    <a:pt x="187" y="396"/>
                  </a:lnTo>
                  <a:lnTo>
                    <a:pt x="187" y="397"/>
                  </a:lnTo>
                  <a:lnTo>
                    <a:pt x="171" y="435"/>
                  </a:lnTo>
                  <a:lnTo>
                    <a:pt x="182" y="440"/>
                  </a:lnTo>
                  <a:lnTo>
                    <a:pt x="198" y="401"/>
                  </a:lnTo>
                  <a:lnTo>
                    <a:pt x="192" y="399"/>
                  </a:lnTo>
                  <a:lnTo>
                    <a:pt x="197" y="402"/>
                  </a:lnTo>
                  <a:lnTo>
                    <a:pt x="201" y="397"/>
                  </a:lnTo>
                  <a:lnTo>
                    <a:pt x="191" y="390"/>
                  </a:lnTo>
                  <a:close/>
                  <a:moveTo>
                    <a:pt x="153" y="480"/>
                  </a:moveTo>
                  <a:lnTo>
                    <a:pt x="136" y="525"/>
                  </a:lnTo>
                  <a:lnTo>
                    <a:pt x="147" y="529"/>
                  </a:lnTo>
                  <a:lnTo>
                    <a:pt x="165" y="484"/>
                  </a:lnTo>
                  <a:lnTo>
                    <a:pt x="153" y="480"/>
                  </a:lnTo>
                  <a:close/>
                  <a:moveTo>
                    <a:pt x="135" y="575"/>
                  </a:moveTo>
                  <a:lnTo>
                    <a:pt x="138" y="623"/>
                  </a:lnTo>
                  <a:lnTo>
                    <a:pt x="150" y="622"/>
                  </a:lnTo>
                  <a:lnTo>
                    <a:pt x="147" y="574"/>
                  </a:lnTo>
                  <a:lnTo>
                    <a:pt x="135" y="575"/>
                  </a:lnTo>
                  <a:close/>
                  <a:moveTo>
                    <a:pt x="140" y="671"/>
                  </a:moveTo>
                  <a:lnTo>
                    <a:pt x="143" y="719"/>
                  </a:lnTo>
                  <a:lnTo>
                    <a:pt x="155" y="718"/>
                  </a:lnTo>
                  <a:lnTo>
                    <a:pt x="152" y="670"/>
                  </a:lnTo>
                  <a:lnTo>
                    <a:pt x="140" y="671"/>
                  </a:lnTo>
                  <a:close/>
                  <a:moveTo>
                    <a:pt x="145" y="767"/>
                  </a:moveTo>
                  <a:lnTo>
                    <a:pt x="146" y="785"/>
                  </a:lnTo>
                  <a:lnTo>
                    <a:pt x="152" y="785"/>
                  </a:lnTo>
                  <a:lnTo>
                    <a:pt x="152" y="779"/>
                  </a:lnTo>
                  <a:lnTo>
                    <a:pt x="123" y="779"/>
                  </a:lnTo>
                  <a:lnTo>
                    <a:pt x="123" y="791"/>
                  </a:lnTo>
                  <a:lnTo>
                    <a:pt x="152" y="791"/>
                  </a:lnTo>
                  <a:lnTo>
                    <a:pt x="158" y="784"/>
                  </a:lnTo>
                  <a:lnTo>
                    <a:pt x="157" y="766"/>
                  </a:lnTo>
                  <a:lnTo>
                    <a:pt x="145" y="767"/>
                  </a:lnTo>
                  <a:close/>
                  <a:moveTo>
                    <a:pt x="74" y="779"/>
                  </a:moveTo>
                  <a:lnTo>
                    <a:pt x="46" y="779"/>
                  </a:lnTo>
                  <a:lnTo>
                    <a:pt x="26" y="779"/>
                  </a:lnTo>
                  <a:lnTo>
                    <a:pt x="26" y="791"/>
                  </a:lnTo>
                  <a:lnTo>
                    <a:pt x="46" y="791"/>
                  </a:lnTo>
                  <a:lnTo>
                    <a:pt x="74" y="791"/>
                  </a:lnTo>
                  <a:lnTo>
                    <a:pt x="74" y="779"/>
                  </a:lnTo>
                  <a:close/>
                  <a:moveTo>
                    <a:pt x="11" y="812"/>
                  </a:moveTo>
                  <a:lnTo>
                    <a:pt x="27" y="854"/>
                  </a:lnTo>
                  <a:lnTo>
                    <a:pt x="32" y="851"/>
                  </a:lnTo>
                  <a:lnTo>
                    <a:pt x="32" y="845"/>
                  </a:lnTo>
                  <a:lnTo>
                    <a:pt x="29" y="845"/>
                  </a:lnTo>
                  <a:lnTo>
                    <a:pt x="29" y="857"/>
                  </a:lnTo>
                  <a:lnTo>
                    <a:pt x="32" y="857"/>
                  </a:lnTo>
                  <a:lnTo>
                    <a:pt x="38" y="849"/>
                  </a:lnTo>
                  <a:lnTo>
                    <a:pt x="22" y="808"/>
                  </a:lnTo>
                  <a:lnTo>
                    <a:pt x="11" y="812"/>
                  </a:lnTo>
                  <a:close/>
                  <a:moveTo>
                    <a:pt x="0" y="877"/>
                  </a:moveTo>
                  <a:lnTo>
                    <a:pt x="0" y="925"/>
                  </a:lnTo>
                  <a:lnTo>
                    <a:pt x="12" y="925"/>
                  </a:lnTo>
                  <a:lnTo>
                    <a:pt x="12" y="877"/>
                  </a:lnTo>
                  <a:lnTo>
                    <a:pt x="0" y="877"/>
                  </a:lnTo>
                  <a:close/>
                  <a:moveTo>
                    <a:pt x="0" y="973"/>
                  </a:moveTo>
                  <a:lnTo>
                    <a:pt x="0" y="1021"/>
                  </a:lnTo>
                  <a:lnTo>
                    <a:pt x="12" y="1021"/>
                  </a:lnTo>
                  <a:lnTo>
                    <a:pt x="12" y="973"/>
                  </a:lnTo>
                  <a:lnTo>
                    <a:pt x="0" y="973"/>
                  </a:lnTo>
                  <a:close/>
                  <a:moveTo>
                    <a:pt x="24" y="1057"/>
                  </a:moveTo>
                  <a:lnTo>
                    <a:pt x="72" y="1057"/>
                  </a:lnTo>
                  <a:lnTo>
                    <a:pt x="72" y="1045"/>
                  </a:lnTo>
                  <a:lnTo>
                    <a:pt x="24" y="1045"/>
                  </a:lnTo>
                  <a:lnTo>
                    <a:pt x="24" y="1057"/>
                  </a:lnTo>
                  <a:close/>
                  <a:moveTo>
                    <a:pt x="120" y="1057"/>
                  </a:moveTo>
                  <a:lnTo>
                    <a:pt x="168" y="1057"/>
                  </a:lnTo>
                  <a:lnTo>
                    <a:pt x="168" y="1045"/>
                  </a:lnTo>
                  <a:lnTo>
                    <a:pt x="120" y="1045"/>
                  </a:lnTo>
                  <a:lnTo>
                    <a:pt x="120" y="1057"/>
                  </a:lnTo>
                  <a:close/>
                  <a:moveTo>
                    <a:pt x="199" y="1062"/>
                  </a:moveTo>
                  <a:lnTo>
                    <a:pt x="199" y="1110"/>
                  </a:lnTo>
                  <a:lnTo>
                    <a:pt x="211" y="1110"/>
                  </a:lnTo>
                  <a:lnTo>
                    <a:pt x="211" y="1062"/>
                  </a:lnTo>
                  <a:lnTo>
                    <a:pt x="199" y="1062"/>
                  </a:lnTo>
                  <a:close/>
                  <a:moveTo>
                    <a:pt x="199" y="1158"/>
                  </a:moveTo>
                  <a:lnTo>
                    <a:pt x="199" y="1206"/>
                  </a:lnTo>
                  <a:lnTo>
                    <a:pt x="211" y="1206"/>
                  </a:lnTo>
                  <a:lnTo>
                    <a:pt x="211" y="1158"/>
                  </a:lnTo>
                  <a:lnTo>
                    <a:pt x="199" y="1158"/>
                  </a:lnTo>
                  <a:close/>
                  <a:moveTo>
                    <a:pt x="199" y="1254"/>
                  </a:moveTo>
                  <a:lnTo>
                    <a:pt x="199" y="1302"/>
                  </a:lnTo>
                  <a:lnTo>
                    <a:pt x="211" y="1302"/>
                  </a:lnTo>
                  <a:lnTo>
                    <a:pt x="211" y="1254"/>
                  </a:lnTo>
                  <a:lnTo>
                    <a:pt x="199" y="1254"/>
                  </a:lnTo>
                  <a:close/>
                  <a:moveTo>
                    <a:pt x="199" y="1350"/>
                  </a:moveTo>
                  <a:lnTo>
                    <a:pt x="199" y="1357"/>
                  </a:lnTo>
                  <a:lnTo>
                    <a:pt x="205" y="1363"/>
                  </a:lnTo>
                  <a:lnTo>
                    <a:pt x="247" y="1363"/>
                  </a:lnTo>
                  <a:lnTo>
                    <a:pt x="247" y="1351"/>
                  </a:lnTo>
                  <a:lnTo>
                    <a:pt x="205" y="1351"/>
                  </a:lnTo>
                  <a:lnTo>
                    <a:pt x="205" y="1357"/>
                  </a:lnTo>
                  <a:lnTo>
                    <a:pt x="211" y="1357"/>
                  </a:lnTo>
                  <a:lnTo>
                    <a:pt x="211" y="1350"/>
                  </a:lnTo>
                  <a:lnTo>
                    <a:pt x="199" y="1350"/>
                  </a:lnTo>
                  <a:close/>
                  <a:moveTo>
                    <a:pt x="295" y="1363"/>
                  </a:moveTo>
                  <a:lnTo>
                    <a:pt x="298" y="1363"/>
                  </a:lnTo>
                  <a:lnTo>
                    <a:pt x="325" y="1363"/>
                  </a:lnTo>
                  <a:lnTo>
                    <a:pt x="325" y="1357"/>
                  </a:lnTo>
                  <a:lnTo>
                    <a:pt x="319" y="1359"/>
                  </a:lnTo>
                  <a:lnTo>
                    <a:pt x="325" y="1376"/>
                  </a:lnTo>
                  <a:lnTo>
                    <a:pt x="337" y="1372"/>
                  </a:lnTo>
                  <a:lnTo>
                    <a:pt x="331" y="1355"/>
                  </a:lnTo>
                  <a:lnTo>
                    <a:pt x="325" y="1351"/>
                  </a:lnTo>
                  <a:lnTo>
                    <a:pt x="298" y="1351"/>
                  </a:lnTo>
                  <a:lnTo>
                    <a:pt x="295" y="1351"/>
                  </a:lnTo>
                  <a:lnTo>
                    <a:pt x="295" y="1363"/>
                  </a:lnTo>
                  <a:close/>
                  <a:moveTo>
                    <a:pt x="350" y="1375"/>
                  </a:moveTo>
                  <a:lnTo>
                    <a:pt x="363" y="1329"/>
                  </a:lnTo>
                  <a:lnTo>
                    <a:pt x="351" y="1326"/>
                  </a:lnTo>
                  <a:lnTo>
                    <a:pt x="339" y="1372"/>
                  </a:lnTo>
                  <a:lnTo>
                    <a:pt x="350" y="1375"/>
                  </a:lnTo>
                  <a:close/>
                  <a:moveTo>
                    <a:pt x="375" y="1282"/>
                  </a:moveTo>
                  <a:lnTo>
                    <a:pt x="387" y="1236"/>
                  </a:lnTo>
                  <a:lnTo>
                    <a:pt x="375" y="1233"/>
                  </a:lnTo>
                  <a:lnTo>
                    <a:pt x="363" y="1279"/>
                  </a:lnTo>
                  <a:lnTo>
                    <a:pt x="375" y="1282"/>
                  </a:lnTo>
                  <a:close/>
                  <a:moveTo>
                    <a:pt x="399" y="1189"/>
                  </a:moveTo>
                  <a:lnTo>
                    <a:pt x="411" y="1146"/>
                  </a:lnTo>
                  <a:lnTo>
                    <a:pt x="405" y="1144"/>
                  </a:lnTo>
                  <a:lnTo>
                    <a:pt x="409" y="1148"/>
                  </a:lnTo>
                  <a:lnTo>
                    <a:pt x="411" y="1146"/>
                  </a:lnTo>
                  <a:lnTo>
                    <a:pt x="403" y="1138"/>
                  </a:lnTo>
                  <a:lnTo>
                    <a:pt x="401" y="1140"/>
                  </a:lnTo>
                  <a:lnTo>
                    <a:pt x="399" y="1143"/>
                  </a:lnTo>
                  <a:lnTo>
                    <a:pt x="388" y="1186"/>
                  </a:lnTo>
                  <a:lnTo>
                    <a:pt x="399" y="1189"/>
                  </a:lnTo>
                  <a:close/>
                  <a:moveTo>
                    <a:pt x="445" y="1112"/>
                  </a:moveTo>
                  <a:lnTo>
                    <a:pt x="479" y="1078"/>
                  </a:lnTo>
                  <a:lnTo>
                    <a:pt x="471" y="1070"/>
                  </a:lnTo>
                  <a:lnTo>
                    <a:pt x="437" y="1104"/>
                  </a:lnTo>
                  <a:lnTo>
                    <a:pt x="445" y="1112"/>
                  </a:lnTo>
                  <a:close/>
                  <a:moveTo>
                    <a:pt x="513" y="1044"/>
                  </a:moveTo>
                  <a:lnTo>
                    <a:pt x="547" y="1010"/>
                  </a:lnTo>
                  <a:lnTo>
                    <a:pt x="538" y="1002"/>
                  </a:lnTo>
                  <a:lnTo>
                    <a:pt x="505" y="1036"/>
                  </a:lnTo>
                  <a:lnTo>
                    <a:pt x="513" y="1044"/>
                  </a:lnTo>
                  <a:close/>
                  <a:moveTo>
                    <a:pt x="545" y="1034"/>
                  </a:moveTo>
                  <a:lnTo>
                    <a:pt x="545" y="1038"/>
                  </a:lnTo>
                  <a:lnTo>
                    <a:pt x="557" y="1038"/>
                  </a:lnTo>
                  <a:lnTo>
                    <a:pt x="557" y="998"/>
                  </a:lnTo>
                  <a:lnTo>
                    <a:pt x="551" y="998"/>
                  </a:lnTo>
                  <a:lnTo>
                    <a:pt x="545" y="998"/>
                  </a:lnTo>
                  <a:lnTo>
                    <a:pt x="545" y="1002"/>
                  </a:lnTo>
                  <a:lnTo>
                    <a:pt x="557" y="1002"/>
                  </a:lnTo>
                  <a:lnTo>
                    <a:pt x="557" y="998"/>
                  </a:lnTo>
                  <a:lnTo>
                    <a:pt x="551" y="998"/>
                  </a:lnTo>
                  <a:lnTo>
                    <a:pt x="545" y="998"/>
                  </a:lnTo>
                  <a:lnTo>
                    <a:pt x="545" y="1038"/>
                  </a:lnTo>
                  <a:lnTo>
                    <a:pt x="557" y="1038"/>
                  </a:lnTo>
                  <a:lnTo>
                    <a:pt x="557" y="1034"/>
                  </a:lnTo>
                  <a:lnTo>
                    <a:pt x="545" y="1034"/>
                  </a:lnTo>
                  <a:close/>
                  <a:moveTo>
                    <a:pt x="557" y="1025"/>
                  </a:moveTo>
                  <a:lnTo>
                    <a:pt x="557" y="998"/>
                  </a:lnTo>
                  <a:lnTo>
                    <a:pt x="551" y="998"/>
                  </a:lnTo>
                  <a:lnTo>
                    <a:pt x="545" y="998"/>
                  </a:lnTo>
                  <a:lnTo>
                    <a:pt x="545" y="1018"/>
                  </a:lnTo>
                  <a:lnTo>
                    <a:pt x="557" y="1018"/>
                  </a:lnTo>
                  <a:lnTo>
                    <a:pt x="557" y="998"/>
                  </a:lnTo>
                  <a:lnTo>
                    <a:pt x="551" y="998"/>
                  </a:lnTo>
                  <a:lnTo>
                    <a:pt x="545" y="998"/>
                  </a:lnTo>
                  <a:lnTo>
                    <a:pt x="545" y="1025"/>
                  </a:lnTo>
                  <a:lnTo>
                    <a:pt x="557" y="1025"/>
                  </a:lnTo>
                  <a:close/>
                  <a:moveTo>
                    <a:pt x="557" y="1009"/>
                  </a:moveTo>
                  <a:lnTo>
                    <a:pt x="557" y="998"/>
                  </a:lnTo>
                  <a:lnTo>
                    <a:pt x="551" y="998"/>
                  </a:lnTo>
                  <a:lnTo>
                    <a:pt x="545" y="998"/>
                  </a:lnTo>
                  <a:lnTo>
                    <a:pt x="545" y="1035"/>
                  </a:lnTo>
                  <a:lnTo>
                    <a:pt x="557" y="1035"/>
                  </a:lnTo>
                  <a:lnTo>
                    <a:pt x="557" y="998"/>
                  </a:lnTo>
                  <a:lnTo>
                    <a:pt x="551" y="998"/>
                  </a:lnTo>
                  <a:lnTo>
                    <a:pt x="545" y="998"/>
                  </a:lnTo>
                  <a:lnTo>
                    <a:pt x="545" y="1009"/>
                  </a:lnTo>
                  <a:lnTo>
                    <a:pt x="557" y="1009"/>
                  </a:lnTo>
                  <a:close/>
                  <a:moveTo>
                    <a:pt x="557" y="1045"/>
                  </a:moveTo>
                  <a:lnTo>
                    <a:pt x="557" y="998"/>
                  </a:lnTo>
                  <a:lnTo>
                    <a:pt x="545" y="998"/>
                  </a:lnTo>
                  <a:lnTo>
                    <a:pt x="545" y="1045"/>
                  </a:lnTo>
                  <a:lnTo>
                    <a:pt x="557" y="1045"/>
                  </a:lnTo>
                  <a:close/>
                  <a:moveTo>
                    <a:pt x="600" y="1001"/>
                  </a:moveTo>
                  <a:lnTo>
                    <a:pt x="648" y="998"/>
                  </a:lnTo>
                  <a:lnTo>
                    <a:pt x="647" y="986"/>
                  </a:lnTo>
                  <a:lnTo>
                    <a:pt x="599" y="989"/>
                  </a:lnTo>
                  <a:lnTo>
                    <a:pt x="600" y="1001"/>
                  </a:lnTo>
                  <a:close/>
                  <a:moveTo>
                    <a:pt x="696" y="995"/>
                  </a:moveTo>
                  <a:lnTo>
                    <a:pt x="744" y="992"/>
                  </a:lnTo>
                  <a:lnTo>
                    <a:pt x="743" y="980"/>
                  </a:lnTo>
                  <a:lnTo>
                    <a:pt x="695" y="983"/>
                  </a:lnTo>
                  <a:lnTo>
                    <a:pt x="696" y="995"/>
                  </a:lnTo>
                  <a:close/>
                  <a:moveTo>
                    <a:pt x="784" y="998"/>
                  </a:moveTo>
                  <a:lnTo>
                    <a:pt x="821" y="1029"/>
                  </a:lnTo>
                  <a:lnTo>
                    <a:pt x="829" y="1020"/>
                  </a:lnTo>
                  <a:lnTo>
                    <a:pt x="792" y="989"/>
                  </a:lnTo>
                  <a:lnTo>
                    <a:pt x="784" y="998"/>
                  </a:lnTo>
                  <a:close/>
                  <a:moveTo>
                    <a:pt x="858" y="1059"/>
                  </a:moveTo>
                  <a:lnTo>
                    <a:pt x="895" y="1090"/>
                  </a:lnTo>
                  <a:lnTo>
                    <a:pt x="903" y="1081"/>
                  </a:lnTo>
                  <a:lnTo>
                    <a:pt x="866" y="1050"/>
                  </a:lnTo>
                  <a:lnTo>
                    <a:pt x="858" y="1059"/>
                  </a:lnTo>
                  <a:close/>
                  <a:moveTo>
                    <a:pt x="932" y="1121"/>
                  </a:moveTo>
                  <a:lnTo>
                    <a:pt x="933" y="1122"/>
                  </a:lnTo>
                  <a:lnTo>
                    <a:pt x="942" y="1120"/>
                  </a:lnTo>
                  <a:lnTo>
                    <a:pt x="963" y="1078"/>
                  </a:lnTo>
                  <a:lnTo>
                    <a:pt x="952" y="1073"/>
                  </a:lnTo>
                  <a:lnTo>
                    <a:pt x="931" y="1115"/>
                  </a:lnTo>
                  <a:lnTo>
                    <a:pt x="937" y="1117"/>
                  </a:lnTo>
                  <a:lnTo>
                    <a:pt x="941" y="1113"/>
                  </a:lnTo>
                  <a:lnTo>
                    <a:pt x="939" y="1112"/>
                  </a:lnTo>
                  <a:lnTo>
                    <a:pt x="932" y="1121"/>
                  </a:lnTo>
                  <a:close/>
                  <a:moveTo>
                    <a:pt x="985" y="1035"/>
                  </a:moveTo>
                  <a:lnTo>
                    <a:pt x="1006" y="992"/>
                  </a:lnTo>
                  <a:lnTo>
                    <a:pt x="995" y="987"/>
                  </a:lnTo>
                  <a:lnTo>
                    <a:pt x="974" y="1030"/>
                  </a:lnTo>
                  <a:lnTo>
                    <a:pt x="985" y="1035"/>
                  </a:lnTo>
                  <a:close/>
                  <a:moveTo>
                    <a:pt x="1045" y="990"/>
                  </a:moveTo>
                  <a:lnTo>
                    <a:pt x="1093" y="990"/>
                  </a:lnTo>
                  <a:lnTo>
                    <a:pt x="1093" y="978"/>
                  </a:lnTo>
                  <a:lnTo>
                    <a:pt x="1045" y="978"/>
                  </a:lnTo>
                  <a:lnTo>
                    <a:pt x="1045" y="990"/>
                  </a:lnTo>
                  <a:close/>
                  <a:moveTo>
                    <a:pt x="1130" y="990"/>
                  </a:moveTo>
                  <a:lnTo>
                    <a:pt x="1130" y="998"/>
                  </a:lnTo>
                  <a:lnTo>
                    <a:pt x="1130" y="1038"/>
                  </a:lnTo>
                  <a:lnTo>
                    <a:pt x="1142" y="1038"/>
                  </a:lnTo>
                  <a:lnTo>
                    <a:pt x="1142" y="998"/>
                  </a:lnTo>
                  <a:lnTo>
                    <a:pt x="1142" y="990"/>
                  </a:lnTo>
                  <a:lnTo>
                    <a:pt x="1130" y="990"/>
                  </a:lnTo>
                  <a:close/>
                  <a:moveTo>
                    <a:pt x="1130" y="1086"/>
                  </a:moveTo>
                  <a:lnTo>
                    <a:pt x="1130" y="1117"/>
                  </a:lnTo>
                  <a:lnTo>
                    <a:pt x="1142" y="1117"/>
                  </a:lnTo>
                  <a:lnTo>
                    <a:pt x="1142" y="1101"/>
                  </a:lnTo>
                  <a:lnTo>
                    <a:pt x="1130" y="1101"/>
                  </a:lnTo>
                  <a:lnTo>
                    <a:pt x="1130" y="1117"/>
                  </a:lnTo>
                  <a:lnTo>
                    <a:pt x="1142" y="1117"/>
                  </a:lnTo>
                  <a:lnTo>
                    <a:pt x="1142" y="1086"/>
                  </a:lnTo>
                  <a:lnTo>
                    <a:pt x="1130" y="1086"/>
                  </a:lnTo>
                  <a:close/>
                  <a:moveTo>
                    <a:pt x="1142" y="1053"/>
                  </a:moveTo>
                  <a:lnTo>
                    <a:pt x="1142" y="1005"/>
                  </a:lnTo>
                  <a:lnTo>
                    <a:pt x="1130" y="1005"/>
                  </a:lnTo>
                  <a:lnTo>
                    <a:pt x="1130" y="1053"/>
                  </a:lnTo>
                  <a:lnTo>
                    <a:pt x="1142" y="1053"/>
                  </a:lnTo>
                  <a:close/>
                  <a:moveTo>
                    <a:pt x="1130" y="1012"/>
                  </a:moveTo>
                  <a:lnTo>
                    <a:pt x="1130" y="1060"/>
                  </a:lnTo>
                  <a:lnTo>
                    <a:pt x="1142" y="1060"/>
                  </a:lnTo>
                  <a:lnTo>
                    <a:pt x="1142" y="1012"/>
                  </a:lnTo>
                  <a:lnTo>
                    <a:pt x="1130" y="1012"/>
                  </a:lnTo>
                  <a:close/>
                  <a:moveTo>
                    <a:pt x="1142" y="1020"/>
                  </a:moveTo>
                  <a:lnTo>
                    <a:pt x="1142" y="984"/>
                  </a:lnTo>
                  <a:lnTo>
                    <a:pt x="1136" y="984"/>
                  </a:lnTo>
                  <a:lnTo>
                    <a:pt x="1130" y="984"/>
                  </a:lnTo>
                  <a:lnTo>
                    <a:pt x="1130" y="996"/>
                  </a:lnTo>
                  <a:lnTo>
                    <a:pt x="1142" y="996"/>
                  </a:lnTo>
                  <a:lnTo>
                    <a:pt x="1142" y="984"/>
                  </a:lnTo>
                  <a:lnTo>
                    <a:pt x="1136" y="984"/>
                  </a:lnTo>
                  <a:lnTo>
                    <a:pt x="1130" y="984"/>
                  </a:lnTo>
                  <a:lnTo>
                    <a:pt x="1130" y="1020"/>
                  </a:lnTo>
                  <a:lnTo>
                    <a:pt x="1142" y="1020"/>
                  </a:lnTo>
                  <a:close/>
                  <a:moveTo>
                    <a:pt x="1130" y="1044"/>
                  </a:moveTo>
                  <a:lnTo>
                    <a:pt x="1130" y="1064"/>
                  </a:lnTo>
                  <a:lnTo>
                    <a:pt x="1142" y="1064"/>
                  </a:lnTo>
                  <a:lnTo>
                    <a:pt x="1142" y="1036"/>
                  </a:lnTo>
                  <a:lnTo>
                    <a:pt x="1130" y="1036"/>
                  </a:lnTo>
                  <a:lnTo>
                    <a:pt x="1130" y="1064"/>
                  </a:lnTo>
                  <a:lnTo>
                    <a:pt x="1142" y="1064"/>
                  </a:lnTo>
                  <a:lnTo>
                    <a:pt x="1142" y="1044"/>
                  </a:lnTo>
                  <a:lnTo>
                    <a:pt x="1130" y="1044"/>
                  </a:lnTo>
                  <a:close/>
                  <a:moveTo>
                    <a:pt x="1142" y="988"/>
                  </a:moveTo>
                  <a:lnTo>
                    <a:pt x="1142" y="984"/>
                  </a:lnTo>
                  <a:lnTo>
                    <a:pt x="1136" y="984"/>
                  </a:lnTo>
                  <a:lnTo>
                    <a:pt x="1130" y="984"/>
                  </a:lnTo>
                  <a:lnTo>
                    <a:pt x="1130" y="1029"/>
                  </a:lnTo>
                  <a:lnTo>
                    <a:pt x="1142" y="1029"/>
                  </a:lnTo>
                  <a:lnTo>
                    <a:pt x="1142" y="984"/>
                  </a:lnTo>
                  <a:lnTo>
                    <a:pt x="1136" y="984"/>
                  </a:lnTo>
                  <a:lnTo>
                    <a:pt x="1130" y="984"/>
                  </a:lnTo>
                  <a:lnTo>
                    <a:pt x="1130" y="988"/>
                  </a:lnTo>
                  <a:lnTo>
                    <a:pt x="1142" y="988"/>
                  </a:lnTo>
                  <a:close/>
                  <a:moveTo>
                    <a:pt x="1142" y="1077"/>
                  </a:moveTo>
                  <a:lnTo>
                    <a:pt x="1142" y="1030"/>
                  </a:lnTo>
                  <a:lnTo>
                    <a:pt x="1130" y="1030"/>
                  </a:lnTo>
                  <a:lnTo>
                    <a:pt x="1130" y="1077"/>
                  </a:lnTo>
                  <a:lnTo>
                    <a:pt x="1142" y="1077"/>
                  </a:lnTo>
                  <a:close/>
                  <a:moveTo>
                    <a:pt x="1137" y="991"/>
                  </a:moveTo>
                  <a:lnTo>
                    <a:pt x="1182" y="1006"/>
                  </a:lnTo>
                  <a:lnTo>
                    <a:pt x="1187" y="995"/>
                  </a:lnTo>
                  <a:lnTo>
                    <a:pt x="1141" y="980"/>
                  </a:lnTo>
                  <a:lnTo>
                    <a:pt x="1137" y="991"/>
                  </a:lnTo>
                  <a:close/>
                  <a:moveTo>
                    <a:pt x="1228" y="1021"/>
                  </a:moveTo>
                  <a:lnTo>
                    <a:pt x="1254" y="1030"/>
                  </a:lnTo>
                  <a:lnTo>
                    <a:pt x="1262" y="1024"/>
                  </a:lnTo>
                  <a:lnTo>
                    <a:pt x="1262" y="1004"/>
                  </a:lnTo>
                  <a:lnTo>
                    <a:pt x="1250" y="1004"/>
                  </a:lnTo>
                  <a:lnTo>
                    <a:pt x="1250" y="1024"/>
                  </a:lnTo>
                  <a:lnTo>
                    <a:pt x="1256" y="1024"/>
                  </a:lnTo>
                  <a:lnTo>
                    <a:pt x="1258" y="1019"/>
                  </a:lnTo>
                  <a:lnTo>
                    <a:pt x="1232" y="1010"/>
                  </a:lnTo>
                  <a:lnTo>
                    <a:pt x="1228" y="1021"/>
                  </a:lnTo>
                  <a:close/>
                  <a:moveTo>
                    <a:pt x="1285" y="990"/>
                  </a:moveTo>
                  <a:lnTo>
                    <a:pt x="1296" y="990"/>
                  </a:lnTo>
                  <a:lnTo>
                    <a:pt x="1302" y="984"/>
                  </a:lnTo>
                  <a:lnTo>
                    <a:pt x="1302" y="947"/>
                  </a:lnTo>
                  <a:lnTo>
                    <a:pt x="1290" y="947"/>
                  </a:lnTo>
                  <a:lnTo>
                    <a:pt x="1290" y="984"/>
                  </a:lnTo>
                  <a:lnTo>
                    <a:pt x="1296" y="984"/>
                  </a:lnTo>
                  <a:lnTo>
                    <a:pt x="1296" y="978"/>
                  </a:lnTo>
                  <a:lnTo>
                    <a:pt x="1285" y="978"/>
                  </a:lnTo>
                  <a:lnTo>
                    <a:pt x="1285" y="990"/>
                  </a:lnTo>
                  <a:close/>
                  <a:moveTo>
                    <a:pt x="1297" y="912"/>
                  </a:moveTo>
                  <a:lnTo>
                    <a:pt x="1339" y="937"/>
                  </a:lnTo>
                  <a:lnTo>
                    <a:pt x="1345" y="927"/>
                  </a:lnTo>
                  <a:lnTo>
                    <a:pt x="1304" y="902"/>
                  </a:lnTo>
                  <a:lnTo>
                    <a:pt x="1297" y="912"/>
                  </a:lnTo>
                  <a:close/>
                  <a:moveTo>
                    <a:pt x="1380" y="962"/>
                  </a:moveTo>
                  <a:lnTo>
                    <a:pt x="1421" y="987"/>
                  </a:lnTo>
                  <a:lnTo>
                    <a:pt x="1427" y="976"/>
                  </a:lnTo>
                  <a:lnTo>
                    <a:pt x="1386" y="951"/>
                  </a:lnTo>
                  <a:lnTo>
                    <a:pt x="1380" y="962"/>
                  </a:lnTo>
                  <a:close/>
                  <a:moveTo>
                    <a:pt x="1423" y="1027"/>
                  </a:moveTo>
                  <a:lnTo>
                    <a:pt x="1423" y="1064"/>
                  </a:lnTo>
                  <a:lnTo>
                    <a:pt x="1423" y="1075"/>
                  </a:lnTo>
                  <a:lnTo>
                    <a:pt x="1435" y="1075"/>
                  </a:lnTo>
                  <a:lnTo>
                    <a:pt x="1435" y="1064"/>
                  </a:lnTo>
                  <a:lnTo>
                    <a:pt x="1435" y="1027"/>
                  </a:lnTo>
                  <a:lnTo>
                    <a:pt x="1423" y="1027"/>
                  </a:lnTo>
                  <a:close/>
                  <a:moveTo>
                    <a:pt x="1460" y="1082"/>
                  </a:moveTo>
                  <a:lnTo>
                    <a:pt x="1503" y="1060"/>
                  </a:lnTo>
                  <a:lnTo>
                    <a:pt x="1498" y="1050"/>
                  </a:lnTo>
                  <a:lnTo>
                    <a:pt x="1455" y="1071"/>
                  </a:lnTo>
                  <a:lnTo>
                    <a:pt x="1460" y="1082"/>
                  </a:lnTo>
                  <a:close/>
                  <a:moveTo>
                    <a:pt x="1541" y="1028"/>
                  </a:moveTo>
                  <a:lnTo>
                    <a:pt x="1541" y="984"/>
                  </a:lnTo>
                  <a:lnTo>
                    <a:pt x="1535" y="984"/>
                  </a:lnTo>
                  <a:lnTo>
                    <a:pt x="1531" y="988"/>
                  </a:lnTo>
                  <a:lnTo>
                    <a:pt x="1533" y="991"/>
                  </a:lnTo>
                  <a:lnTo>
                    <a:pt x="1543" y="984"/>
                  </a:lnTo>
                  <a:lnTo>
                    <a:pt x="1540" y="981"/>
                  </a:lnTo>
                  <a:lnTo>
                    <a:pt x="1529" y="984"/>
                  </a:lnTo>
                  <a:lnTo>
                    <a:pt x="1529" y="1028"/>
                  </a:lnTo>
                  <a:lnTo>
                    <a:pt x="1541" y="1028"/>
                  </a:lnTo>
                  <a:close/>
                  <a:moveTo>
                    <a:pt x="1564" y="1028"/>
                  </a:moveTo>
                  <a:lnTo>
                    <a:pt x="1595" y="1065"/>
                  </a:lnTo>
                  <a:lnTo>
                    <a:pt x="1604" y="1057"/>
                  </a:lnTo>
                  <a:lnTo>
                    <a:pt x="1573" y="1021"/>
                  </a:lnTo>
                  <a:lnTo>
                    <a:pt x="1564" y="1028"/>
                  </a:lnTo>
                  <a:close/>
                  <a:moveTo>
                    <a:pt x="1632" y="1031"/>
                  </a:moveTo>
                  <a:lnTo>
                    <a:pt x="1658" y="991"/>
                  </a:lnTo>
                  <a:lnTo>
                    <a:pt x="1648" y="984"/>
                  </a:lnTo>
                  <a:lnTo>
                    <a:pt x="1622" y="1024"/>
                  </a:lnTo>
                  <a:lnTo>
                    <a:pt x="1632" y="1031"/>
                  </a:lnTo>
                  <a:close/>
                  <a:moveTo>
                    <a:pt x="1680" y="947"/>
                  </a:moveTo>
                  <a:lnTo>
                    <a:pt x="1702" y="904"/>
                  </a:lnTo>
                  <a:lnTo>
                    <a:pt x="1691" y="899"/>
                  </a:lnTo>
                  <a:lnTo>
                    <a:pt x="1670" y="942"/>
                  </a:lnTo>
                  <a:lnTo>
                    <a:pt x="1680" y="947"/>
                  </a:lnTo>
                  <a:close/>
                  <a:moveTo>
                    <a:pt x="1723" y="861"/>
                  </a:moveTo>
                  <a:lnTo>
                    <a:pt x="1727" y="854"/>
                  </a:lnTo>
                  <a:lnTo>
                    <a:pt x="1722" y="851"/>
                  </a:lnTo>
                  <a:lnTo>
                    <a:pt x="1722" y="857"/>
                  </a:lnTo>
                  <a:lnTo>
                    <a:pt x="1762" y="857"/>
                  </a:lnTo>
                  <a:lnTo>
                    <a:pt x="1762" y="845"/>
                  </a:lnTo>
                  <a:lnTo>
                    <a:pt x="1722" y="845"/>
                  </a:lnTo>
                  <a:lnTo>
                    <a:pt x="1716" y="849"/>
                  </a:lnTo>
                  <a:lnTo>
                    <a:pt x="1713" y="856"/>
                  </a:lnTo>
                  <a:lnTo>
                    <a:pt x="1723" y="861"/>
                  </a:lnTo>
                  <a:close/>
                  <a:moveTo>
                    <a:pt x="1810" y="857"/>
                  </a:moveTo>
                  <a:lnTo>
                    <a:pt x="1815" y="857"/>
                  </a:lnTo>
                  <a:lnTo>
                    <a:pt x="1815" y="851"/>
                  </a:lnTo>
                  <a:lnTo>
                    <a:pt x="1809" y="851"/>
                  </a:lnTo>
                  <a:lnTo>
                    <a:pt x="1809" y="891"/>
                  </a:lnTo>
                  <a:lnTo>
                    <a:pt x="1821" y="891"/>
                  </a:lnTo>
                  <a:lnTo>
                    <a:pt x="1821" y="888"/>
                  </a:lnTo>
                  <a:lnTo>
                    <a:pt x="1809" y="888"/>
                  </a:lnTo>
                  <a:lnTo>
                    <a:pt x="1809" y="891"/>
                  </a:lnTo>
                  <a:lnTo>
                    <a:pt x="1821" y="891"/>
                  </a:lnTo>
                  <a:lnTo>
                    <a:pt x="1821" y="851"/>
                  </a:lnTo>
                  <a:lnTo>
                    <a:pt x="1815" y="845"/>
                  </a:lnTo>
                  <a:lnTo>
                    <a:pt x="1810" y="845"/>
                  </a:lnTo>
                  <a:lnTo>
                    <a:pt x="1810" y="857"/>
                  </a:lnTo>
                  <a:close/>
                  <a:moveTo>
                    <a:pt x="1809" y="863"/>
                  </a:moveTo>
                  <a:lnTo>
                    <a:pt x="1809" y="891"/>
                  </a:lnTo>
                  <a:lnTo>
                    <a:pt x="1821" y="891"/>
                  </a:lnTo>
                  <a:lnTo>
                    <a:pt x="1821" y="872"/>
                  </a:lnTo>
                  <a:lnTo>
                    <a:pt x="1809" y="872"/>
                  </a:lnTo>
                  <a:lnTo>
                    <a:pt x="1809" y="891"/>
                  </a:lnTo>
                  <a:lnTo>
                    <a:pt x="1821" y="891"/>
                  </a:lnTo>
                  <a:lnTo>
                    <a:pt x="1821" y="863"/>
                  </a:lnTo>
                  <a:lnTo>
                    <a:pt x="1809" y="863"/>
                  </a:lnTo>
                  <a:close/>
                  <a:moveTo>
                    <a:pt x="1809" y="879"/>
                  </a:moveTo>
                  <a:lnTo>
                    <a:pt x="1809" y="891"/>
                  </a:lnTo>
                  <a:lnTo>
                    <a:pt x="1818" y="896"/>
                  </a:lnTo>
                  <a:lnTo>
                    <a:pt x="1849" y="878"/>
                  </a:lnTo>
                  <a:lnTo>
                    <a:pt x="1842" y="868"/>
                  </a:lnTo>
                  <a:lnTo>
                    <a:pt x="1812" y="886"/>
                  </a:lnTo>
                  <a:lnTo>
                    <a:pt x="1815" y="891"/>
                  </a:lnTo>
                  <a:lnTo>
                    <a:pt x="1821" y="891"/>
                  </a:lnTo>
                  <a:lnTo>
                    <a:pt x="1821" y="879"/>
                  </a:lnTo>
                  <a:lnTo>
                    <a:pt x="1809" y="879"/>
                  </a:lnTo>
                  <a:close/>
                  <a:moveTo>
                    <a:pt x="1887" y="845"/>
                  </a:moveTo>
                  <a:lnTo>
                    <a:pt x="1887" y="797"/>
                  </a:lnTo>
                  <a:lnTo>
                    <a:pt x="1875" y="797"/>
                  </a:lnTo>
                  <a:lnTo>
                    <a:pt x="1875" y="845"/>
                  </a:lnTo>
                  <a:lnTo>
                    <a:pt x="1887" y="845"/>
                  </a:lnTo>
                  <a:close/>
                  <a:moveTo>
                    <a:pt x="1887" y="749"/>
                  </a:moveTo>
                  <a:lnTo>
                    <a:pt x="1887" y="705"/>
                  </a:lnTo>
                  <a:lnTo>
                    <a:pt x="1881" y="705"/>
                  </a:lnTo>
                  <a:lnTo>
                    <a:pt x="1875" y="705"/>
                  </a:lnTo>
                  <a:lnTo>
                    <a:pt x="1875" y="709"/>
                  </a:lnTo>
                  <a:lnTo>
                    <a:pt x="1887" y="709"/>
                  </a:lnTo>
                  <a:lnTo>
                    <a:pt x="1887" y="705"/>
                  </a:lnTo>
                  <a:lnTo>
                    <a:pt x="1881" y="705"/>
                  </a:lnTo>
                  <a:lnTo>
                    <a:pt x="1875" y="705"/>
                  </a:lnTo>
                  <a:lnTo>
                    <a:pt x="1875" y="749"/>
                  </a:lnTo>
                  <a:lnTo>
                    <a:pt x="1887" y="749"/>
                  </a:lnTo>
                  <a:close/>
                  <a:moveTo>
                    <a:pt x="1875" y="757"/>
                  </a:moveTo>
                  <a:lnTo>
                    <a:pt x="1875" y="785"/>
                  </a:lnTo>
                  <a:lnTo>
                    <a:pt x="1887" y="785"/>
                  </a:lnTo>
                  <a:lnTo>
                    <a:pt x="1887" y="764"/>
                  </a:lnTo>
                  <a:lnTo>
                    <a:pt x="1875" y="764"/>
                  </a:lnTo>
                  <a:lnTo>
                    <a:pt x="1875" y="785"/>
                  </a:lnTo>
                  <a:lnTo>
                    <a:pt x="1887" y="785"/>
                  </a:lnTo>
                  <a:lnTo>
                    <a:pt x="1887" y="757"/>
                  </a:lnTo>
                  <a:lnTo>
                    <a:pt x="1875" y="757"/>
                  </a:lnTo>
                  <a:close/>
                  <a:moveTo>
                    <a:pt x="1887" y="716"/>
                  </a:moveTo>
                  <a:lnTo>
                    <a:pt x="1887" y="705"/>
                  </a:lnTo>
                  <a:lnTo>
                    <a:pt x="1881" y="705"/>
                  </a:lnTo>
                  <a:lnTo>
                    <a:pt x="1876" y="708"/>
                  </a:lnTo>
                  <a:lnTo>
                    <a:pt x="1897" y="739"/>
                  </a:lnTo>
                  <a:lnTo>
                    <a:pt x="1907" y="732"/>
                  </a:lnTo>
                  <a:lnTo>
                    <a:pt x="1886" y="702"/>
                  </a:lnTo>
                  <a:lnTo>
                    <a:pt x="1875" y="705"/>
                  </a:lnTo>
                  <a:lnTo>
                    <a:pt x="1875" y="716"/>
                  </a:lnTo>
                  <a:lnTo>
                    <a:pt x="1887" y="716"/>
                  </a:lnTo>
                  <a:close/>
                  <a:moveTo>
                    <a:pt x="1923" y="779"/>
                  </a:moveTo>
                  <a:lnTo>
                    <a:pt x="1929" y="788"/>
                  </a:lnTo>
                  <a:lnTo>
                    <a:pt x="1940" y="785"/>
                  </a:lnTo>
                  <a:lnTo>
                    <a:pt x="1940" y="748"/>
                  </a:lnTo>
                  <a:lnTo>
                    <a:pt x="1928" y="748"/>
                  </a:lnTo>
                  <a:lnTo>
                    <a:pt x="1928" y="785"/>
                  </a:lnTo>
                  <a:lnTo>
                    <a:pt x="1934" y="785"/>
                  </a:lnTo>
                  <a:lnTo>
                    <a:pt x="1939" y="781"/>
                  </a:lnTo>
                  <a:lnTo>
                    <a:pt x="1933" y="772"/>
                  </a:lnTo>
                  <a:lnTo>
                    <a:pt x="1923" y="779"/>
                  </a:lnTo>
                  <a:close/>
                  <a:moveTo>
                    <a:pt x="1928" y="710"/>
                  </a:moveTo>
                  <a:lnTo>
                    <a:pt x="1928" y="758"/>
                  </a:lnTo>
                  <a:lnTo>
                    <a:pt x="1940" y="758"/>
                  </a:lnTo>
                  <a:lnTo>
                    <a:pt x="1940" y="710"/>
                  </a:lnTo>
                  <a:lnTo>
                    <a:pt x="1928" y="710"/>
                  </a:lnTo>
                  <a:close/>
                  <a:moveTo>
                    <a:pt x="1947" y="766"/>
                  </a:moveTo>
                  <a:lnTo>
                    <a:pt x="1962" y="720"/>
                  </a:lnTo>
                  <a:lnTo>
                    <a:pt x="1951" y="717"/>
                  </a:lnTo>
                  <a:lnTo>
                    <a:pt x="1936" y="762"/>
                  </a:lnTo>
                  <a:lnTo>
                    <a:pt x="1947" y="766"/>
                  </a:lnTo>
                  <a:close/>
                  <a:moveTo>
                    <a:pt x="1995" y="711"/>
                  </a:moveTo>
                  <a:lnTo>
                    <a:pt x="2043" y="711"/>
                  </a:lnTo>
                  <a:lnTo>
                    <a:pt x="2043" y="699"/>
                  </a:lnTo>
                  <a:lnTo>
                    <a:pt x="1995" y="699"/>
                  </a:lnTo>
                  <a:lnTo>
                    <a:pt x="1995" y="711"/>
                  </a:lnTo>
                  <a:close/>
                  <a:moveTo>
                    <a:pt x="2062" y="728"/>
                  </a:moveTo>
                  <a:lnTo>
                    <a:pt x="2062" y="776"/>
                  </a:lnTo>
                  <a:lnTo>
                    <a:pt x="2074" y="776"/>
                  </a:lnTo>
                  <a:lnTo>
                    <a:pt x="2074" y="728"/>
                  </a:lnTo>
                  <a:lnTo>
                    <a:pt x="2062" y="728"/>
                  </a:lnTo>
                  <a:close/>
                  <a:moveTo>
                    <a:pt x="2067" y="745"/>
                  </a:moveTo>
                  <a:lnTo>
                    <a:pt x="2060" y="704"/>
                  </a:lnTo>
                  <a:lnTo>
                    <a:pt x="2054" y="705"/>
                  </a:lnTo>
                  <a:lnTo>
                    <a:pt x="2054" y="711"/>
                  </a:lnTo>
                  <a:lnTo>
                    <a:pt x="2061" y="711"/>
                  </a:lnTo>
                  <a:lnTo>
                    <a:pt x="2061" y="699"/>
                  </a:lnTo>
                  <a:lnTo>
                    <a:pt x="2054" y="699"/>
                  </a:lnTo>
                  <a:lnTo>
                    <a:pt x="2048" y="706"/>
                  </a:lnTo>
                  <a:lnTo>
                    <a:pt x="2055" y="747"/>
                  </a:lnTo>
                  <a:lnTo>
                    <a:pt x="2067" y="745"/>
                  </a:lnTo>
                  <a:close/>
                  <a:moveTo>
                    <a:pt x="2087" y="677"/>
                  </a:moveTo>
                  <a:lnTo>
                    <a:pt x="2087" y="628"/>
                  </a:lnTo>
                  <a:lnTo>
                    <a:pt x="2075" y="628"/>
                  </a:lnTo>
                  <a:lnTo>
                    <a:pt x="2075" y="677"/>
                  </a:lnTo>
                  <a:lnTo>
                    <a:pt x="2087" y="677"/>
                  </a:lnTo>
                  <a:close/>
                  <a:moveTo>
                    <a:pt x="2087" y="580"/>
                  </a:moveTo>
                  <a:lnTo>
                    <a:pt x="2087" y="532"/>
                  </a:lnTo>
                  <a:lnTo>
                    <a:pt x="2075" y="532"/>
                  </a:lnTo>
                  <a:lnTo>
                    <a:pt x="2075" y="580"/>
                  </a:lnTo>
                  <a:lnTo>
                    <a:pt x="2087" y="580"/>
                  </a:lnTo>
                  <a:close/>
                  <a:moveTo>
                    <a:pt x="2087" y="484"/>
                  </a:moveTo>
                  <a:lnTo>
                    <a:pt x="2087" y="436"/>
                  </a:lnTo>
                  <a:lnTo>
                    <a:pt x="2075" y="436"/>
                  </a:lnTo>
                  <a:lnTo>
                    <a:pt x="2075" y="484"/>
                  </a:lnTo>
                  <a:lnTo>
                    <a:pt x="2087" y="484"/>
                  </a:lnTo>
                  <a:close/>
                  <a:moveTo>
                    <a:pt x="2087" y="388"/>
                  </a:moveTo>
                  <a:lnTo>
                    <a:pt x="2087" y="340"/>
                  </a:lnTo>
                  <a:lnTo>
                    <a:pt x="2075" y="340"/>
                  </a:lnTo>
                  <a:lnTo>
                    <a:pt x="2075" y="388"/>
                  </a:lnTo>
                  <a:lnTo>
                    <a:pt x="2087" y="388"/>
                  </a:lnTo>
                  <a:close/>
                  <a:moveTo>
                    <a:pt x="2087" y="292"/>
                  </a:moveTo>
                  <a:lnTo>
                    <a:pt x="2087" y="244"/>
                  </a:lnTo>
                  <a:lnTo>
                    <a:pt x="2075" y="244"/>
                  </a:lnTo>
                  <a:lnTo>
                    <a:pt x="2075" y="292"/>
                  </a:lnTo>
                  <a:lnTo>
                    <a:pt x="2087" y="292"/>
                  </a:lnTo>
                  <a:close/>
                  <a:moveTo>
                    <a:pt x="2087" y="196"/>
                  </a:moveTo>
                  <a:lnTo>
                    <a:pt x="2087" y="148"/>
                  </a:lnTo>
                  <a:lnTo>
                    <a:pt x="2075" y="148"/>
                  </a:lnTo>
                  <a:lnTo>
                    <a:pt x="2075" y="196"/>
                  </a:lnTo>
                  <a:lnTo>
                    <a:pt x="2087" y="196"/>
                  </a:lnTo>
                  <a:close/>
                  <a:moveTo>
                    <a:pt x="2087" y="100"/>
                  </a:moveTo>
                  <a:lnTo>
                    <a:pt x="2087" y="52"/>
                  </a:lnTo>
                  <a:lnTo>
                    <a:pt x="2075" y="52"/>
                  </a:lnTo>
                  <a:lnTo>
                    <a:pt x="2075" y="100"/>
                  </a:lnTo>
                  <a:lnTo>
                    <a:pt x="2087" y="100"/>
                  </a:lnTo>
                  <a:close/>
                  <a:moveTo>
                    <a:pt x="2087" y="3"/>
                  </a:moveTo>
                  <a:lnTo>
                    <a:pt x="2087" y="0"/>
                  </a:lnTo>
                  <a:lnTo>
                    <a:pt x="2081" y="0"/>
                  </a:lnTo>
                  <a:lnTo>
                    <a:pt x="2075" y="0"/>
                  </a:lnTo>
                  <a:lnTo>
                    <a:pt x="2075" y="39"/>
                  </a:lnTo>
                  <a:lnTo>
                    <a:pt x="2081" y="45"/>
                  </a:lnTo>
                  <a:lnTo>
                    <a:pt x="2085" y="45"/>
                  </a:lnTo>
                  <a:lnTo>
                    <a:pt x="2085" y="33"/>
                  </a:lnTo>
                  <a:lnTo>
                    <a:pt x="2081" y="33"/>
                  </a:lnTo>
                  <a:lnTo>
                    <a:pt x="2081" y="39"/>
                  </a:lnTo>
                  <a:lnTo>
                    <a:pt x="2087" y="39"/>
                  </a:lnTo>
                  <a:lnTo>
                    <a:pt x="2087" y="0"/>
                  </a:lnTo>
                  <a:lnTo>
                    <a:pt x="2081" y="0"/>
                  </a:lnTo>
                  <a:lnTo>
                    <a:pt x="2075" y="0"/>
                  </a:lnTo>
                  <a:lnTo>
                    <a:pt x="2075" y="3"/>
                  </a:lnTo>
                  <a:lnTo>
                    <a:pt x="2087" y="3"/>
                  </a:lnTo>
                  <a:close/>
                  <a:moveTo>
                    <a:pt x="2113" y="14"/>
                  </a:moveTo>
                  <a:lnTo>
                    <a:pt x="2113" y="0"/>
                  </a:lnTo>
                  <a:lnTo>
                    <a:pt x="2107" y="0"/>
                  </a:lnTo>
                  <a:lnTo>
                    <a:pt x="2101" y="0"/>
                  </a:lnTo>
                  <a:lnTo>
                    <a:pt x="2101" y="34"/>
                  </a:lnTo>
                  <a:lnTo>
                    <a:pt x="2113" y="34"/>
                  </a:lnTo>
                  <a:lnTo>
                    <a:pt x="2113" y="0"/>
                  </a:lnTo>
                  <a:lnTo>
                    <a:pt x="2107" y="0"/>
                  </a:lnTo>
                  <a:lnTo>
                    <a:pt x="2101" y="0"/>
                  </a:lnTo>
                  <a:lnTo>
                    <a:pt x="2101" y="14"/>
                  </a:lnTo>
                  <a:lnTo>
                    <a:pt x="2113" y="14"/>
                  </a:lnTo>
                  <a:close/>
                  <a:moveTo>
                    <a:pt x="2101" y="2"/>
                  </a:moveTo>
                  <a:lnTo>
                    <a:pt x="2101" y="50"/>
                  </a:lnTo>
                  <a:lnTo>
                    <a:pt x="2113" y="50"/>
                  </a:lnTo>
                  <a:lnTo>
                    <a:pt x="2113" y="2"/>
                  </a:lnTo>
                  <a:lnTo>
                    <a:pt x="2101" y="2"/>
                  </a:lnTo>
                  <a:close/>
                  <a:moveTo>
                    <a:pt x="2113" y="34"/>
                  </a:moveTo>
                  <a:lnTo>
                    <a:pt x="2113" y="26"/>
                  </a:lnTo>
                  <a:lnTo>
                    <a:pt x="2107" y="26"/>
                  </a:lnTo>
                  <a:lnTo>
                    <a:pt x="2101" y="26"/>
                  </a:lnTo>
                  <a:lnTo>
                    <a:pt x="2101" y="66"/>
                  </a:lnTo>
                  <a:lnTo>
                    <a:pt x="2113" y="66"/>
                  </a:lnTo>
                  <a:lnTo>
                    <a:pt x="2113" y="26"/>
                  </a:lnTo>
                  <a:lnTo>
                    <a:pt x="2107" y="26"/>
                  </a:lnTo>
                  <a:lnTo>
                    <a:pt x="2101" y="26"/>
                  </a:lnTo>
                  <a:lnTo>
                    <a:pt x="2101" y="34"/>
                  </a:lnTo>
                  <a:lnTo>
                    <a:pt x="2113" y="34"/>
                  </a:lnTo>
                  <a:close/>
                  <a:moveTo>
                    <a:pt x="325" y="33"/>
                  </a:moveTo>
                  <a:lnTo>
                    <a:pt x="277" y="33"/>
                  </a:lnTo>
                  <a:lnTo>
                    <a:pt x="277" y="45"/>
                  </a:lnTo>
                  <a:lnTo>
                    <a:pt x="325" y="45"/>
                  </a:lnTo>
                  <a:lnTo>
                    <a:pt x="325" y="33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/>
            </a:p>
          </p:txBody>
        </p:sp>
        <p:sp>
          <p:nvSpPr>
            <p:cNvPr id="126" name="Rectangle 626">
              <a:extLst>
                <a:ext uri="{FF2B5EF4-FFF2-40B4-BE49-F238E27FC236}">
                  <a16:creationId xmlns:a16="http://schemas.microsoft.com/office/drawing/2014/main" id="{7ADE5DB5-9E4E-E7F1-4C7E-DCCB2E3BB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3999" y="16489386"/>
              <a:ext cx="1546225" cy="4905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7" name="Rectangle 627">
              <a:extLst>
                <a:ext uri="{FF2B5EF4-FFF2-40B4-BE49-F238E27FC236}">
                  <a16:creationId xmlns:a16="http://schemas.microsoft.com/office/drawing/2014/main" id="{4FDB7F16-0118-163A-0F32-7D52A5BDB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6436" y="16535423"/>
              <a:ext cx="755516" cy="11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Ideal Trajectory</a:t>
              </a:r>
              <a:endParaRPr kumimoji="0" lang="ko-KR" altLang="ko-KR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8" name="Line 628">
              <a:extLst>
                <a:ext uri="{FF2B5EF4-FFF2-40B4-BE49-F238E27FC236}">
                  <a16:creationId xmlns:a16="http://schemas.microsoft.com/office/drawing/2014/main" id="{2D451D09-556C-1802-0566-EB1EAA358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3687" y="16583049"/>
              <a:ext cx="381000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9" name="Rectangle 629">
              <a:extLst>
                <a:ext uri="{FF2B5EF4-FFF2-40B4-BE49-F238E27FC236}">
                  <a16:creationId xmlns:a16="http://schemas.microsoft.com/office/drawing/2014/main" id="{DA2092FB-6FA5-6F74-8D4D-65D42BA2E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6436" y="16687824"/>
              <a:ext cx="704627" cy="11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Turning</a:t>
              </a:r>
              <a:r>
                <a:rPr kumimoji="0" lang="ko-KR" altLang="ko-KR" sz="7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ko-KR" altLang="ko-KR" sz="7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Points</a:t>
              </a:r>
              <a:endPara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0" name="Oval 630">
              <a:extLst>
                <a:ext uri="{FF2B5EF4-FFF2-40B4-BE49-F238E27FC236}">
                  <a16:creationId xmlns:a16="http://schemas.microsoft.com/office/drawing/2014/main" id="{B8D3C1DE-6C29-F1C2-34A7-B3A0C4206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387" y="16684649"/>
              <a:ext cx="101600" cy="1016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1" name="Freeform 631">
              <a:extLst>
                <a:ext uri="{FF2B5EF4-FFF2-40B4-BE49-F238E27FC236}">
                  <a16:creationId xmlns:a16="http://schemas.microsoft.com/office/drawing/2014/main" id="{D86406DB-C3F2-5267-D5D6-A67A546F48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10212" y="16681474"/>
              <a:ext cx="107950" cy="107950"/>
            </a:xfrm>
            <a:custGeom>
              <a:avLst/>
              <a:gdLst>
                <a:gd name="T0" fmla="*/ 136 w 272"/>
                <a:gd name="T1" fmla="*/ 16 h 272"/>
                <a:gd name="T2" fmla="*/ 256 w 272"/>
                <a:gd name="T3" fmla="*/ 136 h 272"/>
                <a:gd name="T4" fmla="*/ 256 w 272"/>
                <a:gd name="T5" fmla="*/ 136 h 272"/>
                <a:gd name="T6" fmla="*/ 136 w 272"/>
                <a:gd name="T7" fmla="*/ 256 h 272"/>
                <a:gd name="T8" fmla="*/ 16 w 272"/>
                <a:gd name="T9" fmla="*/ 136 h 272"/>
                <a:gd name="T10" fmla="*/ 136 w 272"/>
                <a:gd name="T11" fmla="*/ 16 h 272"/>
                <a:gd name="T12" fmla="*/ 136 w 272"/>
                <a:gd name="T13" fmla="*/ 0 h 272"/>
                <a:gd name="T14" fmla="*/ 0 w 272"/>
                <a:gd name="T15" fmla="*/ 136 h 272"/>
                <a:gd name="T16" fmla="*/ 136 w 272"/>
                <a:gd name="T17" fmla="*/ 272 h 272"/>
                <a:gd name="T18" fmla="*/ 272 w 272"/>
                <a:gd name="T19" fmla="*/ 136 h 272"/>
                <a:gd name="T20" fmla="*/ 272 w 272"/>
                <a:gd name="T21" fmla="*/ 136 h 272"/>
                <a:gd name="T22" fmla="*/ 136 w 272"/>
                <a:gd name="T23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2" h="272">
                  <a:moveTo>
                    <a:pt x="136" y="16"/>
                  </a:moveTo>
                  <a:cubicBezTo>
                    <a:pt x="202" y="16"/>
                    <a:pt x="256" y="70"/>
                    <a:pt x="256" y="136"/>
                  </a:cubicBezTo>
                  <a:lnTo>
                    <a:pt x="256" y="136"/>
                  </a:lnTo>
                  <a:cubicBezTo>
                    <a:pt x="256" y="203"/>
                    <a:pt x="202" y="256"/>
                    <a:pt x="136" y="256"/>
                  </a:cubicBezTo>
                  <a:cubicBezTo>
                    <a:pt x="69" y="256"/>
                    <a:pt x="16" y="203"/>
                    <a:pt x="16" y="136"/>
                  </a:cubicBezTo>
                  <a:cubicBezTo>
                    <a:pt x="16" y="70"/>
                    <a:pt x="69" y="16"/>
                    <a:pt x="136" y="16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cubicBezTo>
                    <a:pt x="0" y="212"/>
                    <a:pt x="61" y="272"/>
                    <a:pt x="136" y="272"/>
                  </a:cubicBezTo>
                  <a:cubicBezTo>
                    <a:pt x="211" y="272"/>
                    <a:pt x="272" y="212"/>
                    <a:pt x="272" y="136"/>
                  </a:cubicBezTo>
                  <a:lnTo>
                    <a:pt x="272" y="136"/>
                  </a:lnTo>
                  <a:cubicBezTo>
                    <a:pt x="272" y="61"/>
                    <a:pt x="211" y="0"/>
                    <a:pt x="136" y="0"/>
                  </a:cubicBez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2" name="Rectangle 632">
              <a:extLst>
                <a:ext uri="{FF2B5EF4-FFF2-40B4-BE49-F238E27FC236}">
                  <a16:creationId xmlns:a16="http://schemas.microsoft.com/office/drawing/2014/main" id="{D9C80C55-43D8-4507-14DE-49E90E9F1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6436" y="16833874"/>
              <a:ext cx="1006051" cy="11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Measured</a:t>
              </a:r>
              <a:r>
                <a:rPr kumimoji="0" lang="ko-KR" altLang="ko-KR" sz="7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ko-KR" altLang="ko-KR" sz="7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Trajectory</a:t>
              </a:r>
              <a:endPara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3" name="Freeform 633">
              <a:extLst>
                <a:ext uri="{FF2B5EF4-FFF2-40B4-BE49-F238E27FC236}">
                  <a16:creationId xmlns:a16="http://schemas.microsoft.com/office/drawing/2014/main" id="{4BCA2C88-F2D2-3EA9-6B8F-D000DAACD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3687" y="16878324"/>
              <a:ext cx="381000" cy="19050"/>
            </a:xfrm>
            <a:custGeom>
              <a:avLst/>
              <a:gdLst>
                <a:gd name="T0" fmla="*/ 96 w 240"/>
                <a:gd name="T1" fmla="*/ 12 h 12"/>
                <a:gd name="T2" fmla="*/ 144 w 240"/>
                <a:gd name="T3" fmla="*/ 12 h 12"/>
                <a:gd name="T4" fmla="*/ 144 w 240"/>
                <a:gd name="T5" fmla="*/ 0 h 12"/>
                <a:gd name="T6" fmla="*/ 96 w 240"/>
                <a:gd name="T7" fmla="*/ 0 h 12"/>
                <a:gd name="T8" fmla="*/ 96 w 240"/>
                <a:gd name="T9" fmla="*/ 12 h 12"/>
                <a:gd name="T10" fmla="*/ 192 w 240"/>
                <a:gd name="T11" fmla="*/ 12 h 12"/>
                <a:gd name="T12" fmla="*/ 240 w 240"/>
                <a:gd name="T13" fmla="*/ 12 h 12"/>
                <a:gd name="T14" fmla="*/ 240 w 240"/>
                <a:gd name="T15" fmla="*/ 0 h 12"/>
                <a:gd name="T16" fmla="*/ 192 w 240"/>
                <a:gd name="T17" fmla="*/ 0 h 12"/>
                <a:gd name="T18" fmla="*/ 192 w 240"/>
                <a:gd name="T19" fmla="*/ 12 h 12"/>
                <a:gd name="T20" fmla="*/ 0 w 240"/>
                <a:gd name="T21" fmla="*/ 12 h 12"/>
                <a:gd name="T22" fmla="*/ 48 w 240"/>
                <a:gd name="T23" fmla="*/ 12 h 12"/>
                <a:gd name="T24" fmla="*/ 48 w 240"/>
                <a:gd name="T25" fmla="*/ 0 h 12"/>
                <a:gd name="T26" fmla="*/ 0 w 240"/>
                <a:gd name="T27" fmla="*/ 0 h 12"/>
                <a:gd name="T28" fmla="*/ 0 w 240"/>
                <a:gd name="T29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0" h="12">
                  <a:moveTo>
                    <a:pt x="96" y="12"/>
                  </a:moveTo>
                  <a:lnTo>
                    <a:pt x="144" y="12"/>
                  </a:lnTo>
                  <a:lnTo>
                    <a:pt x="144" y="0"/>
                  </a:lnTo>
                  <a:lnTo>
                    <a:pt x="96" y="0"/>
                  </a:lnTo>
                  <a:lnTo>
                    <a:pt x="96" y="12"/>
                  </a:lnTo>
                  <a:close/>
                  <a:moveTo>
                    <a:pt x="192" y="12"/>
                  </a:moveTo>
                  <a:lnTo>
                    <a:pt x="240" y="12"/>
                  </a:lnTo>
                  <a:lnTo>
                    <a:pt x="240" y="0"/>
                  </a:lnTo>
                  <a:lnTo>
                    <a:pt x="192" y="0"/>
                  </a:lnTo>
                  <a:lnTo>
                    <a:pt x="192" y="12"/>
                  </a:lnTo>
                  <a:close/>
                  <a:moveTo>
                    <a:pt x="0" y="12"/>
                  </a:moveTo>
                  <a:lnTo>
                    <a:pt x="48" y="12"/>
                  </a:lnTo>
                  <a:lnTo>
                    <a:pt x="48" y="0"/>
                  </a:ln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4" name="Rectangle 634">
              <a:extLst>
                <a:ext uri="{FF2B5EF4-FFF2-40B4-BE49-F238E27FC236}">
                  <a16:creationId xmlns:a16="http://schemas.microsoft.com/office/drawing/2014/main" id="{92C5E433-F98A-E584-96B7-53751F6B0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3999" y="16489386"/>
              <a:ext cx="1546225" cy="490538"/>
            </a:xfrm>
            <a:prstGeom prst="rect">
              <a:avLst/>
            </a:prstGeom>
            <a:noFill/>
            <a:ln w="6350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53" name="Group 4">
            <a:extLst>
              <a:ext uri="{FF2B5EF4-FFF2-40B4-BE49-F238E27FC236}">
                <a16:creationId xmlns:a16="http://schemas.microsoft.com/office/drawing/2014/main" id="{6C3FBD66-1802-B1A4-892F-707FFED1C4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3569" y="2060848"/>
            <a:ext cx="3665278" cy="3024336"/>
            <a:chOff x="319" y="1253"/>
            <a:chExt cx="3048" cy="2515"/>
          </a:xfrm>
        </p:grpSpPr>
        <p:sp>
          <p:nvSpPr>
            <p:cNvPr id="456" name="Rectangle 6">
              <a:extLst>
                <a:ext uri="{FF2B5EF4-FFF2-40B4-BE49-F238E27FC236}">
                  <a16:creationId xmlns:a16="http://schemas.microsoft.com/office/drawing/2014/main" id="{BFA28A2C-306D-34FA-FE86-65615BF28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1441"/>
              <a:ext cx="9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7" name="Rectangle 7">
              <a:extLst>
                <a:ext uri="{FF2B5EF4-FFF2-40B4-BE49-F238E27FC236}">
                  <a16:creationId xmlns:a16="http://schemas.microsoft.com/office/drawing/2014/main" id="{FC9A3FF3-28D9-B1A2-53E2-E4DEF43A4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8" name="Rectangle 8">
              <a:extLst>
                <a:ext uri="{FF2B5EF4-FFF2-40B4-BE49-F238E27FC236}">
                  <a16:creationId xmlns:a16="http://schemas.microsoft.com/office/drawing/2014/main" id="{7D2C29E0-D0C3-641A-5BE3-51FD67943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" y="1441"/>
              <a:ext cx="9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9" name="Rectangle 9">
              <a:extLst>
                <a:ext uri="{FF2B5EF4-FFF2-40B4-BE49-F238E27FC236}">
                  <a16:creationId xmlns:a16="http://schemas.microsoft.com/office/drawing/2014/main" id="{32F83737-4681-1FC8-4A72-ADF5D26C4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1441"/>
              <a:ext cx="10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0" name="Rectangle 10">
              <a:extLst>
                <a:ext uri="{FF2B5EF4-FFF2-40B4-BE49-F238E27FC236}">
                  <a16:creationId xmlns:a16="http://schemas.microsoft.com/office/drawing/2014/main" id="{450DF700-029A-6A81-AF58-438DD63F2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1" name="Rectangle 11">
              <a:extLst>
                <a:ext uri="{FF2B5EF4-FFF2-40B4-BE49-F238E27FC236}">
                  <a16:creationId xmlns:a16="http://schemas.microsoft.com/office/drawing/2014/main" id="{D3D0258F-D2C4-5771-5033-6CDE7769A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1441"/>
              <a:ext cx="10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2" name="Rectangle 12">
              <a:extLst>
                <a:ext uri="{FF2B5EF4-FFF2-40B4-BE49-F238E27FC236}">
                  <a16:creationId xmlns:a16="http://schemas.microsoft.com/office/drawing/2014/main" id="{3477057E-FB29-A625-06B8-02542AA3E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441"/>
              <a:ext cx="9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3" name="Rectangle 13">
              <a:extLst>
                <a:ext uri="{FF2B5EF4-FFF2-40B4-BE49-F238E27FC236}">
                  <a16:creationId xmlns:a16="http://schemas.microsoft.com/office/drawing/2014/main" id="{2A469469-FEA7-C3A4-7EBE-C40F345F8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5" name="Rectangle 15">
              <a:extLst>
                <a:ext uri="{FF2B5EF4-FFF2-40B4-BE49-F238E27FC236}">
                  <a16:creationId xmlns:a16="http://schemas.microsoft.com/office/drawing/2014/main" id="{D1CFA8AB-9F4E-19C7-51F6-5519E7624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1441"/>
              <a:ext cx="10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6" name="Rectangle 16">
              <a:extLst>
                <a:ext uri="{FF2B5EF4-FFF2-40B4-BE49-F238E27FC236}">
                  <a16:creationId xmlns:a16="http://schemas.microsoft.com/office/drawing/2014/main" id="{2671E156-032A-77B1-AB0A-58543035A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8" name="Rectangle 18">
              <a:extLst>
                <a:ext uri="{FF2B5EF4-FFF2-40B4-BE49-F238E27FC236}">
                  <a16:creationId xmlns:a16="http://schemas.microsoft.com/office/drawing/2014/main" id="{F64A199D-8AF6-214E-7ED6-7B5082B58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441"/>
              <a:ext cx="9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9" name="Rectangle 19">
              <a:extLst>
                <a:ext uri="{FF2B5EF4-FFF2-40B4-BE49-F238E27FC236}">
                  <a16:creationId xmlns:a16="http://schemas.microsoft.com/office/drawing/2014/main" id="{F4397A51-C2B4-8A91-759F-09808B5E4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3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1" name="Rectangle 21">
              <a:extLst>
                <a:ext uri="{FF2B5EF4-FFF2-40B4-BE49-F238E27FC236}">
                  <a16:creationId xmlns:a16="http://schemas.microsoft.com/office/drawing/2014/main" id="{2F88185E-A300-17B8-AF1D-4228263B1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1441"/>
              <a:ext cx="10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2" name="Rectangle 22">
              <a:extLst>
                <a:ext uri="{FF2B5EF4-FFF2-40B4-BE49-F238E27FC236}">
                  <a16:creationId xmlns:a16="http://schemas.microsoft.com/office/drawing/2014/main" id="{5952D710-CCED-3E35-30C5-2059DC1B1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4" name="Rectangle 24">
              <a:extLst>
                <a:ext uri="{FF2B5EF4-FFF2-40B4-BE49-F238E27FC236}">
                  <a16:creationId xmlns:a16="http://schemas.microsoft.com/office/drawing/2014/main" id="{92979380-5F8E-1B4D-70AB-C174B99E6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4" y="1441"/>
              <a:ext cx="9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5" name="Rectangle 25">
              <a:extLst>
                <a:ext uri="{FF2B5EF4-FFF2-40B4-BE49-F238E27FC236}">
                  <a16:creationId xmlns:a16="http://schemas.microsoft.com/office/drawing/2014/main" id="{E3B8FB89-00FC-5148-71F3-F277105F6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7" name="Rectangle 27">
              <a:extLst>
                <a:ext uri="{FF2B5EF4-FFF2-40B4-BE49-F238E27FC236}">
                  <a16:creationId xmlns:a16="http://schemas.microsoft.com/office/drawing/2014/main" id="{ABE28D60-3BE9-FEF4-CA81-0CD9AB54D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1441"/>
              <a:ext cx="10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8" name="Rectangle 28">
              <a:extLst>
                <a:ext uri="{FF2B5EF4-FFF2-40B4-BE49-F238E27FC236}">
                  <a16:creationId xmlns:a16="http://schemas.microsoft.com/office/drawing/2014/main" id="{F3A8B5E5-43FA-6F60-FBD5-FB4F89697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0" name="Rectangle 30">
              <a:extLst>
                <a:ext uri="{FF2B5EF4-FFF2-40B4-BE49-F238E27FC236}">
                  <a16:creationId xmlns:a16="http://schemas.microsoft.com/office/drawing/2014/main" id="{38F1663E-0111-65E6-29FF-49783AB0E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1441"/>
              <a:ext cx="9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1" name="Rectangle 31">
              <a:extLst>
                <a:ext uri="{FF2B5EF4-FFF2-40B4-BE49-F238E27FC236}">
                  <a16:creationId xmlns:a16="http://schemas.microsoft.com/office/drawing/2014/main" id="{A87E0B4F-0A1B-9381-8E30-E76950F5D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7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3" name="Rectangle 33">
              <a:extLst>
                <a:ext uri="{FF2B5EF4-FFF2-40B4-BE49-F238E27FC236}">
                  <a16:creationId xmlns:a16="http://schemas.microsoft.com/office/drawing/2014/main" id="{5E145171-3AE8-7BBE-2F4F-DA572A82E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" y="1441"/>
              <a:ext cx="10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4" name="Rectangle 34">
              <a:extLst>
                <a:ext uri="{FF2B5EF4-FFF2-40B4-BE49-F238E27FC236}">
                  <a16:creationId xmlns:a16="http://schemas.microsoft.com/office/drawing/2014/main" id="{C3F1CC42-6D5F-E7BA-0F81-8790AA311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6" name="Rectangle 36">
              <a:extLst>
                <a:ext uri="{FF2B5EF4-FFF2-40B4-BE49-F238E27FC236}">
                  <a16:creationId xmlns:a16="http://schemas.microsoft.com/office/drawing/2014/main" id="{BCCB6EF4-6035-24E3-1D8A-30FA39A9D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7" y="1441"/>
              <a:ext cx="9" cy="206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7" name="Rectangle 37">
              <a:extLst>
                <a:ext uri="{FF2B5EF4-FFF2-40B4-BE49-F238E27FC236}">
                  <a16:creationId xmlns:a16="http://schemas.microsoft.com/office/drawing/2014/main" id="{86467677-FF4F-FE3D-EFFF-03E0D3FF3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1441"/>
              <a:ext cx="5" cy="20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9" name="Rectangle 39">
              <a:extLst>
                <a:ext uri="{FF2B5EF4-FFF2-40B4-BE49-F238E27FC236}">
                  <a16:creationId xmlns:a16="http://schemas.microsoft.com/office/drawing/2014/main" id="{22A5C4EC-997D-D24E-1375-F7D55E39D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494"/>
              <a:ext cx="2615" cy="1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0" name="Rectangle 40">
              <a:extLst>
                <a:ext uri="{FF2B5EF4-FFF2-40B4-BE49-F238E27FC236}">
                  <a16:creationId xmlns:a16="http://schemas.microsoft.com/office/drawing/2014/main" id="{500416ED-67EB-6F90-4AAF-8A0707BC5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496"/>
              <a:ext cx="2611" cy="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1" name="Rectangle 41">
              <a:extLst>
                <a:ext uri="{FF2B5EF4-FFF2-40B4-BE49-F238E27FC236}">
                  <a16:creationId xmlns:a16="http://schemas.microsoft.com/office/drawing/2014/main" id="{03C18A40-DE22-5B91-94D7-BF5336D98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494"/>
              <a:ext cx="2615" cy="1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2" name="Rectangle 42">
              <a:extLst>
                <a:ext uri="{FF2B5EF4-FFF2-40B4-BE49-F238E27FC236}">
                  <a16:creationId xmlns:a16="http://schemas.microsoft.com/office/drawing/2014/main" id="{B6E1F93D-FBBE-CDA9-5D7B-74B39678A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153"/>
              <a:ext cx="2615" cy="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3" name="Rectangle 43">
              <a:extLst>
                <a:ext uri="{FF2B5EF4-FFF2-40B4-BE49-F238E27FC236}">
                  <a16:creationId xmlns:a16="http://schemas.microsoft.com/office/drawing/2014/main" id="{8FC9CB2C-CB54-AAA7-E34F-1C2D8F05E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153"/>
              <a:ext cx="2611" cy="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4" name="Rectangle 44">
              <a:extLst>
                <a:ext uri="{FF2B5EF4-FFF2-40B4-BE49-F238E27FC236}">
                  <a16:creationId xmlns:a16="http://schemas.microsoft.com/office/drawing/2014/main" id="{32F19113-C3ED-2544-DE90-36C269F9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3153"/>
              <a:ext cx="2615" cy="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5" name="Rectangle 45">
              <a:extLst>
                <a:ext uri="{FF2B5EF4-FFF2-40B4-BE49-F238E27FC236}">
                  <a16:creationId xmlns:a16="http://schemas.microsoft.com/office/drawing/2014/main" id="{7835712A-B73F-0A16-6F3E-DB1FFC04A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2806"/>
              <a:ext cx="2615" cy="1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6" name="Rectangle 46">
              <a:extLst>
                <a:ext uri="{FF2B5EF4-FFF2-40B4-BE49-F238E27FC236}">
                  <a16:creationId xmlns:a16="http://schemas.microsoft.com/office/drawing/2014/main" id="{047585E1-7BC3-3156-CF0A-AF6E756EE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2811"/>
              <a:ext cx="2611" cy="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8" name="Rectangle 48">
              <a:extLst>
                <a:ext uri="{FF2B5EF4-FFF2-40B4-BE49-F238E27FC236}">
                  <a16:creationId xmlns:a16="http://schemas.microsoft.com/office/drawing/2014/main" id="{F31BD9D2-6063-E678-3B48-A41B99159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2465"/>
              <a:ext cx="2615" cy="1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9" name="Rectangle 49">
              <a:extLst>
                <a:ext uri="{FF2B5EF4-FFF2-40B4-BE49-F238E27FC236}">
                  <a16:creationId xmlns:a16="http://schemas.microsoft.com/office/drawing/2014/main" id="{A36E37E8-22F3-8D08-69FB-7C88A0E2A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2467"/>
              <a:ext cx="2611" cy="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1" name="Rectangle 51">
              <a:extLst>
                <a:ext uri="{FF2B5EF4-FFF2-40B4-BE49-F238E27FC236}">
                  <a16:creationId xmlns:a16="http://schemas.microsoft.com/office/drawing/2014/main" id="{B3F7BB59-11C6-556D-37E1-753936871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2123"/>
              <a:ext cx="2615" cy="1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2" name="Rectangle 52">
              <a:extLst>
                <a:ext uri="{FF2B5EF4-FFF2-40B4-BE49-F238E27FC236}">
                  <a16:creationId xmlns:a16="http://schemas.microsoft.com/office/drawing/2014/main" id="{ADEE0FB3-74A2-8DE1-D8E9-F83C0654C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2124"/>
              <a:ext cx="2611" cy="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4" name="Rectangle 54">
              <a:extLst>
                <a:ext uri="{FF2B5EF4-FFF2-40B4-BE49-F238E27FC236}">
                  <a16:creationId xmlns:a16="http://schemas.microsoft.com/office/drawing/2014/main" id="{3CF41CC1-F04E-0AC7-E62B-7E0046E4E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1777"/>
              <a:ext cx="2615" cy="10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5" name="Rectangle 55">
              <a:extLst>
                <a:ext uri="{FF2B5EF4-FFF2-40B4-BE49-F238E27FC236}">
                  <a16:creationId xmlns:a16="http://schemas.microsoft.com/office/drawing/2014/main" id="{768C133F-8821-5ED1-1A33-428443485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1781"/>
              <a:ext cx="2611" cy="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7" name="Rectangle 57">
              <a:extLst>
                <a:ext uri="{FF2B5EF4-FFF2-40B4-BE49-F238E27FC236}">
                  <a16:creationId xmlns:a16="http://schemas.microsoft.com/office/drawing/2014/main" id="{CF0427A4-11A8-FB02-F251-B21A4CE04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1436"/>
              <a:ext cx="2615" cy="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8" name="Rectangle 58">
              <a:extLst>
                <a:ext uri="{FF2B5EF4-FFF2-40B4-BE49-F238E27FC236}">
                  <a16:creationId xmlns:a16="http://schemas.microsoft.com/office/drawing/2014/main" id="{84238D51-5E01-A6D7-0FD2-A8FD3B796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" y="1438"/>
              <a:ext cx="2611" cy="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0" name="Line 60">
              <a:extLst>
                <a:ext uri="{FF2B5EF4-FFF2-40B4-BE49-F238E27FC236}">
                  <a16:creationId xmlns:a16="http://schemas.microsoft.com/office/drawing/2014/main" id="{92EAAB30-8B61-3206-8153-C425276FB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3499"/>
              <a:ext cx="2611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1" name="Line 61">
              <a:extLst>
                <a:ext uri="{FF2B5EF4-FFF2-40B4-BE49-F238E27FC236}">
                  <a16:creationId xmlns:a16="http://schemas.microsoft.com/office/drawing/2014/main" id="{894FA0C7-0655-1A25-565B-883B1309C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5" name="Line 62">
              <a:extLst>
                <a:ext uri="{FF2B5EF4-FFF2-40B4-BE49-F238E27FC236}">
                  <a16:creationId xmlns:a16="http://schemas.microsoft.com/office/drawing/2014/main" id="{BB81F511-07F3-D8D5-174D-434F424564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3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6" name="Line 63">
              <a:extLst>
                <a:ext uri="{FF2B5EF4-FFF2-40B4-BE49-F238E27FC236}">
                  <a16:creationId xmlns:a16="http://schemas.microsoft.com/office/drawing/2014/main" id="{9B128DDB-D2A5-00D8-54C1-767E3F6A81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4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7" name="Line 64">
              <a:extLst>
                <a:ext uri="{FF2B5EF4-FFF2-40B4-BE49-F238E27FC236}">
                  <a16:creationId xmlns:a16="http://schemas.microsoft.com/office/drawing/2014/main" id="{5C3F6F75-E799-02ED-A84B-1B40BBDC29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5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8" name="Line 65">
              <a:extLst>
                <a:ext uri="{FF2B5EF4-FFF2-40B4-BE49-F238E27FC236}">
                  <a16:creationId xmlns:a16="http://schemas.microsoft.com/office/drawing/2014/main" id="{4F2A8A18-DAAA-6A57-DF75-3B5410058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6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9" name="Line 66">
              <a:extLst>
                <a:ext uri="{FF2B5EF4-FFF2-40B4-BE49-F238E27FC236}">
                  <a16:creationId xmlns:a16="http://schemas.microsoft.com/office/drawing/2014/main" id="{25FEFEB9-0591-AA2F-7C18-93A95C2C71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6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0" name="Line 67">
              <a:extLst>
                <a:ext uri="{FF2B5EF4-FFF2-40B4-BE49-F238E27FC236}">
                  <a16:creationId xmlns:a16="http://schemas.microsoft.com/office/drawing/2014/main" id="{3EC21995-2499-3A42-451F-DFD4556E2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1" name="Line 68">
              <a:extLst>
                <a:ext uri="{FF2B5EF4-FFF2-40B4-BE49-F238E27FC236}">
                  <a16:creationId xmlns:a16="http://schemas.microsoft.com/office/drawing/2014/main" id="{E0893633-93FB-C819-01FC-C67B4B4A64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9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2" name="Line 69">
              <a:extLst>
                <a:ext uri="{FF2B5EF4-FFF2-40B4-BE49-F238E27FC236}">
                  <a16:creationId xmlns:a16="http://schemas.microsoft.com/office/drawing/2014/main" id="{59FC5934-3EF9-5D86-32F4-D5D06947E4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0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3" name="Line 70">
              <a:extLst>
                <a:ext uri="{FF2B5EF4-FFF2-40B4-BE49-F238E27FC236}">
                  <a16:creationId xmlns:a16="http://schemas.microsoft.com/office/drawing/2014/main" id="{A55B137F-119A-0C93-CEF6-1BBE4A081F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1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4" name="Line 71">
              <a:extLst>
                <a:ext uri="{FF2B5EF4-FFF2-40B4-BE49-F238E27FC236}">
                  <a16:creationId xmlns:a16="http://schemas.microsoft.com/office/drawing/2014/main" id="{D9B75241-F503-034D-9FDE-91A7533A3D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2" y="3473"/>
              <a:ext cx="0" cy="26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5" name="Rectangle 72">
              <a:extLst>
                <a:ext uri="{FF2B5EF4-FFF2-40B4-BE49-F238E27FC236}">
                  <a16:creationId xmlns:a16="http://schemas.microsoft.com/office/drawing/2014/main" id="{A8D5AFFE-C392-83CB-1C7C-E7A974D69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" y="3542"/>
              <a:ext cx="8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6" name="Rectangle 73">
              <a:extLst>
                <a:ext uri="{FF2B5EF4-FFF2-40B4-BE49-F238E27FC236}">
                  <a16:creationId xmlns:a16="http://schemas.microsoft.com/office/drawing/2014/main" id="{9BF8971D-43B0-DBB8-694B-4BFA31FB1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8" y="3542"/>
              <a:ext cx="13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7" name="Rectangle 74">
              <a:extLst>
                <a:ext uri="{FF2B5EF4-FFF2-40B4-BE49-F238E27FC236}">
                  <a16:creationId xmlns:a16="http://schemas.microsoft.com/office/drawing/2014/main" id="{849AFCF3-6C00-AB75-B1D4-C10D86C59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" y="3542"/>
              <a:ext cx="13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8" name="Rectangle 75">
              <a:extLst>
                <a:ext uri="{FF2B5EF4-FFF2-40B4-BE49-F238E27FC236}">
                  <a16:creationId xmlns:a16="http://schemas.microsoft.com/office/drawing/2014/main" id="{DEB34198-5B00-3285-B228-879DB9535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2" y="3542"/>
              <a:ext cx="13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9" name="Rectangle 76">
              <a:extLst>
                <a:ext uri="{FF2B5EF4-FFF2-40B4-BE49-F238E27FC236}">
                  <a16:creationId xmlns:a16="http://schemas.microsoft.com/office/drawing/2014/main" id="{76155BD8-4CD7-C770-6C33-F0FCB35F1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3542"/>
              <a:ext cx="13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0" name="Rectangle 77">
              <a:extLst>
                <a:ext uri="{FF2B5EF4-FFF2-40B4-BE49-F238E27FC236}">
                  <a16:creationId xmlns:a16="http://schemas.microsoft.com/office/drawing/2014/main" id="{2B448F62-75ED-D7FC-637F-5A206A378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6" y="3542"/>
              <a:ext cx="13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1" name="Rectangle 78">
              <a:extLst>
                <a:ext uri="{FF2B5EF4-FFF2-40B4-BE49-F238E27FC236}">
                  <a16:creationId xmlns:a16="http://schemas.microsoft.com/office/drawing/2014/main" id="{3224D5FB-4B3E-D939-8530-BC215FFC0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" y="3542"/>
              <a:ext cx="13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2" name="Rectangle 79">
              <a:extLst>
                <a:ext uri="{FF2B5EF4-FFF2-40B4-BE49-F238E27FC236}">
                  <a16:creationId xmlns:a16="http://schemas.microsoft.com/office/drawing/2014/main" id="{8B0E65DF-419A-37A4-6580-5625E0858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3542"/>
              <a:ext cx="13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70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3" name="Rectangle 80">
              <a:extLst>
                <a:ext uri="{FF2B5EF4-FFF2-40B4-BE49-F238E27FC236}">
                  <a16:creationId xmlns:a16="http://schemas.microsoft.com/office/drawing/2014/main" id="{B5F835C1-B459-4A6D-9052-54A60E30C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" y="3542"/>
              <a:ext cx="13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80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4" name="Rectangle 81">
              <a:extLst>
                <a:ext uri="{FF2B5EF4-FFF2-40B4-BE49-F238E27FC236}">
                  <a16:creationId xmlns:a16="http://schemas.microsoft.com/office/drawing/2014/main" id="{F163F0C6-5BF6-3FF0-EAB4-92B17C2DC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3542"/>
              <a:ext cx="13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90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5" name="Rectangle 82">
              <a:extLst>
                <a:ext uri="{FF2B5EF4-FFF2-40B4-BE49-F238E27FC236}">
                  <a16:creationId xmlns:a16="http://schemas.microsoft.com/office/drawing/2014/main" id="{E90DA5CD-6E3B-E9E3-0D94-DBD4D6C44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4" y="3542"/>
              <a:ext cx="18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6" name="Rectangle 83">
              <a:extLst>
                <a:ext uri="{FF2B5EF4-FFF2-40B4-BE49-F238E27FC236}">
                  <a16:creationId xmlns:a16="http://schemas.microsoft.com/office/drawing/2014/main" id="{26A8DCA3-9055-2921-0B4D-509429A3D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" y="3653"/>
              <a:ext cx="90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Measurement Number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7" name="Line 84">
              <a:extLst>
                <a:ext uri="{FF2B5EF4-FFF2-40B4-BE49-F238E27FC236}">
                  <a16:creationId xmlns:a16="http://schemas.microsoft.com/office/drawing/2014/main" id="{4A6E0B45-81DE-424D-4E6A-5508295989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" y="1441"/>
              <a:ext cx="0" cy="2058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8" name="Line 85">
              <a:extLst>
                <a:ext uri="{FF2B5EF4-FFF2-40B4-BE49-F238E27FC236}">
                  <a16:creationId xmlns:a16="http://schemas.microsoft.com/office/drawing/2014/main" id="{1DA7D0EC-E8AD-2128-8F42-14F759D46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3499"/>
              <a:ext cx="27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9" name="Line 86">
              <a:extLst>
                <a:ext uri="{FF2B5EF4-FFF2-40B4-BE49-F238E27FC236}">
                  <a16:creationId xmlns:a16="http://schemas.microsoft.com/office/drawing/2014/main" id="{A90D99AC-1B39-F994-C403-09E66E42E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3156"/>
              <a:ext cx="27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0" name="Line 87">
              <a:extLst>
                <a:ext uri="{FF2B5EF4-FFF2-40B4-BE49-F238E27FC236}">
                  <a16:creationId xmlns:a16="http://schemas.microsoft.com/office/drawing/2014/main" id="{F71A7DED-3F04-EBC6-915C-4EF7C24EF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813"/>
              <a:ext cx="27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" name="Line 88">
              <a:extLst>
                <a:ext uri="{FF2B5EF4-FFF2-40B4-BE49-F238E27FC236}">
                  <a16:creationId xmlns:a16="http://schemas.microsoft.com/office/drawing/2014/main" id="{9D1CE535-F0F8-E78F-2F3E-1F43FE348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470"/>
              <a:ext cx="27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" name="Line 89">
              <a:extLst>
                <a:ext uri="{FF2B5EF4-FFF2-40B4-BE49-F238E27FC236}">
                  <a16:creationId xmlns:a16="http://schemas.microsoft.com/office/drawing/2014/main" id="{46A9766B-E2AC-383E-D3D4-267D08CEE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127"/>
              <a:ext cx="27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" name="Line 90">
              <a:extLst>
                <a:ext uri="{FF2B5EF4-FFF2-40B4-BE49-F238E27FC236}">
                  <a16:creationId xmlns:a16="http://schemas.microsoft.com/office/drawing/2014/main" id="{2C7E8A51-64AA-A3F5-8A2A-6880A9864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1784"/>
              <a:ext cx="27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" name="Line 91">
              <a:extLst>
                <a:ext uri="{FF2B5EF4-FFF2-40B4-BE49-F238E27FC236}">
                  <a16:creationId xmlns:a16="http://schemas.microsoft.com/office/drawing/2014/main" id="{4268EFC5-524B-E444-983D-DD4B95C27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1441"/>
              <a:ext cx="27" cy="0"/>
            </a:xfrm>
            <a:prstGeom prst="line">
              <a:avLst/>
            </a:prstGeom>
            <a:noFill/>
            <a:ln w="6350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5" name="Rectangle 92">
              <a:extLst>
                <a:ext uri="{FF2B5EF4-FFF2-40B4-BE49-F238E27FC236}">
                  <a16:creationId xmlns:a16="http://schemas.microsoft.com/office/drawing/2014/main" id="{C578264C-34A3-11DF-170A-9B63113A1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3460"/>
              <a:ext cx="1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6" name="Rectangle 93">
              <a:extLst>
                <a:ext uri="{FF2B5EF4-FFF2-40B4-BE49-F238E27FC236}">
                  <a16:creationId xmlns:a16="http://schemas.microsoft.com/office/drawing/2014/main" id="{32CF4CA6-5872-5B98-FB07-864B7FE9C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" y="3119"/>
              <a:ext cx="20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2.15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7" name="Rectangle 94">
              <a:extLst>
                <a:ext uri="{FF2B5EF4-FFF2-40B4-BE49-F238E27FC236}">
                  <a16:creationId xmlns:a16="http://schemas.microsoft.com/office/drawing/2014/main" id="{F6B8EFEF-A650-0667-FF71-1948DCEBC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2773"/>
              <a:ext cx="1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2.2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8" name="Rectangle 95">
              <a:extLst>
                <a:ext uri="{FF2B5EF4-FFF2-40B4-BE49-F238E27FC236}">
                  <a16:creationId xmlns:a16="http://schemas.microsoft.com/office/drawing/2014/main" id="{CC97423C-1B52-7A39-C8A8-5A181F66F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" y="2431"/>
              <a:ext cx="20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2.25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9" name="Rectangle 96">
              <a:extLst>
                <a:ext uri="{FF2B5EF4-FFF2-40B4-BE49-F238E27FC236}">
                  <a16:creationId xmlns:a16="http://schemas.microsoft.com/office/drawing/2014/main" id="{CEA05BE9-6D33-656E-CB21-228AE080A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2090"/>
              <a:ext cx="1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2.3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0" name="Rectangle 97">
              <a:extLst>
                <a:ext uri="{FF2B5EF4-FFF2-40B4-BE49-F238E27FC236}">
                  <a16:creationId xmlns:a16="http://schemas.microsoft.com/office/drawing/2014/main" id="{3227FCF4-5619-68B0-245E-675930DEC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" y="1744"/>
              <a:ext cx="20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2.35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1" name="Rectangle 98">
              <a:extLst>
                <a:ext uri="{FF2B5EF4-FFF2-40B4-BE49-F238E27FC236}">
                  <a16:creationId xmlns:a16="http://schemas.microsoft.com/office/drawing/2014/main" id="{3613EB7D-4C7F-BF80-D8C6-0240147A5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" y="1402"/>
              <a:ext cx="1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0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2.4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2" name="Rectangle 99">
              <a:extLst>
                <a:ext uri="{FF2B5EF4-FFF2-40B4-BE49-F238E27FC236}">
                  <a16:creationId xmlns:a16="http://schemas.microsoft.com/office/drawing/2014/main" id="{A16813E0-7ABA-D88C-85BC-38142F19E30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0" y="2622"/>
              <a:ext cx="53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 dirty="0" err="1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3" name="Rectangle 100">
              <a:extLst>
                <a:ext uri="{FF2B5EF4-FFF2-40B4-BE49-F238E27FC236}">
                  <a16:creationId xmlns:a16="http://schemas.microsoft.com/office/drawing/2014/main" id="{5669BA5C-AC5C-335E-DA3C-DEA9E09D76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8" y="2570"/>
              <a:ext cx="5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 dirty="0" err="1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4" name="Rectangle 101">
              <a:extLst>
                <a:ext uri="{FF2B5EF4-FFF2-40B4-BE49-F238E27FC236}">
                  <a16:creationId xmlns:a16="http://schemas.microsoft.com/office/drawing/2014/main" id="{FD49AB2A-933D-7AF2-0F4A-B0FAE29A27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9" y="2550"/>
              <a:ext cx="37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ko-KR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5" name="Rectangle 102">
              <a:extLst>
                <a:ext uri="{FF2B5EF4-FFF2-40B4-BE49-F238E27FC236}">
                  <a16:creationId xmlns:a16="http://schemas.microsoft.com/office/drawing/2014/main" id="{F3E950B0-5BAF-0851-1540-78263C139D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6" y="2516"/>
              <a:ext cx="21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ko-KR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6" name="Rectangle 103">
              <a:extLst>
                <a:ext uri="{FF2B5EF4-FFF2-40B4-BE49-F238E27FC236}">
                  <a16:creationId xmlns:a16="http://schemas.microsoft.com/office/drawing/2014/main" id="{410EAAE5-AD61-0AAD-6604-A615E4657D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6" y="2480"/>
              <a:ext cx="41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 dirty="0" err="1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7" name="Rectangle 104">
              <a:extLst>
                <a:ext uri="{FF2B5EF4-FFF2-40B4-BE49-F238E27FC236}">
                  <a16:creationId xmlns:a16="http://schemas.microsoft.com/office/drawing/2014/main" id="{0248CED1-105A-9890-CD68-A632F5951C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6" y="2432"/>
              <a:ext cx="41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ko-KR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8" name="Rectangle 105">
              <a:extLst>
                <a:ext uri="{FF2B5EF4-FFF2-40B4-BE49-F238E27FC236}">
                  <a16:creationId xmlns:a16="http://schemas.microsoft.com/office/drawing/2014/main" id="{98DEDF72-B0D7-1180-8B98-3D6A3F42DB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9" y="2387"/>
              <a:ext cx="37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ko-KR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9" name="Rectangle 106">
              <a:extLst>
                <a:ext uri="{FF2B5EF4-FFF2-40B4-BE49-F238E27FC236}">
                  <a16:creationId xmlns:a16="http://schemas.microsoft.com/office/drawing/2014/main" id="{AF157468-F176-93F5-B232-2442CEC0B5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56" y="2340"/>
              <a:ext cx="41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ko-KR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0" name="Rectangle 107">
              <a:extLst>
                <a:ext uri="{FF2B5EF4-FFF2-40B4-BE49-F238E27FC236}">
                  <a16:creationId xmlns:a16="http://schemas.microsoft.com/office/drawing/2014/main" id="{D8678735-A478-B793-D303-EB85759621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66" y="2304"/>
              <a:ext cx="21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ko-KR" altLang="ko-KR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1" name="Rectangle 108">
              <a:extLst>
                <a:ext uri="{FF2B5EF4-FFF2-40B4-BE49-F238E27FC236}">
                  <a16:creationId xmlns:a16="http://schemas.microsoft.com/office/drawing/2014/main" id="{2776840B-991D-9497-EA0B-71191EE66E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3" y="2267"/>
              <a:ext cx="6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(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2" name="Rectangle 109">
              <a:extLst>
                <a:ext uri="{FF2B5EF4-FFF2-40B4-BE49-F238E27FC236}">
                  <a16:creationId xmlns:a16="http://schemas.microsoft.com/office/drawing/2014/main" id="{1BA6057F-6E1D-1EAE-BB33-5A92893A1E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6" y="2227"/>
              <a:ext cx="63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700" b="0" i="0" u="none" strike="noStrike" cap="none" normalizeH="0" baseline="0" dirty="0" err="1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3" name="Rectangle 110">
              <a:extLst>
                <a:ext uri="{FF2B5EF4-FFF2-40B4-BE49-F238E27FC236}">
                  <a16:creationId xmlns:a16="http://schemas.microsoft.com/office/drawing/2014/main" id="{0B96F87D-F6E3-E342-A5F7-78EF254EFA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43" y="2171"/>
              <a:ext cx="6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1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)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4" name="Rectangle 111">
              <a:extLst>
                <a:ext uri="{FF2B5EF4-FFF2-40B4-BE49-F238E27FC236}">
                  <a16:creationId xmlns:a16="http://schemas.microsoft.com/office/drawing/2014/main" id="{D5CBBC27-ACDC-94C2-76F1-1401D310C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1253"/>
              <a:ext cx="166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Calibration</a:t>
              </a:r>
              <a:endPara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5" name="Freeform 112">
              <a:extLst>
                <a:ext uri="{FF2B5EF4-FFF2-40B4-BE49-F238E27FC236}">
                  <a16:creationId xmlns:a16="http://schemas.microsoft.com/office/drawing/2014/main" id="{02C73FCE-7295-9C47-0DC7-646B9565A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" y="1613"/>
              <a:ext cx="2584" cy="1653"/>
            </a:xfrm>
            <a:custGeom>
              <a:avLst/>
              <a:gdLst>
                <a:gd name="T0" fmla="*/ 26 w 2584"/>
                <a:gd name="T1" fmla="*/ 149 h 1653"/>
                <a:gd name="T2" fmla="*/ 78 w 2584"/>
                <a:gd name="T3" fmla="*/ 797 h 1653"/>
                <a:gd name="T4" fmla="*/ 130 w 2584"/>
                <a:gd name="T5" fmla="*/ 1161 h 1653"/>
                <a:gd name="T6" fmla="*/ 183 w 2584"/>
                <a:gd name="T7" fmla="*/ 818 h 1653"/>
                <a:gd name="T8" fmla="*/ 235 w 2584"/>
                <a:gd name="T9" fmla="*/ 146 h 1653"/>
                <a:gd name="T10" fmla="*/ 287 w 2584"/>
                <a:gd name="T11" fmla="*/ 262 h 1653"/>
                <a:gd name="T12" fmla="*/ 339 w 2584"/>
                <a:gd name="T13" fmla="*/ 454 h 1653"/>
                <a:gd name="T14" fmla="*/ 391 w 2584"/>
                <a:gd name="T15" fmla="*/ 463 h 1653"/>
                <a:gd name="T16" fmla="*/ 443 w 2584"/>
                <a:gd name="T17" fmla="*/ 437 h 1653"/>
                <a:gd name="T18" fmla="*/ 496 w 2584"/>
                <a:gd name="T19" fmla="*/ 904 h 1653"/>
                <a:gd name="T20" fmla="*/ 548 w 2584"/>
                <a:gd name="T21" fmla="*/ 1308 h 1653"/>
                <a:gd name="T22" fmla="*/ 600 w 2584"/>
                <a:gd name="T23" fmla="*/ 427 h 1653"/>
                <a:gd name="T24" fmla="*/ 652 w 2584"/>
                <a:gd name="T25" fmla="*/ 1459 h 1653"/>
                <a:gd name="T26" fmla="*/ 704 w 2584"/>
                <a:gd name="T27" fmla="*/ 801 h 1653"/>
                <a:gd name="T28" fmla="*/ 757 w 2584"/>
                <a:gd name="T29" fmla="*/ 1103 h 1653"/>
                <a:gd name="T30" fmla="*/ 809 w 2584"/>
                <a:gd name="T31" fmla="*/ 340 h 1653"/>
                <a:gd name="T32" fmla="*/ 861 w 2584"/>
                <a:gd name="T33" fmla="*/ 447 h 1653"/>
                <a:gd name="T34" fmla="*/ 913 w 2584"/>
                <a:gd name="T35" fmla="*/ 944 h 1653"/>
                <a:gd name="T36" fmla="*/ 965 w 2584"/>
                <a:gd name="T37" fmla="*/ 179 h 1653"/>
                <a:gd name="T38" fmla="*/ 1018 w 2584"/>
                <a:gd name="T39" fmla="*/ 1019 h 1653"/>
                <a:gd name="T40" fmla="*/ 1070 w 2584"/>
                <a:gd name="T41" fmla="*/ 1169 h 1653"/>
                <a:gd name="T42" fmla="*/ 1122 w 2584"/>
                <a:gd name="T43" fmla="*/ 732 h 1653"/>
                <a:gd name="T44" fmla="*/ 1174 w 2584"/>
                <a:gd name="T45" fmla="*/ 1357 h 1653"/>
                <a:gd name="T46" fmla="*/ 1227 w 2584"/>
                <a:gd name="T47" fmla="*/ 285 h 1653"/>
                <a:gd name="T48" fmla="*/ 1278 w 2584"/>
                <a:gd name="T49" fmla="*/ 740 h 1653"/>
                <a:gd name="T50" fmla="*/ 1331 w 2584"/>
                <a:gd name="T51" fmla="*/ 0 h 1653"/>
                <a:gd name="T52" fmla="*/ 1383 w 2584"/>
                <a:gd name="T53" fmla="*/ 500 h 1653"/>
                <a:gd name="T54" fmla="*/ 1435 w 2584"/>
                <a:gd name="T55" fmla="*/ 1315 h 1653"/>
                <a:gd name="T56" fmla="*/ 1488 w 2584"/>
                <a:gd name="T57" fmla="*/ 1422 h 1653"/>
                <a:gd name="T58" fmla="*/ 1540 w 2584"/>
                <a:gd name="T59" fmla="*/ 703 h 1653"/>
                <a:gd name="T60" fmla="*/ 1592 w 2584"/>
                <a:gd name="T61" fmla="*/ 999 h 1653"/>
                <a:gd name="T62" fmla="*/ 1644 w 2584"/>
                <a:gd name="T63" fmla="*/ 1106 h 1653"/>
                <a:gd name="T64" fmla="*/ 1696 w 2584"/>
                <a:gd name="T65" fmla="*/ 1431 h 1653"/>
                <a:gd name="T66" fmla="*/ 1748 w 2584"/>
                <a:gd name="T67" fmla="*/ 635 h 1653"/>
                <a:gd name="T68" fmla="*/ 1801 w 2584"/>
                <a:gd name="T69" fmla="*/ 608 h 1653"/>
                <a:gd name="T70" fmla="*/ 1853 w 2584"/>
                <a:gd name="T71" fmla="*/ 449 h 1653"/>
                <a:gd name="T72" fmla="*/ 1905 w 2584"/>
                <a:gd name="T73" fmla="*/ 373 h 1653"/>
                <a:gd name="T74" fmla="*/ 1957 w 2584"/>
                <a:gd name="T75" fmla="*/ 383 h 1653"/>
                <a:gd name="T76" fmla="*/ 2009 w 2584"/>
                <a:gd name="T77" fmla="*/ 615 h 1653"/>
                <a:gd name="T78" fmla="*/ 2062 w 2584"/>
                <a:gd name="T79" fmla="*/ 346 h 1653"/>
                <a:gd name="T80" fmla="*/ 2114 w 2584"/>
                <a:gd name="T81" fmla="*/ 1164 h 1653"/>
                <a:gd name="T82" fmla="*/ 2166 w 2584"/>
                <a:gd name="T83" fmla="*/ 265 h 1653"/>
                <a:gd name="T84" fmla="*/ 2218 w 2584"/>
                <a:gd name="T85" fmla="*/ 486 h 1653"/>
                <a:gd name="T86" fmla="*/ 2270 w 2584"/>
                <a:gd name="T87" fmla="*/ 1653 h 1653"/>
                <a:gd name="T88" fmla="*/ 2323 w 2584"/>
                <a:gd name="T89" fmla="*/ 127 h 1653"/>
                <a:gd name="T90" fmla="*/ 2375 w 2584"/>
                <a:gd name="T91" fmla="*/ 824 h 1653"/>
                <a:gd name="T92" fmla="*/ 2427 w 2584"/>
                <a:gd name="T93" fmla="*/ 498 h 1653"/>
                <a:gd name="T94" fmla="*/ 2479 w 2584"/>
                <a:gd name="T95" fmla="*/ 600 h 1653"/>
                <a:gd name="T96" fmla="*/ 2532 w 2584"/>
                <a:gd name="T97" fmla="*/ 1057 h 1653"/>
                <a:gd name="T98" fmla="*/ 2584 w 2584"/>
                <a:gd name="T99" fmla="*/ 1253 h 1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84" h="1653">
                  <a:moveTo>
                    <a:pt x="0" y="857"/>
                  </a:moveTo>
                  <a:lnTo>
                    <a:pt x="26" y="149"/>
                  </a:lnTo>
                  <a:lnTo>
                    <a:pt x="52" y="851"/>
                  </a:lnTo>
                  <a:lnTo>
                    <a:pt x="78" y="797"/>
                  </a:lnTo>
                  <a:lnTo>
                    <a:pt x="104" y="674"/>
                  </a:lnTo>
                  <a:lnTo>
                    <a:pt x="130" y="1161"/>
                  </a:lnTo>
                  <a:lnTo>
                    <a:pt x="156" y="1477"/>
                  </a:lnTo>
                  <a:lnTo>
                    <a:pt x="183" y="818"/>
                  </a:lnTo>
                  <a:lnTo>
                    <a:pt x="208" y="1101"/>
                  </a:lnTo>
                  <a:lnTo>
                    <a:pt x="235" y="146"/>
                  </a:lnTo>
                  <a:lnTo>
                    <a:pt x="261" y="539"/>
                  </a:lnTo>
                  <a:lnTo>
                    <a:pt x="287" y="262"/>
                  </a:lnTo>
                  <a:lnTo>
                    <a:pt x="313" y="6"/>
                  </a:lnTo>
                  <a:lnTo>
                    <a:pt x="339" y="454"/>
                  </a:lnTo>
                  <a:lnTo>
                    <a:pt x="365" y="1321"/>
                  </a:lnTo>
                  <a:lnTo>
                    <a:pt x="391" y="463"/>
                  </a:lnTo>
                  <a:lnTo>
                    <a:pt x="417" y="717"/>
                  </a:lnTo>
                  <a:lnTo>
                    <a:pt x="443" y="437"/>
                  </a:lnTo>
                  <a:lnTo>
                    <a:pt x="469" y="455"/>
                  </a:lnTo>
                  <a:lnTo>
                    <a:pt x="496" y="904"/>
                  </a:lnTo>
                  <a:lnTo>
                    <a:pt x="522" y="1270"/>
                  </a:lnTo>
                  <a:lnTo>
                    <a:pt x="548" y="1308"/>
                  </a:lnTo>
                  <a:lnTo>
                    <a:pt x="574" y="898"/>
                  </a:lnTo>
                  <a:lnTo>
                    <a:pt x="600" y="427"/>
                  </a:lnTo>
                  <a:lnTo>
                    <a:pt x="626" y="175"/>
                  </a:lnTo>
                  <a:lnTo>
                    <a:pt x="652" y="1459"/>
                  </a:lnTo>
                  <a:lnTo>
                    <a:pt x="678" y="734"/>
                  </a:lnTo>
                  <a:lnTo>
                    <a:pt x="704" y="801"/>
                  </a:lnTo>
                  <a:lnTo>
                    <a:pt x="731" y="1479"/>
                  </a:lnTo>
                  <a:lnTo>
                    <a:pt x="757" y="1103"/>
                  </a:lnTo>
                  <a:lnTo>
                    <a:pt x="783" y="1126"/>
                  </a:lnTo>
                  <a:lnTo>
                    <a:pt x="809" y="340"/>
                  </a:lnTo>
                  <a:lnTo>
                    <a:pt x="835" y="481"/>
                  </a:lnTo>
                  <a:lnTo>
                    <a:pt x="861" y="447"/>
                  </a:lnTo>
                  <a:lnTo>
                    <a:pt x="887" y="382"/>
                  </a:lnTo>
                  <a:lnTo>
                    <a:pt x="913" y="944"/>
                  </a:lnTo>
                  <a:lnTo>
                    <a:pt x="939" y="410"/>
                  </a:lnTo>
                  <a:lnTo>
                    <a:pt x="965" y="179"/>
                  </a:lnTo>
                  <a:lnTo>
                    <a:pt x="992" y="1079"/>
                  </a:lnTo>
                  <a:lnTo>
                    <a:pt x="1018" y="1019"/>
                  </a:lnTo>
                  <a:lnTo>
                    <a:pt x="1044" y="986"/>
                  </a:lnTo>
                  <a:lnTo>
                    <a:pt x="1070" y="1169"/>
                  </a:lnTo>
                  <a:lnTo>
                    <a:pt x="1096" y="1058"/>
                  </a:lnTo>
                  <a:lnTo>
                    <a:pt x="1122" y="732"/>
                  </a:lnTo>
                  <a:lnTo>
                    <a:pt x="1148" y="632"/>
                  </a:lnTo>
                  <a:lnTo>
                    <a:pt x="1174" y="1357"/>
                  </a:lnTo>
                  <a:lnTo>
                    <a:pt x="1200" y="998"/>
                  </a:lnTo>
                  <a:lnTo>
                    <a:pt x="1227" y="285"/>
                  </a:lnTo>
                  <a:lnTo>
                    <a:pt x="1253" y="1111"/>
                  </a:lnTo>
                  <a:lnTo>
                    <a:pt x="1278" y="740"/>
                  </a:lnTo>
                  <a:lnTo>
                    <a:pt x="1305" y="621"/>
                  </a:lnTo>
                  <a:lnTo>
                    <a:pt x="1331" y="0"/>
                  </a:lnTo>
                  <a:lnTo>
                    <a:pt x="1357" y="643"/>
                  </a:lnTo>
                  <a:lnTo>
                    <a:pt x="1383" y="500"/>
                  </a:lnTo>
                  <a:lnTo>
                    <a:pt x="1409" y="275"/>
                  </a:lnTo>
                  <a:lnTo>
                    <a:pt x="1435" y="1315"/>
                  </a:lnTo>
                  <a:lnTo>
                    <a:pt x="1461" y="697"/>
                  </a:lnTo>
                  <a:lnTo>
                    <a:pt x="1488" y="1422"/>
                  </a:lnTo>
                  <a:lnTo>
                    <a:pt x="1513" y="772"/>
                  </a:lnTo>
                  <a:lnTo>
                    <a:pt x="1540" y="703"/>
                  </a:lnTo>
                  <a:lnTo>
                    <a:pt x="1566" y="866"/>
                  </a:lnTo>
                  <a:lnTo>
                    <a:pt x="1592" y="999"/>
                  </a:lnTo>
                  <a:lnTo>
                    <a:pt x="1618" y="559"/>
                  </a:lnTo>
                  <a:lnTo>
                    <a:pt x="1644" y="1106"/>
                  </a:lnTo>
                  <a:lnTo>
                    <a:pt x="1670" y="1088"/>
                  </a:lnTo>
                  <a:lnTo>
                    <a:pt x="1696" y="1431"/>
                  </a:lnTo>
                  <a:lnTo>
                    <a:pt x="1722" y="556"/>
                  </a:lnTo>
                  <a:lnTo>
                    <a:pt x="1748" y="635"/>
                  </a:lnTo>
                  <a:lnTo>
                    <a:pt x="1774" y="1030"/>
                  </a:lnTo>
                  <a:lnTo>
                    <a:pt x="1801" y="608"/>
                  </a:lnTo>
                  <a:lnTo>
                    <a:pt x="1827" y="1201"/>
                  </a:lnTo>
                  <a:lnTo>
                    <a:pt x="1853" y="449"/>
                  </a:lnTo>
                  <a:lnTo>
                    <a:pt x="1879" y="933"/>
                  </a:lnTo>
                  <a:lnTo>
                    <a:pt x="1905" y="373"/>
                  </a:lnTo>
                  <a:lnTo>
                    <a:pt x="1931" y="1323"/>
                  </a:lnTo>
                  <a:lnTo>
                    <a:pt x="1957" y="383"/>
                  </a:lnTo>
                  <a:lnTo>
                    <a:pt x="1983" y="1544"/>
                  </a:lnTo>
                  <a:lnTo>
                    <a:pt x="2009" y="615"/>
                  </a:lnTo>
                  <a:lnTo>
                    <a:pt x="2036" y="1118"/>
                  </a:lnTo>
                  <a:lnTo>
                    <a:pt x="2062" y="346"/>
                  </a:lnTo>
                  <a:lnTo>
                    <a:pt x="2088" y="570"/>
                  </a:lnTo>
                  <a:lnTo>
                    <a:pt x="2114" y="1164"/>
                  </a:lnTo>
                  <a:lnTo>
                    <a:pt x="2140" y="712"/>
                  </a:lnTo>
                  <a:lnTo>
                    <a:pt x="2166" y="265"/>
                  </a:lnTo>
                  <a:lnTo>
                    <a:pt x="2192" y="642"/>
                  </a:lnTo>
                  <a:lnTo>
                    <a:pt x="2218" y="486"/>
                  </a:lnTo>
                  <a:lnTo>
                    <a:pt x="2244" y="1061"/>
                  </a:lnTo>
                  <a:lnTo>
                    <a:pt x="2270" y="1653"/>
                  </a:lnTo>
                  <a:lnTo>
                    <a:pt x="2297" y="138"/>
                  </a:lnTo>
                  <a:lnTo>
                    <a:pt x="2323" y="127"/>
                  </a:lnTo>
                  <a:lnTo>
                    <a:pt x="2349" y="592"/>
                  </a:lnTo>
                  <a:lnTo>
                    <a:pt x="2375" y="824"/>
                  </a:lnTo>
                  <a:lnTo>
                    <a:pt x="2401" y="930"/>
                  </a:lnTo>
                  <a:lnTo>
                    <a:pt x="2427" y="498"/>
                  </a:lnTo>
                  <a:lnTo>
                    <a:pt x="2453" y="349"/>
                  </a:lnTo>
                  <a:lnTo>
                    <a:pt x="2479" y="600"/>
                  </a:lnTo>
                  <a:lnTo>
                    <a:pt x="2505" y="607"/>
                  </a:lnTo>
                  <a:lnTo>
                    <a:pt x="2532" y="1057"/>
                  </a:lnTo>
                  <a:lnTo>
                    <a:pt x="2558" y="1141"/>
                  </a:lnTo>
                  <a:lnTo>
                    <a:pt x="2584" y="1253"/>
                  </a:lnTo>
                </a:path>
              </a:pathLst>
            </a:custGeom>
            <a:noFill/>
            <a:ln w="2540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6" name="Freeform 113">
              <a:extLst>
                <a:ext uri="{FF2B5EF4-FFF2-40B4-BE49-F238E27FC236}">
                  <a16:creationId xmlns:a16="http://schemas.microsoft.com/office/drawing/2014/main" id="{59E09ACE-B480-EFF0-8312-EBE9BC444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" y="1804"/>
              <a:ext cx="2584" cy="1098"/>
            </a:xfrm>
            <a:custGeom>
              <a:avLst/>
              <a:gdLst>
                <a:gd name="T0" fmla="*/ 26 w 2584"/>
                <a:gd name="T1" fmla="*/ 503 h 1098"/>
                <a:gd name="T2" fmla="*/ 78 w 2584"/>
                <a:gd name="T3" fmla="*/ 991 h 1098"/>
                <a:gd name="T4" fmla="*/ 130 w 2584"/>
                <a:gd name="T5" fmla="*/ 793 h 1098"/>
                <a:gd name="T6" fmla="*/ 183 w 2584"/>
                <a:gd name="T7" fmla="*/ 544 h 1098"/>
                <a:gd name="T8" fmla="*/ 235 w 2584"/>
                <a:gd name="T9" fmla="*/ 359 h 1098"/>
                <a:gd name="T10" fmla="*/ 287 w 2584"/>
                <a:gd name="T11" fmla="*/ 539 h 1098"/>
                <a:gd name="T12" fmla="*/ 339 w 2584"/>
                <a:gd name="T13" fmla="*/ 636 h 1098"/>
                <a:gd name="T14" fmla="*/ 391 w 2584"/>
                <a:gd name="T15" fmla="*/ 456 h 1098"/>
                <a:gd name="T16" fmla="*/ 443 w 2584"/>
                <a:gd name="T17" fmla="*/ 499 h 1098"/>
                <a:gd name="T18" fmla="*/ 496 w 2584"/>
                <a:gd name="T19" fmla="*/ 815 h 1098"/>
                <a:gd name="T20" fmla="*/ 548 w 2584"/>
                <a:gd name="T21" fmla="*/ 672 h 1098"/>
                <a:gd name="T22" fmla="*/ 600 w 2584"/>
                <a:gd name="T23" fmla="*/ 0 h 1098"/>
                <a:gd name="T24" fmla="*/ 652 w 2584"/>
                <a:gd name="T25" fmla="*/ 191 h 1098"/>
                <a:gd name="T26" fmla="*/ 704 w 2584"/>
                <a:gd name="T27" fmla="*/ 427 h 1098"/>
                <a:gd name="T28" fmla="*/ 757 w 2584"/>
                <a:gd name="T29" fmla="*/ 518 h 1098"/>
                <a:gd name="T30" fmla="*/ 809 w 2584"/>
                <a:gd name="T31" fmla="*/ 696 h 1098"/>
                <a:gd name="T32" fmla="*/ 861 w 2584"/>
                <a:gd name="T33" fmla="*/ 713 h 1098"/>
                <a:gd name="T34" fmla="*/ 913 w 2584"/>
                <a:gd name="T35" fmla="*/ 541 h 1098"/>
                <a:gd name="T36" fmla="*/ 965 w 2584"/>
                <a:gd name="T37" fmla="*/ 320 h 1098"/>
                <a:gd name="T38" fmla="*/ 1018 w 2584"/>
                <a:gd name="T39" fmla="*/ 183 h 1098"/>
                <a:gd name="T40" fmla="*/ 1070 w 2584"/>
                <a:gd name="T41" fmla="*/ 1098 h 1098"/>
                <a:gd name="T42" fmla="*/ 1122 w 2584"/>
                <a:gd name="T43" fmla="*/ 617 h 1098"/>
                <a:gd name="T44" fmla="*/ 1174 w 2584"/>
                <a:gd name="T45" fmla="*/ 11 h 1098"/>
                <a:gd name="T46" fmla="*/ 1227 w 2584"/>
                <a:gd name="T47" fmla="*/ 667 h 1098"/>
                <a:gd name="T48" fmla="*/ 1278 w 2584"/>
                <a:gd name="T49" fmla="*/ 419 h 1098"/>
                <a:gd name="T50" fmla="*/ 1331 w 2584"/>
                <a:gd name="T51" fmla="*/ 740 h 1098"/>
                <a:gd name="T52" fmla="*/ 1383 w 2584"/>
                <a:gd name="T53" fmla="*/ 187 h 1098"/>
                <a:gd name="T54" fmla="*/ 1435 w 2584"/>
                <a:gd name="T55" fmla="*/ 554 h 1098"/>
                <a:gd name="T56" fmla="*/ 1488 w 2584"/>
                <a:gd name="T57" fmla="*/ 490 h 1098"/>
                <a:gd name="T58" fmla="*/ 1540 w 2584"/>
                <a:gd name="T59" fmla="*/ 726 h 1098"/>
                <a:gd name="T60" fmla="*/ 1592 w 2584"/>
                <a:gd name="T61" fmla="*/ 393 h 1098"/>
                <a:gd name="T62" fmla="*/ 1644 w 2584"/>
                <a:gd name="T63" fmla="*/ 508 h 1098"/>
                <a:gd name="T64" fmla="*/ 1696 w 2584"/>
                <a:gd name="T65" fmla="*/ 661 h 1098"/>
                <a:gd name="T66" fmla="*/ 1748 w 2584"/>
                <a:gd name="T67" fmla="*/ 406 h 1098"/>
                <a:gd name="T68" fmla="*/ 1801 w 2584"/>
                <a:gd name="T69" fmla="*/ 327 h 1098"/>
                <a:gd name="T70" fmla="*/ 1853 w 2584"/>
                <a:gd name="T71" fmla="*/ 571 h 1098"/>
                <a:gd name="T72" fmla="*/ 1905 w 2584"/>
                <a:gd name="T73" fmla="*/ 459 h 1098"/>
                <a:gd name="T74" fmla="*/ 1957 w 2584"/>
                <a:gd name="T75" fmla="*/ 467 h 1098"/>
                <a:gd name="T76" fmla="*/ 2009 w 2584"/>
                <a:gd name="T77" fmla="*/ 206 h 1098"/>
                <a:gd name="T78" fmla="*/ 2062 w 2584"/>
                <a:gd name="T79" fmla="*/ 653 h 1098"/>
                <a:gd name="T80" fmla="*/ 2114 w 2584"/>
                <a:gd name="T81" fmla="*/ 516 h 1098"/>
                <a:gd name="T82" fmla="*/ 2166 w 2584"/>
                <a:gd name="T83" fmla="*/ 584 h 1098"/>
                <a:gd name="T84" fmla="*/ 2218 w 2584"/>
                <a:gd name="T85" fmla="*/ 759 h 1098"/>
                <a:gd name="T86" fmla="*/ 2270 w 2584"/>
                <a:gd name="T87" fmla="*/ 771 h 1098"/>
                <a:gd name="T88" fmla="*/ 2323 w 2584"/>
                <a:gd name="T89" fmla="*/ 424 h 1098"/>
                <a:gd name="T90" fmla="*/ 2375 w 2584"/>
                <a:gd name="T91" fmla="*/ 750 h 1098"/>
                <a:gd name="T92" fmla="*/ 2427 w 2584"/>
                <a:gd name="T93" fmla="*/ 454 h 1098"/>
                <a:gd name="T94" fmla="*/ 2479 w 2584"/>
                <a:gd name="T95" fmla="*/ 503 h 1098"/>
                <a:gd name="T96" fmla="*/ 2532 w 2584"/>
                <a:gd name="T97" fmla="*/ 742 h 1098"/>
                <a:gd name="T98" fmla="*/ 2584 w 2584"/>
                <a:gd name="T99" fmla="*/ 542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84" h="1098">
                  <a:moveTo>
                    <a:pt x="0" y="288"/>
                  </a:moveTo>
                  <a:lnTo>
                    <a:pt x="26" y="503"/>
                  </a:lnTo>
                  <a:lnTo>
                    <a:pt x="52" y="822"/>
                  </a:lnTo>
                  <a:lnTo>
                    <a:pt x="78" y="991"/>
                  </a:lnTo>
                  <a:lnTo>
                    <a:pt x="104" y="378"/>
                  </a:lnTo>
                  <a:lnTo>
                    <a:pt x="130" y="793"/>
                  </a:lnTo>
                  <a:lnTo>
                    <a:pt x="156" y="729"/>
                  </a:lnTo>
                  <a:lnTo>
                    <a:pt x="183" y="544"/>
                  </a:lnTo>
                  <a:lnTo>
                    <a:pt x="208" y="466"/>
                  </a:lnTo>
                  <a:lnTo>
                    <a:pt x="235" y="359"/>
                  </a:lnTo>
                  <a:lnTo>
                    <a:pt x="261" y="674"/>
                  </a:lnTo>
                  <a:lnTo>
                    <a:pt x="287" y="539"/>
                  </a:lnTo>
                  <a:lnTo>
                    <a:pt x="313" y="727"/>
                  </a:lnTo>
                  <a:lnTo>
                    <a:pt x="339" y="636"/>
                  </a:lnTo>
                  <a:lnTo>
                    <a:pt x="365" y="448"/>
                  </a:lnTo>
                  <a:lnTo>
                    <a:pt x="391" y="456"/>
                  </a:lnTo>
                  <a:lnTo>
                    <a:pt x="417" y="309"/>
                  </a:lnTo>
                  <a:lnTo>
                    <a:pt x="443" y="499"/>
                  </a:lnTo>
                  <a:lnTo>
                    <a:pt x="469" y="530"/>
                  </a:lnTo>
                  <a:lnTo>
                    <a:pt x="496" y="815"/>
                  </a:lnTo>
                  <a:lnTo>
                    <a:pt x="522" y="663"/>
                  </a:lnTo>
                  <a:lnTo>
                    <a:pt x="548" y="672"/>
                  </a:lnTo>
                  <a:lnTo>
                    <a:pt x="574" y="740"/>
                  </a:lnTo>
                  <a:lnTo>
                    <a:pt x="600" y="0"/>
                  </a:lnTo>
                  <a:lnTo>
                    <a:pt x="626" y="634"/>
                  </a:lnTo>
                  <a:lnTo>
                    <a:pt x="652" y="191"/>
                  </a:lnTo>
                  <a:lnTo>
                    <a:pt x="678" y="500"/>
                  </a:lnTo>
                  <a:lnTo>
                    <a:pt x="704" y="427"/>
                  </a:lnTo>
                  <a:lnTo>
                    <a:pt x="731" y="570"/>
                  </a:lnTo>
                  <a:lnTo>
                    <a:pt x="757" y="518"/>
                  </a:lnTo>
                  <a:lnTo>
                    <a:pt x="783" y="579"/>
                  </a:lnTo>
                  <a:lnTo>
                    <a:pt x="809" y="696"/>
                  </a:lnTo>
                  <a:lnTo>
                    <a:pt x="835" y="441"/>
                  </a:lnTo>
                  <a:lnTo>
                    <a:pt x="861" y="713"/>
                  </a:lnTo>
                  <a:lnTo>
                    <a:pt x="887" y="952"/>
                  </a:lnTo>
                  <a:lnTo>
                    <a:pt x="913" y="541"/>
                  </a:lnTo>
                  <a:lnTo>
                    <a:pt x="939" y="1026"/>
                  </a:lnTo>
                  <a:lnTo>
                    <a:pt x="965" y="320"/>
                  </a:lnTo>
                  <a:lnTo>
                    <a:pt x="992" y="371"/>
                  </a:lnTo>
                  <a:lnTo>
                    <a:pt x="1018" y="183"/>
                  </a:lnTo>
                  <a:lnTo>
                    <a:pt x="1044" y="674"/>
                  </a:lnTo>
                  <a:lnTo>
                    <a:pt x="1070" y="1098"/>
                  </a:lnTo>
                  <a:lnTo>
                    <a:pt x="1096" y="367"/>
                  </a:lnTo>
                  <a:lnTo>
                    <a:pt x="1122" y="617"/>
                  </a:lnTo>
                  <a:lnTo>
                    <a:pt x="1148" y="273"/>
                  </a:lnTo>
                  <a:lnTo>
                    <a:pt x="1174" y="11"/>
                  </a:lnTo>
                  <a:lnTo>
                    <a:pt x="1200" y="479"/>
                  </a:lnTo>
                  <a:lnTo>
                    <a:pt x="1227" y="667"/>
                  </a:lnTo>
                  <a:lnTo>
                    <a:pt x="1253" y="616"/>
                  </a:lnTo>
                  <a:lnTo>
                    <a:pt x="1278" y="419"/>
                  </a:lnTo>
                  <a:lnTo>
                    <a:pt x="1305" y="679"/>
                  </a:lnTo>
                  <a:lnTo>
                    <a:pt x="1331" y="740"/>
                  </a:lnTo>
                  <a:lnTo>
                    <a:pt x="1357" y="542"/>
                  </a:lnTo>
                  <a:lnTo>
                    <a:pt x="1383" y="187"/>
                  </a:lnTo>
                  <a:lnTo>
                    <a:pt x="1409" y="370"/>
                  </a:lnTo>
                  <a:lnTo>
                    <a:pt x="1435" y="554"/>
                  </a:lnTo>
                  <a:lnTo>
                    <a:pt x="1461" y="730"/>
                  </a:lnTo>
                  <a:lnTo>
                    <a:pt x="1488" y="490"/>
                  </a:lnTo>
                  <a:lnTo>
                    <a:pt x="1513" y="328"/>
                  </a:lnTo>
                  <a:lnTo>
                    <a:pt x="1540" y="726"/>
                  </a:lnTo>
                  <a:lnTo>
                    <a:pt x="1566" y="564"/>
                  </a:lnTo>
                  <a:lnTo>
                    <a:pt x="1592" y="393"/>
                  </a:lnTo>
                  <a:lnTo>
                    <a:pt x="1618" y="358"/>
                  </a:lnTo>
                  <a:lnTo>
                    <a:pt x="1644" y="508"/>
                  </a:lnTo>
                  <a:lnTo>
                    <a:pt x="1670" y="421"/>
                  </a:lnTo>
                  <a:lnTo>
                    <a:pt x="1696" y="661"/>
                  </a:lnTo>
                  <a:lnTo>
                    <a:pt x="1722" y="666"/>
                  </a:lnTo>
                  <a:lnTo>
                    <a:pt x="1748" y="406"/>
                  </a:lnTo>
                  <a:lnTo>
                    <a:pt x="1774" y="440"/>
                  </a:lnTo>
                  <a:lnTo>
                    <a:pt x="1801" y="327"/>
                  </a:lnTo>
                  <a:lnTo>
                    <a:pt x="1827" y="461"/>
                  </a:lnTo>
                  <a:lnTo>
                    <a:pt x="1853" y="571"/>
                  </a:lnTo>
                  <a:lnTo>
                    <a:pt x="1879" y="571"/>
                  </a:lnTo>
                  <a:lnTo>
                    <a:pt x="1905" y="459"/>
                  </a:lnTo>
                  <a:lnTo>
                    <a:pt x="1931" y="533"/>
                  </a:lnTo>
                  <a:lnTo>
                    <a:pt x="1957" y="467"/>
                  </a:lnTo>
                  <a:lnTo>
                    <a:pt x="1983" y="506"/>
                  </a:lnTo>
                  <a:lnTo>
                    <a:pt x="2009" y="206"/>
                  </a:lnTo>
                  <a:lnTo>
                    <a:pt x="2036" y="603"/>
                  </a:lnTo>
                  <a:lnTo>
                    <a:pt x="2062" y="653"/>
                  </a:lnTo>
                  <a:lnTo>
                    <a:pt x="2088" y="796"/>
                  </a:lnTo>
                  <a:lnTo>
                    <a:pt x="2114" y="516"/>
                  </a:lnTo>
                  <a:lnTo>
                    <a:pt x="2140" y="795"/>
                  </a:lnTo>
                  <a:lnTo>
                    <a:pt x="2166" y="584"/>
                  </a:lnTo>
                  <a:lnTo>
                    <a:pt x="2192" y="519"/>
                  </a:lnTo>
                  <a:lnTo>
                    <a:pt x="2218" y="759"/>
                  </a:lnTo>
                  <a:lnTo>
                    <a:pt x="2244" y="490"/>
                  </a:lnTo>
                  <a:lnTo>
                    <a:pt x="2270" y="771"/>
                  </a:lnTo>
                  <a:lnTo>
                    <a:pt x="2297" y="667"/>
                  </a:lnTo>
                  <a:lnTo>
                    <a:pt x="2323" y="424"/>
                  </a:lnTo>
                  <a:lnTo>
                    <a:pt x="2349" y="658"/>
                  </a:lnTo>
                  <a:lnTo>
                    <a:pt x="2375" y="750"/>
                  </a:lnTo>
                  <a:lnTo>
                    <a:pt x="2401" y="553"/>
                  </a:lnTo>
                  <a:lnTo>
                    <a:pt x="2427" y="454"/>
                  </a:lnTo>
                  <a:lnTo>
                    <a:pt x="2453" y="898"/>
                  </a:lnTo>
                  <a:lnTo>
                    <a:pt x="2479" y="503"/>
                  </a:lnTo>
                  <a:lnTo>
                    <a:pt x="2505" y="937"/>
                  </a:lnTo>
                  <a:lnTo>
                    <a:pt x="2532" y="742"/>
                  </a:lnTo>
                  <a:lnTo>
                    <a:pt x="2558" y="556"/>
                  </a:lnTo>
                  <a:lnTo>
                    <a:pt x="2584" y="542"/>
                  </a:lnTo>
                </a:path>
              </a:pathLst>
            </a:custGeom>
            <a:noFill/>
            <a:ln w="2540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7" name="Freeform 114">
              <a:extLst>
                <a:ext uri="{FF2B5EF4-FFF2-40B4-BE49-F238E27FC236}">
                  <a16:creationId xmlns:a16="http://schemas.microsoft.com/office/drawing/2014/main" id="{68D2F3D3-7CA1-D70D-2590-66BA19208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" y="2277"/>
              <a:ext cx="2584" cy="181"/>
            </a:xfrm>
            <a:custGeom>
              <a:avLst/>
              <a:gdLst>
                <a:gd name="T0" fmla="*/ 26 w 2584"/>
                <a:gd name="T1" fmla="*/ 86 h 181"/>
                <a:gd name="T2" fmla="*/ 78 w 2584"/>
                <a:gd name="T3" fmla="*/ 97 h 181"/>
                <a:gd name="T4" fmla="*/ 130 w 2584"/>
                <a:gd name="T5" fmla="*/ 72 h 181"/>
                <a:gd name="T6" fmla="*/ 183 w 2584"/>
                <a:gd name="T7" fmla="*/ 108 h 181"/>
                <a:gd name="T8" fmla="*/ 235 w 2584"/>
                <a:gd name="T9" fmla="*/ 131 h 181"/>
                <a:gd name="T10" fmla="*/ 287 w 2584"/>
                <a:gd name="T11" fmla="*/ 67 h 181"/>
                <a:gd name="T12" fmla="*/ 339 w 2584"/>
                <a:gd name="T13" fmla="*/ 103 h 181"/>
                <a:gd name="T14" fmla="*/ 391 w 2584"/>
                <a:gd name="T15" fmla="*/ 133 h 181"/>
                <a:gd name="T16" fmla="*/ 443 w 2584"/>
                <a:gd name="T17" fmla="*/ 97 h 181"/>
                <a:gd name="T18" fmla="*/ 496 w 2584"/>
                <a:gd name="T19" fmla="*/ 69 h 181"/>
                <a:gd name="T20" fmla="*/ 548 w 2584"/>
                <a:gd name="T21" fmla="*/ 50 h 181"/>
                <a:gd name="T22" fmla="*/ 600 w 2584"/>
                <a:gd name="T23" fmla="*/ 94 h 181"/>
                <a:gd name="T24" fmla="*/ 652 w 2584"/>
                <a:gd name="T25" fmla="*/ 103 h 181"/>
                <a:gd name="T26" fmla="*/ 704 w 2584"/>
                <a:gd name="T27" fmla="*/ 108 h 181"/>
                <a:gd name="T28" fmla="*/ 757 w 2584"/>
                <a:gd name="T29" fmla="*/ 142 h 181"/>
                <a:gd name="T30" fmla="*/ 809 w 2584"/>
                <a:gd name="T31" fmla="*/ 123 h 181"/>
                <a:gd name="T32" fmla="*/ 861 w 2584"/>
                <a:gd name="T33" fmla="*/ 23 h 181"/>
                <a:gd name="T34" fmla="*/ 913 w 2584"/>
                <a:gd name="T35" fmla="*/ 100 h 181"/>
                <a:gd name="T36" fmla="*/ 965 w 2584"/>
                <a:gd name="T37" fmla="*/ 100 h 181"/>
                <a:gd name="T38" fmla="*/ 1018 w 2584"/>
                <a:gd name="T39" fmla="*/ 132 h 181"/>
                <a:gd name="T40" fmla="*/ 1070 w 2584"/>
                <a:gd name="T41" fmla="*/ 103 h 181"/>
                <a:gd name="T42" fmla="*/ 1122 w 2584"/>
                <a:gd name="T43" fmla="*/ 77 h 181"/>
                <a:gd name="T44" fmla="*/ 1174 w 2584"/>
                <a:gd name="T45" fmla="*/ 103 h 181"/>
                <a:gd name="T46" fmla="*/ 1227 w 2584"/>
                <a:gd name="T47" fmla="*/ 99 h 181"/>
                <a:gd name="T48" fmla="*/ 1278 w 2584"/>
                <a:gd name="T49" fmla="*/ 79 h 181"/>
                <a:gd name="T50" fmla="*/ 1331 w 2584"/>
                <a:gd name="T51" fmla="*/ 181 h 181"/>
                <a:gd name="T52" fmla="*/ 1383 w 2584"/>
                <a:gd name="T53" fmla="*/ 177 h 181"/>
                <a:gd name="T54" fmla="*/ 1435 w 2584"/>
                <a:gd name="T55" fmla="*/ 34 h 181"/>
                <a:gd name="T56" fmla="*/ 1488 w 2584"/>
                <a:gd name="T57" fmla="*/ 112 h 181"/>
                <a:gd name="T58" fmla="*/ 1540 w 2584"/>
                <a:gd name="T59" fmla="*/ 106 h 181"/>
                <a:gd name="T60" fmla="*/ 1592 w 2584"/>
                <a:gd name="T61" fmla="*/ 46 h 181"/>
                <a:gd name="T62" fmla="*/ 1644 w 2584"/>
                <a:gd name="T63" fmla="*/ 42 h 181"/>
                <a:gd name="T64" fmla="*/ 1696 w 2584"/>
                <a:gd name="T65" fmla="*/ 123 h 181"/>
                <a:gd name="T66" fmla="*/ 1748 w 2584"/>
                <a:gd name="T67" fmla="*/ 136 h 181"/>
                <a:gd name="T68" fmla="*/ 1801 w 2584"/>
                <a:gd name="T69" fmla="*/ 84 h 181"/>
                <a:gd name="T70" fmla="*/ 1853 w 2584"/>
                <a:gd name="T71" fmla="*/ 116 h 181"/>
                <a:gd name="T72" fmla="*/ 1905 w 2584"/>
                <a:gd name="T73" fmla="*/ 141 h 181"/>
                <a:gd name="T74" fmla="*/ 1957 w 2584"/>
                <a:gd name="T75" fmla="*/ 122 h 181"/>
                <a:gd name="T76" fmla="*/ 2009 w 2584"/>
                <a:gd name="T77" fmla="*/ 82 h 181"/>
                <a:gd name="T78" fmla="*/ 2062 w 2584"/>
                <a:gd name="T79" fmla="*/ 85 h 181"/>
                <a:gd name="T80" fmla="*/ 2114 w 2584"/>
                <a:gd name="T81" fmla="*/ 37 h 181"/>
                <a:gd name="T82" fmla="*/ 2166 w 2584"/>
                <a:gd name="T83" fmla="*/ 130 h 181"/>
                <a:gd name="T84" fmla="*/ 2218 w 2584"/>
                <a:gd name="T85" fmla="*/ 64 h 181"/>
                <a:gd name="T86" fmla="*/ 2270 w 2584"/>
                <a:gd name="T87" fmla="*/ 104 h 181"/>
                <a:gd name="T88" fmla="*/ 2323 w 2584"/>
                <a:gd name="T89" fmla="*/ 67 h 181"/>
                <a:gd name="T90" fmla="*/ 2375 w 2584"/>
                <a:gd name="T91" fmla="*/ 51 h 181"/>
                <a:gd name="T92" fmla="*/ 2427 w 2584"/>
                <a:gd name="T93" fmla="*/ 109 h 181"/>
                <a:gd name="T94" fmla="*/ 2479 w 2584"/>
                <a:gd name="T95" fmla="*/ 81 h 181"/>
                <a:gd name="T96" fmla="*/ 2532 w 2584"/>
                <a:gd name="T97" fmla="*/ 55 h 181"/>
                <a:gd name="T98" fmla="*/ 2584 w 2584"/>
                <a:gd name="T99" fmla="*/ 69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84" h="181">
                  <a:moveTo>
                    <a:pt x="0" y="91"/>
                  </a:moveTo>
                  <a:lnTo>
                    <a:pt x="26" y="86"/>
                  </a:lnTo>
                  <a:lnTo>
                    <a:pt x="52" y="0"/>
                  </a:lnTo>
                  <a:lnTo>
                    <a:pt x="78" y="97"/>
                  </a:lnTo>
                  <a:lnTo>
                    <a:pt x="104" y="106"/>
                  </a:lnTo>
                  <a:lnTo>
                    <a:pt x="130" y="72"/>
                  </a:lnTo>
                  <a:lnTo>
                    <a:pt x="156" y="122"/>
                  </a:lnTo>
                  <a:lnTo>
                    <a:pt x="183" y="108"/>
                  </a:lnTo>
                  <a:lnTo>
                    <a:pt x="208" y="131"/>
                  </a:lnTo>
                  <a:lnTo>
                    <a:pt x="235" y="131"/>
                  </a:lnTo>
                  <a:lnTo>
                    <a:pt x="261" y="77"/>
                  </a:lnTo>
                  <a:lnTo>
                    <a:pt x="287" y="67"/>
                  </a:lnTo>
                  <a:lnTo>
                    <a:pt x="313" y="74"/>
                  </a:lnTo>
                  <a:lnTo>
                    <a:pt x="339" y="103"/>
                  </a:lnTo>
                  <a:lnTo>
                    <a:pt x="365" y="157"/>
                  </a:lnTo>
                  <a:lnTo>
                    <a:pt x="391" y="133"/>
                  </a:lnTo>
                  <a:lnTo>
                    <a:pt x="417" y="118"/>
                  </a:lnTo>
                  <a:lnTo>
                    <a:pt x="443" y="97"/>
                  </a:lnTo>
                  <a:lnTo>
                    <a:pt x="469" y="85"/>
                  </a:lnTo>
                  <a:lnTo>
                    <a:pt x="496" y="69"/>
                  </a:lnTo>
                  <a:lnTo>
                    <a:pt x="522" y="126"/>
                  </a:lnTo>
                  <a:lnTo>
                    <a:pt x="548" y="50"/>
                  </a:lnTo>
                  <a:lnTo>
                    <a:pt x="574" y="69"/>
                  </a:lnTo>
                  <a:lnTo>
                    <a:pt x="600" y="94"/>
                  </a:lnTo>
                  <a:lnTo>
                    <a:pt x="626" y="84"/>
                  </a:lnTo>
                  <a:lnTo>
                    <a:pt x="652" y="103"/>
                  </a:lnTo>
                  <a:lnTo>
                    <a:pt x="678" y="128"/>
                  </a:lnTo>
                  <a:lnTo>
                    <a:pt x="704" y="108"/>
                  </a:lnTo>
                  <a:lnTo>
                    <a:pt x="731" y="85"/>
                  </a:lnTo>
                  <a:lnTo>
                    <a:pt x="757" y="142"/>
                  </a:lnTo>
                  <a:lnTo>
                    <a:pt x="783" y="119"/>
                  </a:lnTo>
                  <a:lnTo>
                    <a:pt x="809" y="123"/>
                  </a:lnTo>
                  <a:lnTo>
                    <a:pt x="835" y="137"/>
                  </a:lnTo>
                  <a:lnTo>
                    <a:pt x="861" y="23"/>
                  </a:lnTo>
                  <a:lnTo>
                    <a:pt x="887" y="86"/>
                  </a:lnTo>
                  <a:lnTo>
                    <a:pt x="913" y="100"/>
                  </a:lnTo>
                  <a:lnTo>
                    <a:pt x="939" y="156"/>
                  </a:lnTo>
                  <a:lnTo>
                    <a:pt x="965" y="100"/>
                  </a:lnTo>
                  <a:lnTo>
                    <a:pt x="992" y="102"/>
                  </a:lnTo>
                  <a:lnTo>
                    <a:pt x="1018" y="132"/>
                  </a:lnTo>
                  <a:lnTo>
                    <a:pt x="1044" y="108"/>
                  </a:lnTo>
                  <a:lnTo>
                    <a:pt x="1070" y="103"/>
                  </a:lnTo>
                  <a:lnTo>
                    <a:pt x="1096" y="77"/>
                  </a:lnTo>
                  <a:lnTo>
                    <a:pt x="1122" y="77"/>
                  </a:lnTo>
                  <a:lnTo>
                    <a:pt x="1148" y="134"/>
                  </a:lnTo>
                  <a:lnTo>
                    <a:pt x="1174" y="103"/>
                  </a:lnTo>
                  <a:lnTo>
                    <a:pt x="1200" y="76"/>
                  </a:lnTo>
                  <a:lnTo>
                    <a:pt x="1227" y="99"/>
                  </a:lnTo>
                  <a:lnTo>
                    <a:pt x="1253" y="60"/>
                  </a:lnTo>
                  <a:lnTo>
                    <a:pt x="1278" y="79"/>
                  </a:lnTo>
                  <a:lnTo>
                    <a:pt x="1305" y="140"/>
                  </a:lnTo>
                  <a:lnTo>
                    <a:pt x="1331" y="181"/>
                  </a:lnTo>
                  <a:lnTo>
                    <a:pt x="1357" y="72"/>
                  </a:lnTo>
                  <a:lnTo>
                    <a:pt x="1383" y="177"/>
                  </a:lnTo>
                  <a:lnTo>
                    <a:pt x="1409" y="89"/>
                  </a:lnTo>
                  <a:lnTo>
                    <a:pt x="1435" y="34"/>
                  </a:lnTo>
                  <a:lnTo>
                    <a:pt x="1461" y="90"/>
                  </a:lnTo>
                  <a:lnTo>
                    <a:pt x="1488" y="112"/>
                  </a:lnTo>
                  <a:lnTo>
                    <a:pt x="1513" y="91"/>
                  </a:lnTo>
                  <a:lnTo>
                    <a:pt x="1540" y="106"/>
                  </a:lnTo>
                  <a:lnTo>
                    <a:pt x="1566" y="92"/>
                  </a:lnTo>
                  <a:lnTo>
                    <a:pt x="1592" y="46"/>
                  </a:lnTo>
                  <a:lnTo>
                    <a:pt x="1618" y="117"/>
                  </a:lnTo>
                  <a:lnTo>
                    <a:pt x="1644" y="42"/>
                  </a:lnTo>
                  <a:lnTo>
                    <a:pt x="1670" y="71"/>
                  </a:lnTo>
                  <a:lnTo>
                    <a:pt x="1696" y="123"/>
                  </a:lnTo>
                  <a:lnTo>
                    <a:pt x="1722" y="130"/>
                  </a:lnTo>
                  <a:lnTo>
                    <a:pt x="1748" y="136"/>
                  </a:lnTo>
                  <a:lnTo>
                    <a:pt x="1774" y="117"/>
                  </a:lnTo>
                  <a:lnTo>
                    <a:pt x="1801" y="84"/>
                  </a:lnTo>
                  <a:lnTo>
                    <a:pt x="1827" y="153"/>
                  </a:lnTo>
                  <a:lnTo>
                    <a:pt x="1853" y="116"/>
                  </a:lnTo>
                  <a:lnTo>
                    <a:pt x="1879" y="55"/>
                  </a:lnTo>
                  <a:lnTo>
                    <a:pt x="1905" y="141"/>
                  </a:lnTo>
                  <a:lnTo>
                    <a:pt x="1931" y="75"/>
                  </a:lnTo>
                  <a:lnTo>
                    <a:pt x="1957" y="122"/>
                  </a:lnTo>
                  <a:lnTo>
                    <a:pt x="1983" y="149"/>
                  </a:lnTo>
                  <a:lnTo>
                    <a:pt x="2009" y="82"/>
                  </a:lnTo>
                  <a:lnTo>
                    <a:pt x="2036" y="75"/>
                  </a:lnTo>
                  <a:lnTo>
                    <a:pt x="2062" y="85"/>
                  </a:lnTo>
                  <a:lnTo>
                    <a:pt x="2088" y="77"/>
                  </a:lnTo>
                  <a:lnTo>
                    <a:pt x="2114" y="37"/>
                  </a:lnTo>
                  <a:lnTo>
                    <a:pt x="2140" y="124"/>
                  </a:lnTo>
                  <a:lnTo>
                    <a:pt x="2166" y="130"/>
                  </a:lnTo>
                  <a:lnTo>
                    <a:pt x="2192" y="71"/>
                  </a:lnTo>
                  <a:lnTo>
                    <a:pt x="2218" y="64"/>
                  </a:lnTo>
                  <a:lnTo>
                    <a:pt x="2244" y="32"/>
                  </a:lnTo>
                  <a:lnTo>
                    <a:pt x="2270" y="104"/>
                  </a:lnTo>
                  <a:lnTo>
                    <a:pt x="2297" y="109"/>
                  </a:lnTo>
                  <a:lnTo>
                    <a:pt x="2323" y="67"/>
                  </a:lnTo>
                  <a:lnTo>
                    <a:pt x="2349" y="125"/>
                  </a:lnTo>
                  <a:lnTo>
                    <a:pt x="2375" y="51"/>
                  </a:lnTo>
                  <a:lnTo>
                    <a:pt x="2401" y="73"/>
                  </a:lnTo>
                  <a:lnTo>
                    <a:pt x="2427" y="109"/>
                  </a:lnTo>
                  <a:lnTo>
                    <a:pt x="2453" y="65"/>
                  </a:lnTo>
                  <a:lnTo>
                    <a:pt x="2479" y="81"/>
                  </a:lnTo>
                  <a:lnTo>
                    <a:pt x="2505" y="135"/>
                  </a:lnTo>
                  <a:lnTo>
                    <a:pt x="2532" y="55"/>
                  </a:lnTo>
                  <a:lnTo>
                    <a:pt x="2558" y="99"/>
                  </a:lnTo>
                  <a:lnTo>
                    <a:pt x="2584" y="69"/>
                  </a:lnTo>
                </a:path>
              </a:pathLst>
            </a:custGeom>
            <a:noFill/>
            <a:ln w="25400" cap="flat">
              <a:solidFill>
                <a:srgbClr val="EDB1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8" name="Rectangle 115">
              <a:extLst>
                <a:ext uri="{FF2B5EF4-FFF2-40B4-BE49-F238E27FC236}">
                  <a16:creationId xmlns:a16="http://schemas.microsoft.com/office/drawing/2014/main" id="{C4C263D5-5760-AA12-02F1-DB221241D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3133"/>
              <a:ext cx="889" cy="3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9" name="Rectangle 116">
              <a:extLst>
                <a:ext uri="{FF2B5EF4-FFF2-40B4-BE49-F238E27FC236}">
                  <a16:creationId xmlns:a16="http://schemas.microsoft.com/office/drawing/2014/main" id="{F2E978CB-6889-C147-B122-D5E4C7005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4" y="3158"/>
              <a:ext cx="516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Before Calibration</a:t>
              </a:r>
              <a:endParaRPr kumimoji="0" lang="ko-KR" altLang="ko-K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0" name="Line 117">
              <a:extLst>
                <a:ext uri="{FF2B5EF4-FFF2-40B4-BE49-F238E27FC236}">
                  <a16:creationId xmlns:a16="http://schemas.microsoft.com/office/drawing/2014/main" id="{82C5D00E-ADDA-200B-D7EB-32138B98F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3194"/>
              <a:ext cx="241" cy="0"/>
            </a:xfrm>
            <a:prstGeom prst="line">
              <a:avLst/>
            </a:prstGeom>
            <a:noFill/>
            <a:ln w="2540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1" name="Rectangle 118">
              <a:extLst>
                <a:ext uri="{FF2B5EF4-FFF2-40B4-BE49-F238E27FC236}">
                  <a16:creationId xmlns:a16="http://schemas.microsoft.com/office/drawing/2014/main" id="{107ACD8D-95B0-CF52-250B-4FCA55FD9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4" y="3259"/>
              <a:ext cx="465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Moving Average</a:t>
              </a:r>
              <a:endPara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2" name="Line 119">
              <a:extLst>
                <a:ext uri="{FF2B5EF4-FFF2-40B4-BE49-F238E27FC236}">
                  <a16:creationId xmlns:a16="http://schemas.microsoft.com/office/drawing/2014/main" id="{1A5C5080-B9E3-3C6E-02F7-D44E7B932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3294"/>
              <a:ext cx="241" cy="0"/>
            </a:xfrm>
            <a:prstGeom prst="line">
              <a:avLst/>
            </a:prstGeom>
            <a:noFill/>
            <a:ln w="2540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3" name="Rectangle 120">
              <a:extLst>
                <a:ext uri="{FF2B5EF4-FFF2-40B4-BE49-F238E27FC236}">
                  <a16:creationId xmlns:a16="http://schemas.microsoft.com/office/drawing/2014/main" id="{016168E4-B502-F57B-3D03-F3F3FC403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4" y="3355"/>
              <a:ext cx="500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G-h Filter Applied</a:t>
              </a:r>
              <a:endParaRPr kumimoji="0" lang="ko-KR" altLang="ko-K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4" name="Line 121">
              <a:extLst>
                <a:ext uri="{FF2B5EF4-FFF2-40B4-BE49-F238E27FC236}">
                  <a16:creationId xmlns:a16="http://schemas.microsoft.com/office/drawing/2014/main" id="{BE2AAEFA-BA1C-F8A9-F0F7-1A7253404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3395"/>
              <a:ext cx="241" cy="0"/>
            </a:xfrm>
            <a:prstGeom prst="line">
              <a:avLst/>
            </a:prstGeom>
            <a:noFill/>
            <a:ln w="25400" cap="flat">
              <a:solidFill>
                <a:srgbClr val="EDB1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5" name="Rectangle 122">
              <a:extLst>
                <a:ext uri="{FF2B5EF4-FFF2-40B4-BE49-F238E27FC236}">
                  <a16:creationId xmlns:a16="http://schemas.microsoft.com/office/drawing/2014/main" id="{5B032D11-BB0F-96E9-4DAE-A5F2D5A6E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3133"/>
              <a:ext cx="889" cy="323"/>
            </a:xfrm>
            <a:prstGeom prst="rect">
              <a:avLst/>
            </a:prstGeom>
            <a:noFill/>
            <a:ln w="6350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99511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3297-4F31-DFE7-90C6-DAE844EE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C9D240-207D-4107-8D10-41D65564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4CE1F4-CA7D-4ABB-99EB-8276A721FCC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제목 47">
            <a:extLst>
              <a:ext uri="{FF2B5EF4-FFF2-40B4-BE49-F238E27FC236}">
                <a16:creationId xmlns:a16="http://schemas.microsoft.com/office/drawing/2014/main" id="{B6344A6F-7173-3D16-EDC9-E49DEC066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3625"/>
            <a:ext cx="7353817" cy="513591"/>
          </a:xfrm>
        </p:spPr>
        <p:txBody>
          <a:bodyPr/>
          <a:lstStyle/>
          <a:p>
            <a:r>
              <a:rPr lang="ko-KR" altLang="en-US" dirty="0"/>
              <a:t>공학설계 </a:t>
            </a:r>
          </a:p>
        </p:txBody>
      </p:sp>
      <p:sp>
        <p:nvSpPr>
          <p:cNvPr id="6" name="내용 개체 틀 31">
            <a:extLst>
              <a:ext uri="{FF2B5EF4-FFF2-40B4-BE49-F238E27FC236}">
                <a16:creationId xmlns:a16="http://schemas.microsoft.com/office/drawing/2014/main" id="{175909D1-A770-C24E-E80B-C2027EB40D67}"/>
              </a:ext>
            </a:extLst>
          </p:cNvPr>
          <p:cNvSpPr txBox="1">
            <a:spLocks/>
          </p:cNvSpPr>
          <p:nvPr/>
        </p:nvSpPr>
        <p:spPr>
          <a:xfrm>
            <a:off x="476545" y="728701"/>
            <a:ext cx="8210254" cy="628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79646">
                  <a:lumMod val="75000"/>
                </a:srgbClr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ko-KR" altLang="en-US" sz="1900" spc="-100" dirty="0">
                <a:solidFill>
                  <a:prstClr val="black">
                    <a:lumMod val="85000"/>
                    <a:lumOff val="15000"/>
                  </a:prstClr>
                </a:solidFill>
                <a:latin typeface="HY헤드라인M" pitchFamily="18" charset="-127"/>
                <a:ea typeface="HY헤드라인M" pitchFamily="18" charset="-127"/>
              </a:rPr>
              <a:t>결론 및 제언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9FDCB6-74C5-FB53-0792-CC61106DEAC6}"/>
              </a:ext>
            </a:extLst>
          </p:cNvPr>
          <p:cNvSpPr txBox="1"/>
          <p:nvPr/>
        </p:nvSpPr>
        <p:spPr>
          <a:xfrm>
            <a:off x="683568" y="1124744"/>
            <a:ext cx="7848872" cy="494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기대 효과</a:t>
            </a:r>
            <a:endParaRPr lang="en-US" altLang="ko-KR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12573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의료인의 동선 효율성 증대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12573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단순 업무 경감으로 인한 환자 케어의 시간 증대</a:t>
            </a:r>
            <a:br>
              <a:rPr lang="en-US" altLang="ko-KR" sz="16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endParaRPr lang="en-US" altLang="ko-KR" sz="16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발전 가능성</a:t>
            </a:r>
            <a:endParaRPr lang="en-US" altLang="ko-KR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12573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물품을 효율적으로 수령하는 알고리즘 탑재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-&gt;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더 많은 시간 절감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가능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12573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약 밀봉 시스템 </a:t>
            </a:r>
            <a:r>
              <a:rPr lang="ko-KR" altLang="en-US" sz="1400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구현시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더 안전한 배송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가능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457200" lvl="2">
              <a:lnSpc>
                <a:spcPct val="150000"/>
              </a:lnSpc>
            </a:pPr>
            <a:endParaRPr lang="en-US" altLang="ko-KR" sz="16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한계</a:t>
            </a:r>
            <a:endParaRPr lang="en-US" altLang="ko-KR" b="1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12573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Kalman Filter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미적용으로 인한 오차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(Arduino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사양 부족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)</a:t>
            </a:r>
          </a:p>
          <a:p>
            <a:pPr marL="12573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의약품 재고 변동 시 즉각적 대응 불가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marL="12573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장애물 등을 회피하는 기능이 없어 불완전함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(Arduino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사양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부족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)</a:t>
            </a:r>
            <a:b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</a:b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-&gt; </a:t>
            </a:r>
            <a:r>
              <a:rPr lang="ko-KR" altLang="en-US" sz="1400" spc="-14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라즈베리파이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모듈을 이용한 </a:t>
            </a:r>
            <a:r>
              <a:rPr lang="en-US" altLang="ko-KR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Open CV </a:t>
            </a:r>
            <a:r>
              <a:rPr lang="ko-KR" altLang="en-US" sz="1400" spc="-14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ysClr val="windowText" lastClr="000000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이용 등으로 해결</a:t>
            </a:r>
            <a:endParaRPr lang="en-US" altLang="ko-KR" sz="1400" spc="-14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ysClr val="windowText" lastClr="000000"/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139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방통위_전파위성6_개발계획서_발표자료_Rev2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6639</TotalTime>
  <Words>1372</Words>
  <Application>Microsoft Office PowerPoint</Application>
  <PresentationFormat>화면 슬라이드 쇼(4:3)</PresentationFormat>
  <Paragraphs>322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HY헤드라인M</vt:lpstr>
      <vt:lpstr>나눔고딕</vt:lpstr>
      <vt:lpstr>맑은 고딕</vt:lpstr>
      <vt:lpstr>Arial</vt:lpstr>
      <vt:lpstr>Cambria Math</vt:lpstr>
      <vt:lpstr>Wingdings</vt:lpstr>
      <vt:lpstr>Office 테마</vt:lpstr>
      <vt:lpstr>방통위_전파위성6_개발계획서_발표자료_Rev20</vt:lpstr>
      <vt:lpstr>공학설계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  <vt:lpstr>공학설계 </vt:lpstr>
    </vt:vector>
  </TitlesOfParts>
  <Company>국민대학교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/>
  <cp:lastModifiedBy/>
  <cp:revision>856</cp:revision>
  <cp:lastPrinted>2020-09-01T00:31:34Z</cp:lastPrinted>
  <dcterms:created xsi:type="dcterms:W3CDTF">2013-08-17T07:30:57Z</dcterms:created>
  <dcterms:modified xsi:type="dcterms:W3CDTF">2025-06-18T08:30:46Z</dcterms:modified>
</cp:coreProperties>
</file>